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fonts/font1.fntdata" ContentType="application/x-fontdata"/>
  <Override PartName="/ppt/fonts/font2.fntdata" ContentType="application/x-fontdata"/>
  <Override PartName="/ppt/fonts/font3.fntdata" ContentType="application/x-fontdata"/>
  <Override PartName="/ppt/fonts/font4.fntdata" ContentType="application/x-fontdata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3"/>
    <p:sldId id="273" r:id="rId5"/>
    <p:sldId id="274" r:id="rId6"/>
    <p:sldId id="275" r:id="rId7"/>
    <p:sldId id="276" r:id="rId8"/>
    <p:sldId id="277" r:id="rId9"/>
    <p:sldId id="278" r:id="rId10"/>
    <p:sldId id="279" r:id="rId11"/>
    <p:sldId id="280" r:id="rId12"/>
    <p:sldId id="281" r:id="rId13"/>
    <p:sldId id="282" r:id="rId14"/>
    <p:sldId id="272" r:id="rId15"/>
  </p:sldIdLst>
  <p:sldSz cx="9144000" cy="5143500"/>
  <p:notesSz cx="9144000" cy="5143500"/>
  <p:embeddedFontLst>
    <p:embeddedFont>
      <p:font typeface="Calibri" panose="020F0502020204030204"/>
      <p:regular r:id="rId19"/>
      <p:bold r:id="rId20"/>
      <p:italic r:id="rId21"/>
      <p:boldItalic r:id="rId22"/>
    </p:embeddedFont>
  </p:embeddedFontLst>
  <p:defaultText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9pPr>
  </p:defaultTextStyle>
  <p:extLst>
    <p:ext uri="{EFAFB233-063F-42B5-8137-9DF3F51BA10A}">
      <p15:sldGuideLst xmlns:p15="http://schemas.microsoft.com/office/powerpoint/2012/main">
        <p15:guide id="1" pos="2880" userDrawn="1">
          <p15:clr>
            <a:srgbClr val="A4A3A4"/>
          </p15:clr>
        </p15:guide>
        <p15:guide id="2" orient="horz" pos="16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116" d="112"/>
          <a:sy n="116" d="112"/>
        </p:scale>
        <p:origin x="114" y="101"/>
      </p:cViewPr>
      <p:guideLst>
        <p:guide pos="2880"/>
        <p:guide orient="horz" pos="1620"/>
      </p:guideLst>
    </p:cSldViewPr>
  </p:slide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2" Type="http://schemas.openxmlformats.org/officeDocument/2006/relationships/font" Target="fonts/font4.fntdata"/><Relationship Id="rId21" Type="http://schemas.openxmlformats.org/officeDocument/2006/relationships/font" Target="fonts/font3.fntdata"/><Relationship Id="rId20" Type="http://schemas.openxmlformats.org/officeDocument/2006/relationships/font" Target="fonts/font2.fntdata"/><Relationship Id="rId2" Type="http://schemas.openxmlformats.org/officeDocument/2006/relationships/theme" Target="theme/theme1.xml"/><Relationship Id="rId19" Type="http://schemas.openxmlformats.org/officeDocument/2006/relationships/font" Target="fonts/font1.fntdata"/><Relationship Id="rId18" Type="http://schemas.openxmlformats.org/officeDocument/2006/relationships/tableStyles" Target="tableStyles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Workbook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0" vertOverflow="ellipsis" vert="horz" wrap="square" anchor="ctr" anchorCtr="1"/>
          <a:lstStyle/>
          <a:p>
            <a:pPr>
              <a:defRPr lang="en-US" sz="1400" b="1" i="0" u="none" strike="noStrike" kern="1200" baseline="0">
                <a:solidFill>
                  <a:schemeClr val="tx1"/>
                </a:solidFill>
                <a:latin typeface="Arial" panose="020B0604020202020204"/>
                <a:ea typeface="+mn-ea"/>
                <a:cs typeface="+mn-cs"/>
              </a:defRPr>
            </a:pPr>
            <a:r>
              <a:t>HTML встречается и в обычной почте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Доля писем с HTML</c:v>
                </c:pt>
              </c:strCache>
            </c:strRef>
          </c:tx>
          <c:spPr>
            <a:solidFill>
              <a:srgbClr val="0066FF"/>
            </a:solidFill>
          </c:spPr>
          <c:invertIfNegative val="0"/>
          <c:dLbls>
            <c:numFmt formatCode="0%" sourceLinked="0"/>
            <c:spPr>
              <a:noFill/>
              <a:ln>
                <a:noFill/>
              </a:ln>
              <a:effectLst/>
            </c:spPr>
            <c:txPr>
              <a:bodyPr rot="0" spcFirstLastPara="0" vertOverflow="ellipsis" vert="horz" wrap="square" lIns="38100" tIns="19050" rIns="38100" bIns="19050" anchor="ctr" anchorCtr="1"/>
              <a:lstStyle/>
              <a:p>
                <a:pPr>
                  <a:defRPr lang="en-US" sz="18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layout/>
                <c15:showLeaderLines val="1"/>
                <c15:leaderLines/>
              </c:ext>
            </c:extLst>
          </c:dLbls>
          <c:cat>
            <c:strRef>
              <c:f>Sheet1!$A$2:$A$4</c:f>
              <c:strCache>
                <c:ptCount val="3"/>
                <c:pt idx="0">
                  <c:v>easy_ham</c:v>
                </c:pt>
                <c:pt idx="1">
                  <c:v>hard_ham</c:v>
                </c:pt>
                <c:pt idx="2">
                  <c:v>spam_2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0.00362976406533575</c:v>
                </c:pt>
                <c:pt idx="1">
                  <c:v>0.694656488549618</c:v>
                </c:pt>
                <c:pt idx="2">
                  <c:v>0.545638945233266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2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  <c:max val="1"/>
          <c:min val="0"/>
        </c:scaling>
        <c:delete val="0"/>
        <c:axPos val="b"/>
        <c:majorGridlines/>
        <c:numFmt formatCode="0%" sourceLinked="0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en-US" sz="11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</a:p>
        </c:txPr>
        <c:crossAx val="-2068027336"/>
        <c:crosses val="autoZero"/>
        <c:crossBetween val="between"/>
      </c:valAx>
    </c:plotArea>
    <c:plotVisOnly val="1"/>
    <c:dispBlanksAs val="gap"/>
    <c:showDLblsOverMax val="0"/>
    <c:extLst>
      <c:ext uri="{0b15fc19-7d7d-44ad-8c2d-2c3a37ce22c3}">
        <chartProps xmlns="https://web.wps.cn/et/2018/main" chartId="{7119bd6b-3cc6-47c2-8b1e-cf738d652671}"/>
      </c:ext>
    </c:extLst>
  </c:chart>
  <c:txPr>
    <a:bodyPr/>
    <a:lstStyle/>
    <a:p>
      <a:pPr>
        <a:defRPr lang="en-US" sz="1800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type="hdr" idx="2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defRPr/>
            </a:pPr>
          </a:p>
        </p:txBody>
      </p:sp>
      <p:sp>
        <p:nvSpPr>
          <p:cNvPr id="4" name="Google Shape;4;n"/>
          <p:cNvSpPr txBox="1"/>
          <p:nvPr>
            <p:ph type="dt" idx="10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defRPr/>
            </a:pPr>
          </a:p>
        </p:txBody>
      </p:sp>
      <p:sp>
        <p:nvSpPr>
          <p:cNvPr id="5" name="Google Shape;5;n"/>
          <p:cNvSpPr/>
          <p:nvPr>
            <p:ph type="sldImg" idx="3"/>
          </p:nvPr>
        </p:nvSpPr>
        <p:spPr bwMode="auto"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/>
          <p:nvPr>
            <p:ph type="body" idx="1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L="914400" marR="0" lvl="1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L="1371600" marR="0" lvl="2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L="1828800" marR="0" lvl="3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L="2286000" marR="0" lvl="4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L="2743200" marR="0" lvl="5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L="3200400" marR="0" lvl="6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L="3657600" marR="0" lvl="7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L="4114800" marR="0" lvl="8" indent="-228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9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defRPr/>
            </a:pPr>
          </a:p>
        </p:txBody>
      </p:sp>
      <p:sp>
        <p:nvSpPr>
          <p:cNvPr id="7" name="Google Shape;7;n"/>
          <p:cNvSpPr txBox="1"/>
          <p:nvPr>
            <p:ph type="ftr" idx="11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1pPr>
            <a:lvl2pPr marR="0"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2pPr>
            <a:lvl3pPr marR="0"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3pPr>
            <a:lvl4pPr marR="0"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4pPr>
            <a:lvl5pPr marR="0"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5pPr>
            <a:lvl6pPr marR="0"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6pPr>
            <a:lvl7pPr marR="0"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7pPr>
            <a:lvl8pPr marR="0"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8pPr>
            <a:lvl9pPr marR="0"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/>
              <a:buNone/>
              <a:defRPr sz="18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defRPr>
            </a:lvl9pPr>
          </a:lstStyle>
          <a:p>
            <a:pPr>
              <a:defRPr/>
            </a:pPr>
          </a:p>
        </p:txBody>
      </p:sp>
      <p:sp>
        <p:nvSpPr>
          <p:cNvPr id="8" name="Google Shape;8;n"/>
          <p:cNvSpPr txBox="1"/>
          <p:nvPr>
            <p:ph type="sldNum" idx="12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 panose="020B0604020202020204"/>
              <a:buNone/>
              <a:defRPr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fld>
            <a:endParaRPr sz="1200" b="0" i="0" u="none" strike="noStrike" cap="none">
              <a:solidFill>
                <a:schemeClr val="dk1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>
      <a:lnSpc>
        <a:spcPct val="100000"/>
      </a:lnSpc>
      <a:spcBef>
        <a:spcPts val="0"/>
      </a:spcBef>
      <a:spcAft>
        <a:spcPts val="0"/>
      </a:spcAft>
    </a:defPPr>
    <a:lvl1pPr marR="0" lv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1pPr>
    <a:lvl2pPr marR="0" lvl="1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2pPr>
    <a:lvl3pPr marR="0" lvl="2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3pPr>
    <a:lvl4pPr marR="0" lvl="3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4pPr>
    <a:lvl5pPr marR="0" lvl="4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5pPr>
    <a:lvl6pPr marR="0" lvl="5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6pPr>
    <a:lvl7pPr marR="0" lvl="6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7pPr>
    <a:lvl8pPr marR="0" lvl="7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8pPr>
    <a:lvl9pPr marR="0" lvl="8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/>
          <p:nvPr>
            <p:ph type="sldImg" idx="2"/>
          </p:nvPr>
        </p:nvSpPr>
        <p:spPr bwMode="auto"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2" name="Google Shape;112;p3:notes"/>
          <p:cNvSpPr txBox="1"/>
          <p:nvPr>
            <p:ph type="body" idx="1"/>
          </p:nvPr>
        </p:nvSpPr>
        <p:spPr bwMode="auto"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r>
              <a:t>Представляю итоговую работу по применению машинного обучения в кибербезопасности. Мы подготовили данные, сравнили несколько антиспам-моделей и упаковали выбранное решение в Docker-сервис. Главный вопрос работы — как уменьшить ложные блокировки полезных писем и какую цену за это приходится платить полнотой обнаружения спама.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Бизнес-задача — уменьшить количество нежелательной почты, сохранив доступ к обычным сообщениям. В терминах ML это бинарная классификация. Положительный класс — спам. Ошибка FP означает блокировку полезного письма, FN — пропущенный спам. Одного низкого FPR недостаточно: система, которая всегда отвечает ham, вообще не обнаруживает спам. Поэтому мы одновременно оцениваем Precision, Recall и F1. Скорость важна для интерактивного API, но отдельный нагрузочный тест в работе не проводился.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Работа охватывает подготовку данных, исследование, сравнение моделей и инженерную упаковку. Эти функции соответствуют аналитической роли, Data Engineering, Data Science и ML Engineering. Готовы основной ноутбук, воспроизводимый код обучения, сохранённая модель и работающий Docker-контейнер. Публичный хостинг пока не выполнялся.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Для обучения объединены easy_ham, hard_ham и spam_2 — всего 4197 писем. Это три подкорпуса SpamAssassin, а не три независимых по происхождению датасета. Hard_ham особенно важен для нашей задачи: он содержит полезные письма, похожие на спам. Внешний контроль получен по ссылке из задания; в нём 600 обычных и 1000 спам-писем.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исключили служебные файлы macOS, повторы и конфликтующие метки. Один парсер декодирует MIME и извлекает тему и тело, предпочитая обычный текст. Вложения в признаки не входят. Служебные заголовки X-Spam-Status исключены, поскольку могут раскрывать готовую метку. После очистки осталось 3834 письма. Затем обнаружено 956 пересечений с полным внешним контролем. Их удалили из обучающих корпусов до разбиения; осталось 2878 писем.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EDA включал баланс классов, длину текста, выбросы, HTML, ссылки, регистр, характерные слова и корреляции. На графике видно, что HTML встречается и в полезной почте, особенно в hard_ham. Медианное число ссылок составило два для ham и четыре для spam; медианная длина — 141 и 161 слово. Статистические различия обнаружены, но они не означают, что простое правило по одному признаку даст хорошую классификацию. Длинные письма и HTML автоматически не удалялись.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Данные разделены примерно в пропорции 60 на 20 на 20 процентов, со стратификацией по исходному набору. На train выполнялись EDA и пятикратная кросс-валидация. Векторизатор включён в Pipeline и обучается только на тренировочной части каждого фолда. Validation используется для выбора порога. Внутренний и внешний тесты применяются после фиксации решения. После выбора порога модель не переобучалась на train вместе с validation, чтобы не изменить шкалу её оценок.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Текст преобразуется в разреженный TF-IDF-вектор. Используются отдельные слова и биграммы, словарь ограничен 30 тысячами признаков. Сублинейная частота уменьшает влияние повторения одного слова. ComplementNB рассчитывает веса признаков по статистике остальных классов. Сглаживание alpha, равное единице, помогает обрабатывать редкие слова. В сервис сохраняется весь Pipeline вместе со словарём и порогом. Оценки модели не проходили отдельную калибровку вероятностей.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Исследованы четыре семейства алгоритмов и шесть конфигураций. Dummy всегда отвечает ham и показывает бесполезность оптимизации только по FP. Для ComplementNB сравнили alpha 0,5 и 1,0. Для логистической регрессии сравнили C 0,5 и 2,0: меньшее C означает более сильную регуляризацию. Логистической регрессии и SVM назначен повышенный вес ham. LinearSVC подходит для разреженных текстов и выдаёт оценку положения относительно границы, а не вероятность. Все кандидаты используют одинаковый тип TF-IDF.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Таблица показывает средние результаты пяти фолдов при стандартных порогах. У LinearSVC лучший F1 — около 0,9594, но Precision составляет 98,09 процента. ComplementNB с alpha 1,0 даёт Precision 99,75 процента, Recall 85,20 процента и средний FPR около 0,081 процента. У Dummy Precision математически не определён, поскольку спам не предсказывается; в программном отчёте этот случай заменён нулём.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Мы самостоятельно задали требования: средний Precision на CV не ниже 99 процентов и FPR не выше одного процента. Среди подходящих кандидатов выбирали максимальный F0.5, который придаёт Precision больший вес. По этому правилу выбран ComplementNB с alpha 1,0. Это вывод в рамках принятого протокола, а не доказательство безусловного превосходства над SVM. Отдельная настройка порога каждого кандидата могла бы изменить сравнение и остаётся следующим экспериментом.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PhAnim="0" showMasterSp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8" name="Google Shape;338;g1bbe5570b94_0_1489:notes"/>
          <p:cNvSpPr/>
          <p:nvPr>
            <p:ph type="sldImg" idx="2"/>
          </p:nvPr>
        </p:nvSpPr>
        <p:spPr bwMode="auto"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9" name="Google Shape;339;g1bbe5570b94_0_1489:notes"/>
          <p:cNvSpPr txBox="1"/>
          <p:nvPr>
            <p:ph type="body" idx="1"/>
          </p:nvPr>
        </p:nvSpPr>
        <p:spPr bwMode="auto"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pPr>
            <a:r>
              <a:rPr lang="en-US" sz="1200"/>
              <a:t>Титульный слайд</a:t>
            </a:r>
            <a:endParaRPr sz="120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.Фон">
  <p:cSld name="1.Фон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1. Фон dark">
  <p:cSld name="1_11. Фон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2.Определение">
  <p:cSld name="2.Определение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" name="Google Shape;13;p4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4" name="Google Shape;14;p4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5" name="Google Shape;15;p4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EAEA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3.Титульник wihte">
  <p:cSld name="3.Титульник wih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8" name="Google Shape;18;p5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19" name="Google Shape;19;p5"/>
          <p:cNvGrpSpPr/>
          <p:nvPr/>
        </p:nvGrpSpPr>
        <p:grpSpPr bwMode="auto">
          <a:xfrm>
            <a:off x="8569715" y="4536459"/>
            <a:ext cx="258577" cy="265368"/>
            <a:chOff x="238125" y="2432825"/>
            <a:chExt cx="779549" cy="781875"/>
          </a:xfrm>
        </p:grpSpPr>
        <p:sp>
          <p:nvSpPr>
            <p:cNvPr id="20" name="Google Shape;20;p5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1" name="Google Shape;21;p5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2" name="Google Shape;22;p5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3" name="Google Shape;23;p5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4.Отбивка wihte">
  <p:cSld name="4.Отбивка wih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25" name="Google Shape;25;p6"/>
          <p:cNvGrpSpPr/>
          <p:nvPr/>
        </p:nvGrpSpPr>
        <p:grpSpPr bwMode="auto"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26" name="Google Shape;26;p6"/>
            <p:cNvSpPr/>
            <p:nvPr/>
          </p:nvSpPr>
          <p:spPr bwMode="auto"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7" name="Google Shape;27;p6"/>
            <p:cNvSpPr/>
            <p:nvPr/>
          </p:nvSpPr>
          <p:spPr bwMode="auto">
            <a:xfrm>
              <a:off x="14892300" y="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8" name="Google Shape;28;p6"/>
            <p:cNvSpPr/>
            <p:nvPr/>
          </p:nvSpPr>
          <p:spPr bwMode="auto">
            <a:xfrm>
              <a:off x="11475720" y="34443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29" name="Google Shape;29;p6"/>
            <p:cNvSpPr/>
            <p:nvPr/>
          </p:nvSpPr>
          <p:spPr bwMode="auto"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0" name="Google Shape;30;p6"/>
            <p:cNvSpPr/>
            <p:nvPr/>
          </p:nvSpPr>
          <p:spPr bwMode="auto"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1" name="Google Shape;31;p6"/>
            <p:cNvSpPr/>
            <p:nvPr/>
          </p:nvSpPr>
          <p:spPr bwMode="auto">
            <a:xfrm>
              <a:off x="14892300" y="68580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5. Определение wihte">
  <p:cSld name="5. Определение wiht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4" name="Google Shape;34;p7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5" name="Google Shape;35;p7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6.Титульник dark">
  <p:cSld name="6.Титульник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rgbClr val="2F3035"/>
          </a:solidFill>
          <a:ln w="9525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38" name="Google Shape;38;p8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39" name="Google Shape;39;p8"/>
          <p:cNvGrpSpPr/>
          <p:nvPr/>
        </p:nvGrpSpPr>
        <p:grpSpPr bwMode="auto">
          <a:xfrm>
            <a:off x="8569715" y="4505199"/>
            <a:ext cx="258577" cy="265368"/>
            <a:chOff x="238125" y="2432825"/>
            <a:chExt cx="779549" cy="781875"/>
          </a:xfrm>
        </p:grpSpPr>
        <p:sp>
          <p:nvSpPr>
            <p:cNvPr id="40" name="Google Shape;40;p8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41" name="Google Shape;41;p8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42" name="Google Shape;42;p8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43" name="Google Shape;43;p8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7. Отбивка dark">
  <p:cSld name="7. Отбивка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45" name="Google Shape;45;p9"/>
          <p:cNvGrpSpPr/>
          <p:nvPr/>
        </p:nvGrpSpPr>
        <p:grpSpPr bwMode="auto"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46" name="Google Shape;46;p9"/>
            <p:cNvSpPr/>
            <p:nvPr/>
          </p:nvSpPr>
          <p:spPr bwMode="auto"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47" name="Google Shape;47;p9"/>
            <p:cNvSpPr/>
            <p:nvPr/>
          </p:nvSpPr>
          <p:spPr bwMode="auto"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48" name="Google Shape;48;p9"/>
            <p:cNvSpPr/>
            <p:nvPr/>
          </p:nvSpPr>
          <p:spPr bwMode="auto"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49" name="Google Shape;49;p9"/>
            <p:cNvSpPr/>
            <p:nvPr/>
          </p:nvSpPr>
          <p:spPr bwMode="auto"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50" name="Google Shape;50;p9"/>
            <p:cNvSpPr/>
            <p:nvPr/>
          </p:nvSpPr>
          <p:spPr bwMode="auto"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51" name="Google Shape;51;p9"/>
            <p:cNvSpPr/>
            <p:nvPr/>
          </p:nvSpPr>
          <p:spPr bwMode="auto"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8. Определение dark">
  <p:cSld name="8. Определение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4" name="Google Shape;54;p10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5" name="Google Shape;55;p10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w="2540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9. Определение dark">
  <p:cSld name="9. Определение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8" name="Google Shape;58;p11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59" name="Google Shape;59;p11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4C4C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0. Фон dark">
  <p:cSld name="10. Фон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/>
          <p:nvPr/>
        </p:nvSpPr>
        <p:spPr bwMode="auto"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2" name="Google Shape;62;p12"/>
          <p:cNvSpPr/>
          <p:nvPr/>
        </p:nvSpPr>
        <p:spPr bwMode="auto"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 panose="020B0604020202020204"/>
              <a:buNone/>
              <a:defRPr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7. Титульник pro">
  <p:cSld name="17. Титульник pro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rgbClr val="217AFF"/>
          </a:solidFill>
          <a:ln w="9525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65" name="Google Shape;65;p13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66" name="Google Shape;66;p13"/>
          <p:cNvGrpSpPr/>
          <p:nvPr/>
        </p:nvGrpSpPr>
        <p:grpSpPr bwMode="auto">
          <a:xfrm>
            <a:off x="8569715" y="4505199"/>
            <a:ext cx="258577" cy="265368"/>
            <a:chOff x="238125" y="2432825"/>
            <a:chExt cx="779549" cy="781875"/>
          </a:xfrm>
        </p:grpSpPr>
        <p:sp>
          <p:nvSpPr>
            <p:cNvPr id="67" name="Google Shape;67;p13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68" name="Google Shape;68;p13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69" name="Google Shape;69;p13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70" name="Google Shape;70;p13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8. Отбивка pro">
  <p:cSld name="18. Отбивка pro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2" name="Google Shape;72;p14"/>
          <p:cNvGrpSpPr/>
          <p:nvPr/>
        </p:nvGrpSpPr>
        <p:grpSpPr bwMode="auto"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73" name="Google Shape;73;p14"/>
            <p:cNvSpPr/>
            <p:nvPr/>
          </p:nvSpPr>
          <p:spPr bwMode="auto"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74" name="Google Shape;74;p14"/>
            <p:cNvSpPr/>
            <p:nvPr/>
          </p:nvSpPr>
          <p:spPr bwMode="auto"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75" name="Google Shape;75;p14"/>
            <p:cNvSpPr/>
            <p:nvPr/>
          </p:nvSpPr>
          <p:spPr bwMode="auto"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76" name="Google Shape;76;p14"/>
            <p:cNvSpPr/>
            <p:nvPr/>
          </p:nvSpPr>
          <p:spPr bwMode="auto"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77" name="Google Shape;77;p14"/>
            <p:cNvSpPr/>
            <p:nvPr/>
          </p:nvSpPr>
          <p:spPr bwMode="auto"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78" name="Google Shape;78;p14"/>
            <p:cNvSpPr/>
            <p:nvPr/>
          </p:nvSpPr>
          <p:spPr bwMode="auto"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9. Определение pro">
  <p:cSld name="19. Определение pro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" name="Google Shape;80;p15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1" name="Google Shape;81;p15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2" name="Google Shape;82;p15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rgbClr val="217AFF"/>
          </a:solidFill>
          <a:ln w="2540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20. Отбивка 2 pro">
  <p:cSld name="20. Отбивка 2 pro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/>
          <p:nvPr/>
        </p:nvSpPr>
        <p:spPr bwMode="auto"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85" name="Google Shape;85;p16"/>
          <p:cNvSpPr/>
          <p:nvPr/>
        </p:nvSpPr>
        <p:spPr bwMode="auto"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 panose="020B0604020202020204"/>
              <a:buNone/>
              <a:defRPr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20. Отбивка 2 pro">
  <p:cSld name="1_20. Отбивка 2 pro">
    <p:bg>
      <p:bgPr>
        <a:solidFill>
          <a:srgbClr val="0066FF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1. Фон dark 1">
  <p:cSld name="11. Фон dark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1. Фон dark 1 1">
  <p:cSld name="11. Фоныыыыыы">
    <p:bg>
      <p:bgPr>
        <a:solidFill>
          <a:schemeClr val="l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2. Титульник neo">
  <p:cSld name="12. Титульник ne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/>
          <p:nvPr/>
        </p:nvSpPr>
        <p:spPr bwMode="auto">
          <a:xfrm>
            <a:off x="6531775" y="0"/>
            <a:ext cx="5214899" cy="51435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1" name="Google Shape;91;p20"/>
          <p:cNvSpPr/>
          <p:nvPr/>
        </p:nvSpPr>
        <p:spPr bwMode="auto">
          <a:xfrm>
            <a:off x="1331509" y="18000"/>
            <a:ext cx="5200200" cy="5129399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grpSp>
        <p:nvGrpSpPr>
          <p:cNvPr id="92" name="Google Shape;92;p20"/>
          <p:cNvGrpSpPr/>
          <p:nvPr/>
        </p:nvGrpSpPr>
        <p:grpSpPr bwMode="auto">
          <a:xfrm>
            <a:off x="8569715" y="4505200"/>
            <a:ext cx="258577" cy="265368"/>
            <a:chOff x="238125" y="2432825"/>
            <a:chExt cx="779549" cy="781875"/>
          </a:xfrm>
        </p:grpSpPr>
        <p:sp>
          <p:nvSpPr>
            <p:cNvPr id="93" name="Google Shape;93;p20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94" name="Google Shape;94;p20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95" name="Google Shape;95;p20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96" name="Google Shape;96;p20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4. Определение neo">
  <p:cSld name="14. Определение ne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" name="Google Shape;98;p21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99" name="Google Shape;99;p21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0" name="Google Shape;100;p21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4. Определение neo 1">
  <p:cSld name="14. Определение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/>
          <p:nvPr/>
        </p:nvSpPr>
        <p:spPr bwMode="auto"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3" name="Google Shape;103;p22"/>
          <p:cNvSpPr/>
          <p:nvPr/>
        </p:nvSpPr>
        <p:spPr bwMode="auto"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4" name="Google Shape;104;p22"/>
          <p:cNvSpPr/>
          <p:nvPr/>
        </p:nvSpPr>
        <p:spPr bwMode="auto"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5. Отбивка 2 neo">
  <p:cSld name="15. Отбивка 2 ne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" name="Google Shape;106;p23"/>
          <p:cNvSpPr/>
          <p:nvPr/>
        </p:nvSpPr>
        <p:spPr bwMode="auto"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 panose="020B0604020202020204"/>
              <a:buNone/>
              <a:defRPr/>
            </a:pPr>
            <a:endParaRPr sz="700" b="0" i="0" u="none" strike="noStrike" cap="none">
              <a:solidFill>
                <a:srgbClr val="000000"/>
              </a:solidFill>
              <a:latin typeface="Arial" panose="020B0604020202020204"/>
              <a:ea typeface="Arial" panose="020B0604020202020204"/>
              <a:cs typeface="Arial" panose="020B0604020202020204"/>
            </a:endParaRPr>
          </a:p>
        </p:txBody>
      </p:sp>
      <p:sp>
        <p:nvSpPr>
          <p:cNvPr id="107" name="Google Shape;107;p23"/>
          <p:cNvSpPr/>
          <p:nvPr/>
        </p:nvSpPr>
        <p:spPr bwMode="auto"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 panose="020B0604020202020204"/>
              <a:buNone/>
              <a:defRPr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6. Фон neo">
  <p:cSld name="16. Фон ne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PhAnim="0" userDrawn="1" matchingName="16. Фон neo 1">
  <p:cSld name="16. Фон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5" Type="http://schemas.openxmlformats.org/officeDocument/2006/relationships/theme" Target="../theme/theme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</p:sldLayoutIdLst>
  <p:hf sldNum="0" hdr="0" ftr="0" dt="0"/>
  <p:txStyles>
    <p:title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9pPr>
    </p:titleStyle>
    <p:body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9pPr>
    </p:bodyStyle>
    <p:otherStyle>
      <a:defPPr marR="0" lvl="0" algn="l">
        <a:lnSpc>
          <a:spcPct val="100000"/>
        </a:lnSpc>
        <a:spcBef>
          <a:spcPts val="0"/>
        </a:spcBef>
        <a:spcAft>
          <a:spcPts val="0"/>
        </a:spcAft>
      </a:defPPr>
      <a:lvl1pPr marR="0" lv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1pPr>
      <a:lvl2pPr marR="0" lvl="1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2pPr>
      <a:lvl3pPr marR="0" lvl="2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3pPr>
      <a:lvl4pPr marR="0" lvl="3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4pPr>
      <a:lvl5pPr marR="0" lvl="4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5pPr>
      <a:lvl6pPr marR="0" lvl="5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6pPr>
      <a:lvl7pPr marR="0" lvl="6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7pPr>
      <a:lvl8pPr marR="0" lvl="7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8pPr>
      <a:lvl9pPr marR="0" lvl="8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.xml"/><Relationship Id="rId1" Type="http://schemas.openxmlformats.org/officeDocument/2006/relationships/chart" Target="../charts/char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14" name="Google Shape;114;p26"/>
          <p:cNvGrpSpPr/>
          <p:nvPr/>
        </p:nvGrpSpPr>
        <p:grpSpPr bwMode="auto">
          <a:xfrm>
            <a:off x="8549243" y="4536458"/>
            <a:ext cx="258577" cy="265368"/>
            <a:chOff x="238125" y="2432825"/>
            <a:chExt cx="779549" cy="781875"/>
          </a:xfrm>
        </p:grpSpPr>
        <p:sp>
          <p:nvSpPr>
            <p:cNvPr id="115" name="Google Shape;115;p26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16" name="Google Shape;116;p26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17" name="Google Shape;117;p26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118" name="Google Shape;118;p26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119" name="TextBox 118"/>
          <p:cNvSpPr txBox="1"/>
          <p:nvPr/>
        </p:nvSpPr>
        <p:spPr>
          <a:xfrm>
            <a:off x="365760" y="347472"/>
            <a:ext cx="8138160" cy="53035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2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2200" b="1">
                <a:solidFill>
                  <a:srgbClr val="FFFFFF"/>
                </a:solidFill>
                <a:latin typeface="Arial" panose="020B0604020202020204"/>
              </a:rPr>
              <a:t>Применение ML в кибербезопасности</a:t>
            </a:r>
            <a:endParaRPr sz="22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188720"/>
            <a:ext cx="8046720" cy="19202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38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3800" b="1">
                <a:solidFill>
                  <a:srgbClr val="FFFFFF"/>
                </a:solidFill>
                <a:latin typeface="Arial" panose="020B0604020202020204"/>
              </a:rPr>
              <a:t>Антиспам:</a:t>
            </a:r>
            <a:endParaRPr sz="3800" b="1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38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3800" b="1">
                <a:solidFill>
                  <a:srgbClr val="FFFFFF"/>
                </a:solidFill>
                <a:latin typeface="Arial" panose="020B0604020202020204"/>
              </a:rPr>
              <a:t>выбор модели</a:t>
            </a:r>
            <a:endParaRPr sz="3800" b="1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3800" b="1">
                <a:solidFill>
                  <a:srgbClr val="FFFFFF"/>
                </a:solidFill>
                <a:latin typeface="Arial" panose="020B0604020202020204"/>
              </a:defRPr>
            </a:pPr>
            <a:r>
              <a:rPr sz="3800" b="1">
                <a:solidFill>
                  <a:srgbClr val="FFFFFF"/>
                </a:solidFill>
                <a:latin typeface="Arial" panose="020B0604020202020204"/>
              </a:rPr>
              <a:t>и цена ошибок</a:t>
            </a:r>
            <a:endParaRPr sz="3800" b="1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1" name="TextBox 120"/>
          <p:cNvSpPr txBox="1"/>
          <p:nvPr/>
        </p:nvSpPr>
        <p:spPr>
          <a:xfrm>
            <a:off x="393192" y="3401568"/>
            <a:ext cx="7726679" cy="53035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800" b="0">
                <a:solidFill>
                  <a:srgbClr val="FFFFFF"/>
                </a:solidFill>
                <a:latin typeface="Arial" panose="020B0604020202020204"/>
              </a:defRPr>
            </a:pPr>
            <a:r>
              <a:rPr sz="1800" b="0">
                <a:solidFill>
                  <a:srgbClr val="FFFFFF"/>
                </a:solidFill>
                <a:latin typeface="Arial" panose="020B0604020202020204"/>
              </a:rPr>
              <a:t>Итоговое задание  •  TF-IDF + ComplementNB</a:t>
            </a:r>
            <a:endParaRPr sz="1800" b="0">
              <a:solidFill>
                <a:srgbClr val="FFFFFF"/>
              </a:solidFill>
              <a:latin typeface="Arial" panose="020B0604020202020204"/>
            </a:endParaRPr>
          </a:p>
        </p:txBody>
      </p:sp>
      <p:sp>
        <p:nvSpPr>
          <p:cNvPr id="122" name="TextBox 121"/>
          <p:cNvSpPr txBox="1"/>
          <p:nvPr/>
        </p:nvSpPr>
        <p:spPr>
          <a:xfrm>
            <a:off x="393192" y="4224528"/>
            <a:ext cx="7360920" cy="6400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600" b="0">
                <a:solidFill>
                  <a:srgbClr val="FFFFFF"/>
                </a:solidFill>
                <a:latin typeface="Arial" panose="020B0604020202020204"/>
              </a:defRPr>
            </a:pPr>
            <a:r>
              <a:rPr sz="1600" b="0">
                <a:solidFill>
                  <a:srgbClr val="FFFFFF"/>
                </a:solidFill>
                <a:latin typeface="Arial" panose="020B0604020202020204"/>
              </a:rPr>
              <a:t>Городилова Ирина Сергеевна</a:t>
            </a:r>
            <a:endParaRPr sz="1600" b="0">
              <a:solidFill>
                <a:srgbClr val="FFFFFF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600" b="0">
                <a:solidFill>
                  <a:srgbClr val="FFFFFF"/>
                </a:solidFill>
                <a:latin typeface="Arial" panose="020B0604020202020204"/>
              </a:defRPr>
            </a:pPr>
            <a:r>
              <a:rPr sz="1600" b="0">
                <a:solidFill>
                  <a:srgbClr val="FFFFFF"/>
                </a:solidFill>
                <a:latin typeface="Arial" panose="020B0604020202020204"/>
              </a:rPr>
              <a:t>Группа МКБ251</a:t>
            </a:r>
            <a:endParaRPr sz="1600" b="0">
              <a:solidFill>
                <a:srgbClr val="FFFFFF"/>
              </a:solidFill>
              <a:latin typeface="Arial" panose="020B0604020202020204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5605" y="35941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Задача: распознавать спам и сохранять полезную почту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Задача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38912" y="1033271"/>
            <a:ext cx="8183879" cy="60350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0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000" b="1">
                <a:solidFill>
                  <a:srgbClr val="17263A"/>
                </a:solidFill>
                <a:latin typeface="Arial" panose="020B0604020202020204"/>
              </a:rPr>
              <a:t>Вход: электронное письмо RFC 822 / MIME</a:t>
            </a:r>
            <a:endParaRPr sz="2000" b="1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20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000" b="1">
                <a:solidFill>
                  <a:srgbClr val="17263A"/>
                </a:solidFill>
                <a:latin typeface="Arial" panose="020B0604020202020204"/>
              </a:rPr>
              <a:t>Выход: ham или spam и оценка модели</a:t>
            </a:r>
            <a:endParaRPr sz="20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11480" y="1965960"/>
            <a:ext cx="2587752" cy="1746504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57784" y="2084831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Критичная ошибка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784" y="2450591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D43B68"/>
                </a:solidFill>
                <a:latin typeface="Arial" panose="020B0604020202020204"/>
              </a:defRPr>
            </a:pPr>
            <a:r>
              <a:rPr sz="2900" b="1">
                <a:solidFill>
                  <a:srgbClr val="D43B68"/>
                </a:solidFill>
                <a:latin typeface="Arial" panose="020B0604020202020204"/>
              </a:rPr>
              <a:t>FP</a:t>
            </a:r>
            <a:endParaRPr sz="2900" b="1">
              <a:solidFill>
                <a:srgbClr val="D43B68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784" y="2999232"/>
            <a:ext cx="2295144" cy="64922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Обычное письмо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ошибочно заблокировано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264408" y="1965960"/>
            <a:ext cx="2587752" cy="1746504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410712" y="2084831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Пропущенный спам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10712" y="2450591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607087"/>
                </a:solidFill>
                <a:latin typeface="Arial" panose="020B0604020202020204"/>
              </a:defRPr>
            </a:pPr>
            <a:r>
              <a:rPr sz="2900" b="1">
                <a:solidFill>
                  <a:srgbClr val="607087"/>
                </a:solidFill>
                <a:latin typeface="Arial" panose="020B0604020202020204"/>
              </a:rPr>
              <a:t>FN</a:t>
            </a:r>
            <a:endParaRPr sz="2900" b="1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10712" y="2999232"/>
            <a:ext cx="2295144" cy="64922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Спам-письмо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попало во входящие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17336" y="1965960"/>
            <a:ext cx="2587752" cy="1746504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263640" y="2084831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Метрики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63640" y="2450591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2900" b="1">
                <a:solidFill>
                  <a:srgbClr val="0066FF"/>
                </a:solidFill>
                <a:latin typeface="Arial" panose="020B0604020202020204"/>
              </a:rPr>
              <a:t>P / R / F1</a:t>
            </a:r>
            <a:endParaRPr sz="2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63640" y="2999232"/>
            <a:ext cx="2295144" cy="64922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Дополнительно F0.5,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FPR и число FP / FN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93192" y="4032504"/>
            <a:ext cx="8321040" cy="45720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30352" y="4114800"/>
            <a:ext cx="8037575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2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320" b="1">
                <a:solidFill>
                  <a:srgbClr val="0066FF"/>
                </a:solidFill>
                <a:latin typeface="Arial" panose="020B0604020202020204"/>
              </a:rPr>
              <a:t>Цель — снизить FP, сохранив способность обнаруживать спам.</a:t>
            </a:r>
            <a:endParaRPr sz="1320" b="1">
              <a:solidFill>
                <a:srgbClr val="0066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Этапы работы и функции в проекте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План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93192" y="1097280"/>
          <a:ext cx="832104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6217920"/>
              </a:tblGrid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Функция</a:t>
                      </a:r>
                      <a:endParaRPr sz="17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7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Результат работы</a:t>
                      </a:r>
                      <a:endParaRPr sz="17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Аналитика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Постановка задачи, метрики и приоритет FP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Подготовка данных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MIME/HTML, очистка и защита от утечки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Data Science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EDA, 5-fold CV и выбор порога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ML-инженерия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7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7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Экспорт Pipeline, FastAPI и Docker</a:t>
                      </a:r>
                      <a:endParaRPr sz="17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93192" y="3913632"/>
            <a:ext cx="8321040" cy="457200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30352" y="3995928"/>
            <a:ext cx="8037575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2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320" b="1">
                <a:solidFill>
                  <a:srgbClr val="0066FF"/>
                </a:solidFill>
                <a:latin typeface="Arial" panose="020B0604020202020204"/>
              </a:rPr>
              <a:t>Выполнены этапы 1–3. Публичное размещение — следующий этап.</a:t>
            </a:r>
            <a:endParaRPr sz="1320" b="1">
              <a:solidFill>
                <a:srgbClr val="0066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Данные: три подкорпуса и отдельный контроль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877824"/>
            <a:ext cx="827532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25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250" b="0">
                <a:solidFill>
                  <a:srgbClr val="607087"/>
                </a:solidFill>
                <a:latin typeface="Arial" panose="020B0604020202020204"/>
              </a:rPr>
              <a:t>Количество писем соответствует предоставленным локальным данным.</a:t>
            </a:r>
            <a:endParaRPr sz="125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Данные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6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93192" y="1307592"/>
          <a:ext cx="8321040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914400"/>
                <a:gridCol w="1234440"/>
                <a:gridCol w="4343400"/>
              </a:tblGrid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5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Набор</a:t>
                      </a:r>
                      <a:endParaRPr sz="15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Писем</a:t>
                      </a:r>
                      <a:endParaRPr sz="15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Класс</a:t>
                      </a:r>
                      <a:endParaRPr sz="15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Особенность</a:t>
                      </a:r>
                      <a:endParaRPr sz="15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easy_ham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2551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ham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Обычная почта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hard_ham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250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ham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HTML и рекламоподобные выражения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spam_2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1396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spam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Нежелательная почта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484632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Внешний контроль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1600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ham / spam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5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5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600 ham и 1000 spam</a:t>
                      </a:r>
                      <a:endParaRPr sz="15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38912" y="3941063"/>
            <a:ext cx="8138160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500" b="0">
                <a:solidFill>
                  <a:srgbClr val="17263A"/>
                </a:solidFill>
                <a:latin typeface="Arial" panose="020B0604020202020204"/>
              </a:rPr>
              <a:t>4197 исходных писем: 66,74% ham и 33,26% spam.</a:t>
            </a:r>
            <a:endParaRPr sz="15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5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500" b="0">
                <a:solidFill>
                  <a:srgbClr val="17263A"/>
                </a:solidFill>
                <a:latin typeface="Arial" panose="020B0604020202020204"/>
              </a:rPr>
              <a:t>Три обучающих набора относятся к одному семейству SpamAssassin.</a:t>
            </a:r>
            <a:endParaRPr sz="1500" b="0">
              <a:solidFill>
                <a:srgbClr val="17263A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Подготовка данных: сначала исключаем утечку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Предобработка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38912" y="1005840"/>
            <a:ext cx="8211312" cy="9144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9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900" b="1">
                <a:solidFill>
                  <a:srgbClr val="17263A"/>
                </a:solidFill>
                <a:latin typeface="Arial" panose="020B0604020202020204"/>
              </a:rPr>
              <a:t>MIME и кодировки → тема и тело → видимый текст HTML</a:t>
            </a:r>
            <a:endParaRPr sz="1900" b="1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9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900" b="1">
                <a:solidFill>
                  <a:srgbClr val="17263A"/>
                </a:solidFill>
                <a:latin typeface="Arial" panose="020B0604020202020204"/>
              </a:rPr>
              <a:t>Нормализация Unicode и пробелов → проверка идентичности</a:t>
            </a:r>
            <a:endParaRPr sz="19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11480" y="2075688"/>
            <a:ext cx="2587752" cy="1572768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57784" y="2194560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Исходные письма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784" y="2560320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2900" b="1">
                <a:solidFill>
                  <a:srgbClr val="0066FF"/>
                </a:solidFill>
                <a:latin typeface="Arial" panose="020B0604020202020204"/>
              </a:rPr>
              <a:t>4197</a:t>
            </a:r>
            <a:endParaRPr sz="2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557784" y="3108960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После очистки — 3834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3264408" y="2075688"/>
            <a:ext cx="2587752" cy="1572768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3410712" y="2194560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Пересечения с контролем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10712" y="2560320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D43B68"/>
                </a:solidFill>
                <a:latin typeface="Arial" panose="020B0604020202020204"/>
              </a:defRPr>
            </a:pPr>
            <a:r>
              <a:rPr sz="2900" b="1">
                <a:solidFill>
                  <a:srgbClr val="D43B68"/>
                </a:solidFill>
                <a:latin typeface="Arial" panose="020B0604020202020204"/>
              </a:rPr>
              <a:t>956</a:t>
            </a:r>
            <a:endParaRPr sz="2900" b="1">
              <a:solidFill>
                <a:srgbClr val="D43B68"/>
              </a:solidFill>
              <a:latin typeface="Arial" panose="020B0604020202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3410712" y="3108960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Исключены до разбиения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6117336" y="2075688"/>
            <a:ext cx="2587752" cy="1572768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6263640" y="2194560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Готово для разбиения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63640" y="2560320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18C78"/>
                </a:solidFill>
                <a:latin typeface="Arial" panose="020B0604020202020204"/>
              </a:defRPr>
            </a:pPr>
            <a:r>
              <a:rPr sz="2900" b="1">
                <a:solidFill>
                  <a:srgbClr val="118C78"/>
                </a:solidFill>
                <a:latin typeface="Arial" panose="020B0604020202020204"/>
              </a:rPr>
              <a:t>2878</a:t>
            </a:r>
            <a:endParaRPr sz="2900" b="1">
              <a:solidFill>
                <a:srgbClr val="118C78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6263640" y="3108960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Уникальные письма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8912" y="3822191"/>
            <a:ext cx="8193024" cy="61264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5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500" b="0">
                <a:solidFill>
                  <a:srgbClr val="607087"/>
                </a:solidFill>
                <a:latin typeface="Arial" panose="020B0604020202020204"/>
              </a:rPr>
              <a:t>В признаки не входят X-Spam-*, Received, отправитель и имя файла.</a:t>
            </a:r>
            <a:endParaRPr sz="1500" b="0">
              <a:solidFill>
                <a:srgbClr val="607087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5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500" b="0">
                <a:solidFill>
                  <a:srgbClr val="607087"/>
                </a:solidFill>
                <a:latin typeface="Arial" panose="020B0604020202020204"/>
              </a:rPr>
              <a:t>Повторы проверены по байтам, тексту, телу и Message-ID.</a:t>
            </a:r>
            <a:endParaRPr sz="1500" b="0">
              <a:solidFill>
                <a:srgbClr val="607087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67360" y="-254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EDA: отдельные признаки не заменяют классификатор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877824"/>
            <a:ext cx="827532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25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250" b="0">
                <a:solidFill>
                  <a:srgbClr val="607087"/>
                </a:solidFill>
                <a:latin typeface="Arial" panose="020B0604020202020204"/>
              </a:rPr>
              <a:t>Подробное исследование выполнено только на обучающей части.</a:t>
            </a:r>
            <a:endParaRPr sz="125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Исследование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6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29768" y="1426464"/>
          <a:ext cx="4800600" cy="252374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513832" y="1417320"/>
            <a:ext cx="3154680" cy="1051560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500"/>
              </a:spcAft>
              <a:defRPr sz="19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900" b="1">
                <a:solidFill>
                  <a:srgbClr val="17263A"/>
                </a:solidFill>
                <a:latin typeface="Arial" panose="020B0604020202020204"/>
              </a:rPr>
              <a:t>Медиана числа ссылок</a:t>
            </a:r>
            <a:endParaRPr sz="1900" b="1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9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900" b="1">
                <a:solidFill>
                  <a:srgbClr val="17263A"/>
                </a:solidFill>
                <a:latin typeface="Arial" panose="020B0604020202020204"/>
              </a:rPr>
              <a:t>ham: 2  •  spam: 4</a:t>
            </a:r>
            <a:endParaRPr sz="19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513832" y="2688336"/>
            <a:ext cx="3154680" cy="1051560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109728" rIns="109728" bIns="109728" rtlCol="0" anchor="ctr"/>
          <a:lstStyle/>
          <a:p>
            <a:pPr algn="l">
              <a:spcAft>
                <a:spcPts val="500"/>
              </a:spcAft>
              <a:defRPr sz="19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900" b="1">
                <a:solidFill>
                  <a:srgbClr val="17263A"/>
                </a:solidFill>
                <a:latin typeface="Arial" panose="020B0604020202020204"/>
              </a:rPr>
              <a:t>Медиана числа слов</a:t>
            </a:r>
            <a:endParaRPr sz="1900" b="1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9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900" b="1">
                <a:solidFill>
                  <a:srgbClr val="17263A"/>
                </a:solidFill>
                <a:latin typeface="Arial" panose="020B0604020202020204"/>
              </a:rPr>
              <a:t>ham: 141  •  spam: 161</a:t>
            </a:r>
            <a:endParaRPr sz="19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93192" y="4096512"/>
            <a:ext cx="8321040" cy="448056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530352" y="4178808"/>
            <a:ext cx="8037575" cy="32918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2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320" b="1">
                <a:solidFill>
                  <a:srgbClr val="0066FF"/>
                </a:solidFill>
                <a:latin typeface="Arial" panose="020B0604020202020204"/>
              </a:rPr>
              <a:t>Наличие HTML или ссылок само по себе не является основанием блокировать письмо.</a:t>
            </a:r>
            <a:endParaRPr sz="1320" b="1">
              <a:solidFill>
                <a:srgbClr val="0066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Обучение, выбор порога и тест — разные этапы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Валидация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11480" y="1197864"/>
            <a:ext cx="2587752" cy="1865376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57784" y="1316736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Train — около 60%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57784" y="1682496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2900" b="1">
                <a:solidFill>
                  <a:srgbClr val="0066FF"/>
                </a:solidFill>
                <a:latin typeface="Arial" panose="020B0604020202020204"/>
              </a:rPr>
              <a:t>1726</a:t>
            </a:r>
            <a:endParaRPr sz="2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557784" y="2231136"/>
            <a:ext cx="2295144" cy="76809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EDA, обучение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и 5-fold CV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3264408" y="1197864"/>
            <a:ext cx="2587752" cy="1865376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10712" y="1316736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Validation — около 20%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410712" y="1682496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118C78"/>
                </a:solidFill>
                <a:latin typeface="Arial" panose="020B0604020202020204"/>
              </a:defRPr>
            </a:pPr>
            <a:r>
              <a:rPr sz="2900" b="1">
                <a:solidFill>
                  <a:srgbClr val="118C78"/>
                </a:solidFill>
                <a:latin typeface="Arial" panose="020B0604020202020204"/>
              </a:rPr>
              <a:t>576</a:t>
            </a:r>
            <a:endParaRPr sz="2900" b="1">
              <a:solidFill>
                <a:srgbClr val="118C78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410712" y="2231136"/>
            <a:ext cx="2295144" cy="76809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Настройка порога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выбранной модели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6117336" y="1197864"/>
            <a:ext cx="2587752" cy="1865376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263640" y="1316736"/>
            <a:ext cx="2295144" cy="32004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300" b="0">
                <a:solidFill>
                  <a:srgbClr val="607087"/>
                </a:solidFill>
                <a:latin typeface="Arial" panose="020B0604020202020204"/>
              </a:rPr>
              <a:t>Test — около 20%</a:t>
            </a:r>
            <a:endParaRPr sz="13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63640" y="1682496"/>
            <a:ext cx="2295144" cy="47548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900" b="1">
                <a:solidFill>
                  <a:srgbClr val="D43B68"/>
                </a:solidFill>
                <a:latin typeface="Arial" panose="020B0604020202020204"/>
              </a:defRPr>
            </a:pPr>
            <a:r>
              <a:rPr sz="2900" b="1">
                <a:solidFill>
                  <a:srgbClr val="D43B68"/>
                </a:solidFill>
                <a:latin typeface="Arial" panose="020B0604020202020204"/>
              </a:rPr>
              <a:t>576</a:t>
            </a:r>
            <a:endParaRPr sz="2900" b="1">
              <a:solidFill>
                <a:srgbClr val="D43B6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6263640" y="2231136"/>
            <a:ext cx="2295144" cy="76809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Финальная оценка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30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300" b="0">
                <a:solidFill>
                  <a:srgbClr val="17263A"/>
                </a:solidFill>
                <a:latin typeface="Arial" panose="020B0604020202020204"/>
              </a:rPr>
              <a:t>после фиксации решения</a:t>
            </a:r>
            <a:endParaRPr sz="130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448056" y="3383280"/>
            <a:ext cx="8174736" cy="62179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800" b="1">
                <a:solidFill>
                  <a:srgbClr val="17263A"/>
                </a:solidFill>
                <a:latin typeface="Arial" panose="020B0604020202020204"/>
              </a:rPr>
              <a:t>Стратификация по источнику сохраняет hard_ham.</a:t>
            </a:r>
            <a:endParaRPr sz="1800" b="1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8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800" b="1">
                <a:solidFill>
                  <a:srgbClr val="17263A"/>
                </a:solidFill>
                <a:latin typeface="Arial" panose="020B0604020202020204"/>
              </a:rPr>
              <a:t>TF-IDF заново обучается внутри каждого CV-фолда.</a:t>
            </a:r>
            <a:endParaRPr sz="18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9" name="Rounded Rectangle 18"/>
          <p:cNvSpPr/>
          <p:nvPr/>
        </p:nvSpPr>
        <p:spPr>
          <a:xfrm>
            <a:off x="393192" y="4160520"/>
            <a:ext cx="8321040" cy="393192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30352" y="4242816"/>
            <a:ext cx="8037575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2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320" b="1">
                <a:solidFill>
                  <a:srgbClr val="0066FF"/>
                </a:solidFill>
                <a:latin typeface="Arial" panose="020B0604020202020204"/>
              </a:rPr>
              <a:t>Внешние метрики не используются при выборе модели или порога.</a:t>
            </a:r>
            <a:endParaRPr sz="1320" b="1">
              <a:solidFill>
                <a:srgbClr val="0066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219456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Архитектура: TF-IDF + ComplementNB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Модель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02336" y="1197864"/>
            <a:ext cx="1508760" cy="1024128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493776" y="1344168"/>
            <a:ext cx="1325880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500" b="1">
                <a:solidFill>
                  <a:srgbClr val="0066FF"/>
                </a:solidFill>
                <a:latin typeface="Arial" panose="020B0604020202020204"/>
              </a:rPr>
              <a:t>Письмо</a:t>
            </a:r>
            <a:endParaRPr sz="15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66344" y="1783080"/>
            <a:ext cx="1380744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07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070" b="0">
                <a:solidFill>
                  <a:srgbClr val="17263A"/>
                </a:solidFill>
                <a:latin typeface="Arial" panose="020B0604020202020204"/>
              </a:rPr>
              <a:t>Тема и тело</a:t>
            </a:r>
            <a:endParaRPr sz="107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911095" y="1508760"/>
            <a:ext cx="192024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900" b="1">
                <a:solidFill>
                  <a:srgbClr val="0066FF"/>
                </a:solidFill>
                <a:latin typeface="Arial" panose="020B0604020202020204"/>
              </a:rPr>
              <a:t>→</a:t>
            </a:r>
            <a:endParaRPr sz="1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2103120" y="1197864"/>
            <a:ext cx="1508760" cy="1024128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2194560" y="1344168"/>
            <a:ext cx="1325880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500" b="1">
                <a:solidFill>
                  <a:srgbClr val="0066FF"/>
                </a:solidFill>
                <a:latin typeface="Arial" panose="020B0604020202020204"/>
              </a:rPr>
              <a:t>Парсер</a:t>
            </a:r>
            <a:endParaRPr sz="15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167128" y="1783080"/>
            <a:ext cx="1380744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07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070" b="0">
                <a:solidFill>
                  <a:srgbClr val="17263A"/>
                </a:solidFill>
                <a:latin typeface="Arial" panose="020B0604020202020204"/>
              </a:rPr>
              <a:t>MIME / HTML</a:t>
            </a:r>
            <a:endParaRPr sz="107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611880" y="1508760"/>
            <a:ext cx="192024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900" b="1">
                <a:solidFill>
                  <a:srgbClr val="0066FF"/>
                </a:solidFill>
                <a:latin typeface="Arial" panose="020B0604020202020204"/>
              </a:rPr>
              <a:t>→</a:t>
            </a:r>
            <a:endParaRPr sz="1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3803904" y="1197864"/>
            <a:ext cx="1508760" cy="1024128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3895344" y="1344168"/>
            <a:ext cx="1325880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500" b="1">
                <a:solidFill>
                  <a:srgbClr val="0066FF"/>
                </a:solidFill>
                <a:latin typeface="Arial" panose="020B0604020202020204"/>
              </a:rPr>
              <a:t>TF-IDF</a:t>
            </a:r>
            <a:endParaRPr sz="15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3867912" y="1783080"/>
            <a:ext cx="1380744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07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070" b="0">
                <a:solidFill>
                  <a:srgbClr val="17263A"/>
                </a:solidFill>
                <a:latin typeface="Arial" panose="020B0604020202020204"/>
              </a:rPr>
              <a:t>Слова и биграммы</a:t>
            </a:r>
            <a:endParaRPr sz="107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312664" y="1508760"/>
            <a:ext cx="192024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900" b="1">
                <a:solidFill>
                  <a:srgbClr val="0066FF"/>
                </a:solidFill>
                <a:latin typeface="Arial" panose="020B0604020202020204"/>
              </a:rPr>
              <a:t>→</a:t>
            </a:r>
            <a:endParaRPr sz="1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5504688" y="1197864"/>
            <a:ext cx="1508760" cy="1024128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5596128" y="1344168"/>
            <a:ext cx="1325880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500" b="1">
                <a:solidFill>
                  <a:srgbClr val="0066FF"/>
                </a:solidFill>
                <a:latin typeface="Arial" panose="020B0604020202020204"/>
              </a:rPr>
              <a:t>ComplementNB</a:t>
            </a:r>
            <a:endParaRPr sz="15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5568696" y="1783080"/>
            <a:ext cx="1380744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07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070" b="0">
                <a:solidFill>
                  <a:srgbClr val="17263A"/>
                </a:solidFill>
                <a:latin typeface="Arial" panose="020B0604020202020204"/>
              </a:rPr>
              <a:t>Оценка spam</a:t>
            </a:r>
            <a:endParaRPr sz="107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7013448" y="1508760"/>
            <a:ext cx="192024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9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900" b="1">
                <a:solidFill>
                  <a:srgbClr val="0066FF"/>
                </a:solidFill>
                <a:latin typeface="Arial" panose="020B0604020202020204"/>
              </a:rPr>
              <a:t>→</a:t>
            </a:r>
            <a:endParaRPr sz="19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7205472" y="1197864"/>
            <a:ext cx="1508760" cy="1024128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7296912" y="1344168"/>
            <a:ext cx="1325880" cy="33832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5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500" b="1">
                <a:solidFill>
                  <a:srgbClr val="0066FF"/>
                </a:solidFill>
                <a:latin typeface="Arial" panose="020B0604020202020204"/>
              </a:rPr>
              <a:t>Порог</a:t>
            </a:r>
            <a:endParaRPr sz="15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269480" y="1783080"/>
            <a:ext cx="1380744" cy="2743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ctr">
              <a:spcAft>
                <a:spcPts val="500"/>
              </a:spcAft>
              <a:defRPr sz="107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070" b="0">
                <a:solidFill>
                  <a:srgbClr val="17263A"/>
                </a:solidFill>
                <a:latin typeface="Arial" panose="020B0604020202020204"/>
              </a:rPr>
              <a:t>ham / spam</a:t>
            </a:r>
            <a:endParaRPr sz="1070" b="0">
              <a:solidFill>
                <a:srgbClr val="17263A"/>
              </a:solidFill>
              <a:latin typeface="Arial" panose="020B0604020202020204"/>
            </a:endParaRPr>
          </a:p>
        </p:txBody>
      </p: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393192" y="2578608"/>
          <a:ext cx="832104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6126480"/>
              </a:tblGrid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Параметр</a:t>
                      </a:r>
                      <a:endParaRPr sz="14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40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40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Значение</a:t>
                      </a:r>
                      <a:endParaRPr sz="140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Словарь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До 30 000 признаков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Частота слов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sublinear_tf=True; min_df=2; max_df=0,995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Классификатор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ComplementNB; alpha=1,0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Порог сервиса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40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40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0,862981</a:t>
                      </a:r>
                      <a:endParaRPr sz="140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5605" y="32131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Кандидаты: четыре подхода, шесть конфигураций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Сравнение моделей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411480" y="1060704"/>
            <a:ext cx="3986784" cy="1536192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48640" y="1179576"/>
            <a:ext cx="3694176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607087"/>
                </a:solidFill>
                <a:latin typeface="Arial" panose="020B0604020202020204"/>
              </a:defRPr>
            </a:pPr>
            <a:r>
              <a:rPr sz="1800" b="1">
                <a:solidFill>
                  <a:srgbClr val="607087"/>
                </a:solidFill>
                <a:latin typeface="Arial" panose="020B0604020202020204"/>
              </a:rPr>
              <a:t>DummyClassifier</a:t>
            </a:r>
            <a:endParaRPr sz="1800" b="1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48640" y="1591055"/>
            <a:ext cx="3694176" cy="9144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Всегда ham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Нулевые FP, но Recall = 0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Ориентир для проверки смысла метрик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709160" y="1060704"/>
            <a:ext cx="3986784" cy="1536192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4846320" y="1179576"/>
            <a:ext cx="3694176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800" b="1">
                <a:solidFill>
                  <a:srgbClr val="0066FF"/>
                </a:solidFill>
                <a:latin typeface="Arial" panose="020B0604020202020204"/>
              </a:rPr>
              <a:t>ComplementNB</a:t>
            </a:r>
            <a:endParaRPr sz="18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4846320" y="1591055"/>
            <a:ext cx="3694176" cy="9144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alpha = 0,5 и 1,0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Быстрый текстовый классификатор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Сглаживание редких признаков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411480" y="2788920"/>
            <a:ext cx="3986784" cy="1536192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3" name="TextBox 12"/>
          <p:cNvSpPr txBox="1"/>
          <p:nvPr/>
        </p:nvSpPr>
        <p:spPr>
          <a:xfrm>
            <a:off x="548640" y="2907791"/>
            <a:ext cx="3694176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118C78"/>
                </a:solidFill>
                <a:latin typeface="Arial" panose="020B0604020202020204"/>
              </a:defRPr>
            </a:pPr>
            <a:r>
              <a:rPr sz="1800" b="1">
                <a:solidFill>
                  <a:srgbClr val="118C78"/>
                </a:solidFill>
                <a:latin typeface="Arial" panose="020B0604020202020204"/>
              </a:rPr>
              <a:t>LogisticRegression</a:t>
            </a:r>
            <a:endParaRPr sz="1800" b="1">
              <a:solidFill>
                <a:srgbClr val="118C78"/>
              </a:solidFill>
              <a:latin typeface="Arial" panose="020B0604020202020204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548640" y="3319272"/>
            <a:ext cx="3694176" cy="9144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C = 0,5 и 2,0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Меньший C — сильнее регуляризация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Вес ham вдвое выше веса spam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5" name="Rounded Rectangle 14"/>
          <p:cNvSpPr/>
          <p:nvPr/>
        </p:nvSpPr>
        <p:spPr>
          <a:xfrm>
            <a:off x="4709160" y="2788920"/>
            <a:ext cx="3986784" cy="1536192"/>
          </a:xfrm>
          <a:prstGeom prst="roundRect">
            <a:avLst/>
          </a:prstGeom>
          <a:solidFill>
            <a:srgbClr val="F3F6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6" name="TextBox 15"/>
          <p:cNvSpPr txBox="1"/>
          <p:nvPr/>
        </p:nvSpPr>
        <p:spPr>
          <a:xfrm>
            <a:off x="4846320" y="2907791"/>
            <a:ext cx="3694176" cy="292608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800" b="1">
                <a:solidFill>
                  <a:srgbClr val="D43B68"/>
                </a:solidFill>
                <a:latin typeface="Arial" panose="020B0604020202020204"/>
              </a:defRPr>
            </a:pPr>
            <a:r>
              <a:rPr sz="1800" b="1">
                <a:solidFill>
                  <a:srgbClr val="D43B68"/>
                </a:solidFill>
                <a:latin typeface="Arial" panose="020B0604020202020204"/>
              </a:rPr>
              <a:t>LinearSVC</a:t>
            </a:r>
            <a:endParaRPr sz="1800" b="1">
              <a:solidFill>
                <a:srgbClr val="D43B68"/>
              </a:solidFill>
              <a:latin typeface="Arial" panose="020B0604020202020204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4846320" y="3319272"/>
            <a:ext cx="3694176" cy="91440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C = 1,0; вес ham = 2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Разделяющая граница с зазором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420" b="0">
                <a:solidFill>
                  <a:srgbClr val="17263A"/>
                </a:solidFill>
                <a:latin typeface="Arial" panose="020B0604020202020204"/>
              </a:defRPr>
            </a:pPr>
            <a:r>
              <a:rPr sz="1420" b="0">
                <a:solidFill>
                  <a:srgbClr val="17263A"/>
                </a:solidFill>
                <a:latin typeface="Arial" panose="020B0604020202020204"/>
              </a:rPr>
              <a:t>Выход — margin, не вероятность</a:t>
            </a:r>
            <a:endParaRPr sz="1420" b="0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18" name="Text Box 17"/>
          <p:cNvSpPr txBox="1"/>
          <p:nvPr/>
        </p:nvSpPr>
        <p:spPr>
          <a:xfrm>
            <a:off x="3202940" y="-59055"/>
            <a:ext cx="3048000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175" y="-254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Кросс-валидация: качество при стандартных порогах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84048" y="79552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877824"/>
            <a:ext cx="8275320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250" b="0">
                <a:solidFill>
                  <a:srgbClr val="607087"/>
                </a:solidFill>
                <a:latin typeface="Arial" panose="020B0604020202020204"/>
              </a:defRPr>
            </a:pPr>
            <a:r>
              <a:rPr sz="1250" b="0">
                <a:solidFill>
                  <a:srgbClr val="607087"/>
                </a:solidFill>
                <a:latin typeface="Arial" panose="020B0604020202020204"/>
              </a:rPr>
              <a:t>Средние значения по 5 фолдам внутри train. Порог NB/LR — 0,5; SVC — 0.</a:t>
            </a:r>
            <a:endParaRPr sz="125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CV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6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93192" y="1316736"/>
          <a:ext cx="8321040" cy="26243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88920"/>
                <a:gridCol w="1188720"/>
                <a:gridCol w="1143000"/>
                <a:gridCol w="960120"/>
                <a:gridCol w="960120"/>
                <a:gridCol w="1280160"/>
              </a:tblGrid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Модель</a:t>
                      </a:r>
                      <a:endParaRPr sz="128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Precision</a:t>
                      </a:r>
                      <a:endParaRPr sz="128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Recall</a:t>
                      </a:r>
                      <a:endParaRPr sz="128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F1</a:t>
                      </a:r>
                      <a:endParaRPr sz="128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F0.5</a:t>
                      </a:r>
                      <a:endParaRPr sz="128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FFFFFF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FFFFFF"/>
                          </a:solidFill>
                          <a:latin typeface="Arial" panose="020B0604020202020204"/>
                        </a:rPr>
                        <a:t>FPR</a:t>
                      </a:r>
                      <a:endParaRPr sz="1280" b="1">
                        <a:solidFill>
                          <a:srgbClr val="FFFFFF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0066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1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ComplementNB, α=1,0</a:t>
                      </a:r>
                      <a:endParaRPr sz="1280" b="1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E9F6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99,75%</a:t>
                      </a:r>
                      <a:endParaRPr sz="1280" b="1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E9F6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85,20%</a:t>
                      </a:r>
                      <a:endParaRPr sz="1280" b="1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E9F6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0,9188</a:t>
                      </a:r>
                      <a:endParaRPr sz="1280" b="1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E9F6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0,9644</a:t>
                      </a:r>
                      <a:endParaRPr sz="1280" b="1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E9F6F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1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1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0,081%</a:t>
                      </a:r>
                      <a:endParaRPr sz="1280" b="1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E9F6F0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LogReg, C=2,0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99,00%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82,36%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0,8989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0,9513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0,324%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LogReg, C=0,5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100,00%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56,40%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0,7208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0,8657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0,000%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LinearSVC, C=1,0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98,09%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93,93%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0,9594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0,9722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0,729%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ComplementNB, α=0,5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98,11%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93,11%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0,9551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0,9705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0,729%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3F6FB"/>
                    </a:solidFill>
                  </a:tcPr>
                </a:tc>
              </a:tr>
              <a:tr h="374904">
                <a:tc>
                  <a:txBody>
                    <a:bodyPr/>
                    <a:lstStyle/>
                    <a:p>
                      <a:pPr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Dummy: всегда ham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—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0,00%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0,0000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0,0000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spcAft>
                          <a:spcPts val="0"/>
                        </a:spcAft>
                        <a:defRPr sz="1280" b="0">
                          <a:solidFill>
                            <a:srgbClr val="17263A"/>
                          </a:solidFill>
                          <a:latin typeface="Arial" panose="020B0604020202020204"/>
                        </a:defRPr>
                      </a:pPr>
                      <a:r>
                        <a:rPr sz="1280" b="0">
                          <a:solidFill>
                            <a:srgbClr val="17263A"/>
                          </a:solidFill>
                          <a:latin typeface="Arial" panose="020B0604020202020204"/>
                        </a:rPr>
                        <a:t>0,000%</a:t>
                      </a:r>
                      <a:endParaRPr sz="1280" b="0">
                        <a:solidFill>
                          <a:srgbClr val="17263A"/>
                        </a:solidFill>
                        <a:latin typeface="Arial" panose="020B0604020202020204"/>
                      </a:endParaRPr>
                    </a:p>
                  </a:txBody>
                  <a:tcPr marR="64008" marT="59436" marB="32004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48056" y="4096512"/>
            <a:ext cx="8211312" cy="41148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50" b="1">
                <a:solidFill>
                  <a:srgbClr val="17263A"/>
                </a:solidFill>
                <a:latin typeface="Arial" panose="020B0604020202020204"/>
              </a:defRPr>
            </a:pPr>
            <a:r>
              <a:rPr sz="1350" b="1">
                <a:solidFill>
                  <a:srgbClr val="17263A"/>
                </a:solidFill>
                <a:latin typeface="Arial" panose="020B0604020202020204"/>
              </a:rPr>
              <a:t>LinearSVC показал лучший F1. ComplementNB α=1,0 выбран по ограничениям на Precision и FPR.</a:t>
            </a:r>
            <a:endParaRPr sz="1350" b="1">
              <a:solidFill>
                <a:srgbClr val="17263A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95605" y="122936"/>
            <a:ext cx="8339327" cy="521207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6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600" b="1">
                <a:solidFill>
                  <a:srgbClr val="17263A"/>
                </a:solidFill>
                <a:latin typeface="Arial" panose="020B0604020202020204"/>
              </a:rPr>
              <a:t>Почему выбран ComplementNB, хотя F1 у SVC выше</a:t>
            </a:r>
            <a:endParaRPr sz="26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374523" y="987298"/>
            <a:ext cx="8339327" cy="22860"/>
          </a:xfrm>
          <a:prstGeom prst="rect">
            <a:avLst/>
          </a:prstGeom>
          <a:solidFill>
            <a:srgbClr val="006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93192" y="4818888"/>
            <a:ext cx="7818120" cy="17373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900" b="0">
                <a:solidFill>
                  <a:srgbClr val="607087"/>
                </a:solidFill>
                <a:latin typeface="Arial" panose="020B0604020202020204"/>
              </a:defRPr>
            </a:pPr>
            <a:r>
              <a:rPr sz="900" b="0">
                <a:solidFill>
                  <a:srgbClr val="607087"/>
                </a:solidFill>
                <a:latin typeface="Arial" panose="020B0604020202020204"/>
              </a:rPr>
              <a:t>МКБ251  •  Городилова И. С.  •  Выбор</a:t>
            </a:r>
            <a:endParaRPr sz="900" b="0">
              <a:solidFill>
                <a:srgbClr val="607087"/>
              </a:solidFill>
              <a:latin typeface="Arial" panose="020B0604020202020204"/>
            </a:endParaRPr>
          </a:p>
        </p:txBody>
      </p:sp>
      <p:sp>
        <p:nvSpPr>
          <p:cNvPr id="5" name="slide_pager"/>
          <p:cNvSpPr txBox="1"/>
          <p:nvPr/>
        </p:nvSpPr>
        <p:spPr>
          <a:xfrm>
            <a:off x="8275320" y="4791456"/>
            <a:ext cx="438912" cy="219456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r">
              <a:spcAft>
                <a:spcPts val="500"/>
              </a:spcAft>
              <a:defRPr sz="1000" b="0">
                <a:solidFill>
                  <a:srgbClr val="607087"/>
                </a:solidFill>
                <a:latin typeface="Arial" panose="020B0604020202020204"/>
              </a:defRPr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438912" y="1069848"/>
            <a:ext cx="8174736" cy="73152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3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2300" b="1">
                <a:solidFill>
                  <a:srgbClr val="0066FF"/>
                </a:solidFill>
                <a:latin typeface="Arial" panose="020B0604020202020204"/>
              </a:rPr>
              <a:t>Сначала ограничения:</a:t>
            </a:r>
            <a:endParaRPr sz="2300" b="1">
              <a:solidFill>
                <a:srgbClr val="0066FF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2300" b="1">
                <a:solidFill>
                  <a:srgbClr val="0066FF"/>
                </a:solidFill>
                <a:latin typeface="Arial" panose="020B0604020202020204"/>
              </a:defRPr>
            </a:pPr>
            <a:r>
              <a:rPr sz="2300" b="1">
                <a:solidFill>
                  <a:srgbClr val="0066FF"/>
                </a:solidFill>
                <a:latin typeface="Arial" panose="020B0604020202020204"/>
              </a:rPr>
              <a:t>средний Precision ≥ 99% и FPR ≤ 1%</a:t>
            </a:r>
            <a:endParaRPr sz="2300" b="1">
              <a:solidFill>
                <a:srgbClr val="0066FF"/>
              </a:solidFill>
              <a:latin typeface="Arial" panose="020B0604020202020204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38912" y="2066543"/>
            <a:ext cx="8174736" cy="694944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21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100" b="1">
                <a:solidFill>
                  <a:srgbClr val="17263A"/>
                </a:solidFill>
                <a:latin typeface="Arial" panose="020B0604020202020204"/>
              </a:rPr>
              <a:t>Затем — максимальный средний F0.5</a:t>
            </a:r>
            <a:endParaRPr sz="2100" b="1">
              <a:solidFill>
                <a:srgbClr val="17263A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2100" b="1">
                <a:solidFill>
                  <a:srgbClr val="17263A"/>
                </a:solidFill>
                <a:latin typeface="Arial" panose="020B0604020202020204"/>
              </a:defRPr>
            </a:pPr>
            <a:r>
              <a:rPr sz="2100" b="1">
                <a:solidFill>
                  <a:srgbClr val="17263A"/>
                </a:solidFill>
                <a:latin typeface="Arial" panose="020B0604020202020204"/>
              </a:rPr>
              <a:t>среди допустимых кандидатов.</a:t>
            </a:r>
            <a:endParaRPr sz="2100" b="1">
              <a:solidFill>
                <a:srgbClr val="17263A"/>
              </a:solidFill>
              <a:latin typeface="Arial" panose="020B0604020202020204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8912" y="3081528"/>
            <a:ext cx="8174736" cy="530352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700" b="1">
                <a:solidFill>
                  <a:srgbClr val="118C78"/>
                </a:solidFill>
                <a:latin typeface="Arial" panose="020B0604020202020204"/>
              </a:defRPr>
            </a:pPr>
            <a:r>
              <a:rPr sz="1700" b="1">
                <a:solidFill>
                  <a:srgbClr val="118C78"/>
                </a:solidFill>
                <a:latin typeface="Arial" panose="020B0604020202020204"/>
              </a:rPr>
              <a:t>Победитель: ComplementNB, alpha = 1,0</a:t>
            </a:r>
            <a:endParaRPr sz="1700" b="1">
              <a:solidFill>
                <a:srgbClr val="118C78"/>
              </a:solidFill>
              <a:latin typeface="Arial" panose="020B0604020202020204"/>
            </a:endParaRPr>
          </a:p>
          <a:p>
            <a:pPr algn="l">
              <a:spcAft>
                <a:spcPts val="500"/>
              </a:spcAft>
              <a:defRPr sz="1700" b="1">
                <a:solidFill>
                  <a:srgbClr val="118C78"/>
                </a:solidFill>
                <a:latin typeface="Arial" panose="020B0604020202020204"/>
              </a:defRPr>
            </a:pPr>
            <a:r>
              <a:rPr sz="1700" b="1">
                <a:solidFill>
                  <a:srgbClr val="118C78"/>
                </a:solidFill>
                <a:latin typeface="Arial" panose="020B0604020202020204"/>
              </a:rPr>
              <a:t>F0.5 = 0,9644; повышенный приоритет Precision.</a:t>
            </a:r>
            <a:endParaRPr sz="1700" b="1">
              <a:solidFill>
                <a:srgbClr val="118C78"/>
              </a:solidFill>
              <a:latin typeface="Arial" panose="020B0604020202020204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393192" y="4078224"/>
            <a:ext cx="8321040" cy="484632"/>
          </a:xfrm>
          <a:prstGeom prst="roundRect">
            <a:avLst/>
          </a:prstGeom>
          <a:solidFill>
            <a:srgbClr val="EA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" tIns="18288" rIns="18288" bIns="18288" rtlCol="0" anchor="ctr"/>
          <a:lstStyle/>
          <a:p>
            <a:pPr algn="l">
              <a:spcAft>
                <a:spcPts val="500"/>
              </a:spcAft>
              <a:defRPr sz="1800" b="0">
                <a:solidFill>
                  <a:srgbClr val="17263A"/>
                </a:solidFill>
                <a:latin typeface="Arial" panose="020B0604020202020204"/>
              </a:defRPr>
            </a:pPr>
          </a:p>
        </p:txBody>
      </p:sp>
      <p:sp>
        <p:nvSpPr>
          <p:cNvPr id="10" name="TextBox 9"/>
          <p:cNvSpPr txBox="1"/>
          <p:nvPr/>
        </p:nvSpPr>
        <p:spPr>
          <a:xfrm>
            <a:off x="530352" y="4160520"/>
            <a:ext cx="8037575" cy="365760"/>
          </a:xfrm>
          <a:prstGeom prst="rect">
            <a:avLst/>
          </a:prstGeom>
          <a:noFill/>
        </p:spPr>
        <p:txBody>
          <a:bodyPr wrap="square" lIns="18288" tIns="18288" rIns="18288" bIns="18288">
            <a:spAutoFit/>
          </a:bodyPr>
          <a:lstStyle/>
          <a:p>
            <a:pPr algn="l">
              <a:spcAft>
                <a:spcPts val="500"/>
              </a:spcAft>
              <a:defRPr sz="1320" b="1">
                <a:solidFill>
                  <a:srgbClr val="0066FF"/>
                </a:solidFill>
                <a:latin typeface="Arial" panose="020B0604020202020204"/>
              </a:defRPr>
            </a:pPr>
            <a:r>
              <a:rPr sz="1320" b="1">
                <a:solidFill>
                  <a:srgbClr val="0066FF"/>
                </a:solidFill>
                <a:latin typeface="Arial" panose="020B0604020202020204"/>
              </a:rPr>
              <a:t>Порог отдельно настроен только победителю. Такой же анализ для всех моделей — следующий шаг.</a:t>
            </a:r>
            <a:endParaRPr sz="1320" b="1">
              <a:solidFill>
                <a:srgbClr val="0066FF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341" name="Google Shape;341;p42"/>
          <p:cNvGrpSpPr/>
          <p:nvPr/>
        </p:nvGrpSpPr>
        <p:grpSpPr bwMode="auto">
          <a:xfrm>
            <a:off x="8549243" y="4536459"/>
            <a:ext cx="258577" cy="265368"/>
            <a:chOff x="238125" y="2432825"/>
            <a:chExt cx="779549" cy="781875"/>
          </a:xfrm>
        </p:grpSpPr>
        <p:sp>
          <p:nvSpPr>
            <p:cNvPr id="342" name="Google Shape;342;p42"/>
            <p:cNvSpPr/>
            <p:nvPr/>
          </p:nvSpPr>
          <p:spPr bwMode="auto"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43" name="Google Shape;343;p42"/>
            <p:cNvSpPr/>
            <p:nvPr/>
          </p:nvSpPr>
          <p:spPr bwMode="auto"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44" name="Google Shape;344;p42"/>
            <p:cNvSpPr/>
            <p:nvPr/>
          </p:nvSpPr>
          <p:spPr bwMode="auto"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  <p:sp>
          <p:nvSpPr>
            <p:cNvPr id="345" name="Google Shape;345;p42"/>
            <p:cNvSpPr/>
            <p:nvPr/>
          </p:nvSpPr>
          <p:spPr bwMode="auto"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 panose="020B0604020202020204"/>
                <a:buNone/>
                <a:defRPr/>
              </a:pPr>
              <a:endParaRPr sz="700" b="0" i="0" u="none" strike="noStrike" cap="none">
                <a:solidFill>
                  <a:srgbClr val="000000"/>
                </a:solidFill>
                <a:latin typeface="Arial" panose="020B0604020202020204"/>
                <a:ea typeface="Arial" panose="020B0604020202020204"/>
                <a:cs typeface="Arial" panose="020B0604020202020204"/>
              </a:endParaRPr>
            </a:p>
          </p:txBody>
        </p:sp>
      </p:grpSp>
      <p:sp>
        <p:nvSpPr>
          <p:cNvPr id="346" name="Google Shape;346;p42"/>
          <p:cNvSpPr txBox="1"/>
          <p:nvPr/>
        </p:nvSpPr>
        <p:spPr bwMode="auto">
          <a:xfrm>
            <a:off x="319074" y="294016"/>
            <a:ext cx="8566500" cy="16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 panose="020B0604020202020204"/>
              <a:buNone/>
              <a:defRPr/>
            </a:pPr>
            <a:r>
              <a:rPr lang="en-US" sz="4800" b="1">
                <a:solidFill>
                  <a:schemeClr val="lt1"/>
                </a:solidFill>
                <a:latin typeface="Proxima Nova"/>
                <a:ea typeface="Proxima Nova"/>
                <a:cs typeface="Proxima Nova"/>
              </a:rPr>
              <a:t>Спасибо за внимание!</a:t>
            </a: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0" marR="0" lvl="0" indent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 panose="020B0604020202020204"/>
              <a:buNone/>
              <a:defRPr/>
            </a:pPr>
            <a:endParaRPr sz="4800" b="1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  <a:p>
            <a:pPr marL="38100" marR="0" lvl="0" indent="0" algn="l">
              <a:lnSpc>
                <a:spcPct val="80000"/>
              </a:lnSpc>
              <a:spcBef>
                <a:spcPts val="200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 panose="020B0604020202020204"/>
              <a:buNone/>
              <a:defRPr/>
            </a:pPr>
            <a:endParaRPr sz="1500" b="0" i="0" u="none" strike="noStrike" cap="none">
              <a:solidFill>
                <a:schemeClr val="lt1"/>
              </a:solidFill>
              <a:latin typeface="Proxima Nova"/>
              <a:ea typeface="Proxima Nova"/>
              <a:cs typeface="Proxima Nova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2000"/>
    </mc:Choice>
    <mc:Fallback>
      <p:transition/>
    </mc:Fallback>
  </mc:AlternateContent>
</p:sld>
</file>

<file path=ppt/theme/theme1.xml><?xml version="1.0" encoding="utf-8"?>
<a:theme xmlns:a="http://schemas.openxmlformats.org/drawingml/2006/main" name="PRO_presentation">
  <a:themeElements>
    <a:clrScheme name="PR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217AFF"/>
      </a:accent1>
      <a:accent2>
        <a:srgbClr val="0066FF"/>
      </a:accent2>
      <a:accent3>
        <a:srgbClr val="4BD0A0"/>
      </a:accent3>
      <a:accent4>
        <a:srgbClr val="DE3773"/>
      </a:accent4>
      <a:accent5>
        <a:srgbClr val="8261EE"/>
      </a:accent5>
      <a:accent6>
        <a:srgbClr val="F3F4F7"/>
      </a:accent6>
      <a:hlink>
        <a:srgbClr val="0066FF"/>
      </a:hlink>
      <a:folHlink>
        <a:srgbClr val="0066FF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4160</Words>
  <Application>WPS Presentation</Application>
  <PresentationFormat>On-screen Show (4:3)</PresentationFormat>
  <Paragraphs>379</Paragraphs>
  <Slides>12</Slides>
  <Notes>17</Notes>
  <HiddenSlides>0</HiddenSlides>
  <MMClips>2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12</vt:i4>
      </vt:variant>
    </vt:vector>
  </HeadingPairs>
  <TitlesOfParts>
    <vt:vector size="22" baseType="lpstr">
      <vt:lpstr>Arial</vt:lpstr>
      <vt:lpstr>SimSun</vt:lpstr>
      <vt:lpstr>Wingdings</vt:lpstr>
      <vt:lpstr>Arial</vt:lpstr>
      <vt:lpstr>Proxima Nova</vt:lpstr>
      <vt:lpstr>Calibri</vt:lpstr>
      <vt:lpstr>Segoe Print</vt:lpstr>
      <vt:lpstr>Microsoft YaHei</vt:lpstr>
      <vt:lpstr>Arial Unicode MS</vt:lpstr>
      <vt:lpstr>PRO_presentation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iramu</cp:lastModifiedBy>
  <cp:revision>1</cp:revision>
  <dcterms:created xsi:type="dcterms:W3CDTF">2026-10-17T10:06:40Z</dcterms:created>
  <dcterms:modified xsi:type="dcterms:W3CDTF">2026-10-17T10:06:41Z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988A9E8E8E8C4850805C8E8258EBB4D8_12</vt:lpwstr>
  </property>
  <property fmtid="{D5CDD505-2E9C-101B-9397-08002B2CF9AE}" pid="3" name="KSOProductBuildVer">
    <vt:lpwstr>1033-12.1.0.25862</vt:lpwstr>
  </property>
</Properties>
</file>