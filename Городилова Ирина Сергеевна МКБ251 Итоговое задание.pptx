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21"/>
  </p:notesMasterIdLst>
  <p:sldIdLst>
    <p:sldId id="256" r:id="rId4"/>
    <p:sldId id="272" r:id="rId20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</p:sldIdLst>
  <p:sldSz cx="9144000" cy="5143500"/>
  <p:notesSz cx="9144000" cy="51435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9CE2E37-16BC-4408-9B30-6D05F93488BB}">
  <a:tblStyle styleId="{99CE2E37-16BC-4408-9B30-6D05F93488BB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116" d="112"/>
          <a:sy n="105" d="108"/>
        </p:scale>
        <p:origin x="114" y="101"/>
      </p:cViewPr>
      <p:guideLst>
        <p:guide pos="2880"/>
        <p:guide pos="162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tableStyles" Target="tableStyles.xml"/><Relationship Id="rId24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>
                <a:latin typeface="Arial"/>
              </a:defRPr>
            </a:pPr>
            <a:r>
              <a:t>HTML встречается и в обычной почте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писем с HTML</c:v>
                </c:pt>
              </c:strCache>
            </c:strRef>
          </c:tx>
          <c:spPr>
            <a:solidFill>
              <a:srgbClr val="0066FF"/>
            </a:solidFill>
          </c:spPr>
          <c:cat>
            <c:strRef>
              <c:f>Sheet1!$A$2:$A$4</c:f>
              <c:strCache>
                <c:ptCount val="3"/>
                <c:pt idx="0">
                  <c:v>easy_ham</c:v>
                </c:pt>
                <c:pt idx="1">
                  <c:v>hard_ham</c:v>
                </c:pt>
                <c:pt idx="2">
                  <c:v>spam_2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0.003629764065335753</c:v>
                </c:pt>
                <c:pt idx="1">
                  <c:v>0.6946564885496184</c:v>
                </c:pt>
                <c:pt idx="2">
                  <c:v>0.5456389452332657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4;n"/>
          <p:cNvSpPr txBox="1"/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5;n"/>
          <p:cNvSpPr/>
          <p:nvPr>
            <p:ph type="sldImg" idx="3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n"/>
          <p:cNvSpPr txBox="1"/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n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3:notes"/>
          <p:cNvSpPr txBox="1"/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r>
              <a:t>Представляю итоговую работу по применению машинного обучения в кибербезопасности. Мы подготовили данные, сравнили несколько антиспам-моделей и упаковали выбранное решение в Docker-сервис. Главный вопрос работы — как уменьшить ложные блокировки полезных писем и какую цену за это приходится платить полнотой обнаружения спама.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Бизнес-задача — уменьшить количество нежелательной почты, сохранив доступ к обычным сообщениям. В терминах ML это бинарная классификация. Положительный класс — спам. Ошибка FP означает блокировку полезного письма, FN — пропущенный спам. Одного низкого FPR недостаточно: система, которая всегда отвечает ham, вообще не обнаруживает спам. Поэтому мы одновременно оцениваем Precision, Recall и F1. Скорость важна для интерактивного API, но отдельный нагрузочный тест в работе не проводился.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Работа охватывает подготовку данных, исследование, сравнение моделей и инженерную упаковку. Эти функции соответствуют аналитической роли, Data Engineering, Data Science и ML Engineering. Готовы основной ноутбук, воспроизводимый код обучения, сохранённая модель и работающий Docker-контейнер. Публичный хостинг пока не выполнялся.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обучения объединены easy_ham, hard_ham и spam_2 — всего 4197 писем. Это три подкорпуса SpamAssassin, а не три независимых по происхождению датасета. Hard_ham особенно важен для нашей задачи: он содержит полезные письма, похожие на спам. Внешний контроль получен по ссылке из задания; в нём 600 обычных и 1000 спам-писем.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исключили служебные файлы macOS, повторы и конфликтующие метки. Один парсер декодирует MIME и извлекает тему и тело, предпочитая обычный текст. Вложения в признаки не входят. Служебные заголовки X-Spam-Status исключены, поскольку могут раскрывать готовую метку. После очистки осталось 3834 письма. Затем обнаружено 956 пересечений с полным внешним контролем. Их удалили из обучающих корпусов до разбиения; осталось 2878 писем.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EDA включал баланс классов, длину текста, выбросы, HTML, ссылки, регистр, характерные слова и корреляции. На графике видно, что HTML встречается и в полезной почте, особенно в hard_ham. Медианное число ссылок составило два для ham и четыре для spam; медианная длина — 141 и 161 слово. Статистические различия обнаружены, но они не означают, что простое правило по одному признаку даст хорошую классификацию. Длинные письма и HTML автоматически не удалялись.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Данные разделены примерно в пропорции 60 на 20 на 20 процентов, со стратификацией по исходному набору. На train выполнялись EDA и пятикратная кросс-валидация. Векторизатор включён в Pipeline и обучается только на тренировочной части каждого фолда. Validation используется для выбора порога. Внутренний и внешний тесты применяются после фиксации решения. После выбора порога модель не переобучалась на train вместе с validation, чтобы не изменить шкалу её оценок.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Текст преобразуется в разреженный TF-IDF-вектор. Используются отдельные слова и биграммы, словарь ограничен 30 тысячами признаков. Сублинейная частота уменьшает влияние повторения одного слова. ComplementNB рассчитывает веса признаков по статистике остальных классов. Сглаживание alpha, равное единице, помогает обрабатывать редкие слова. В сервис сохраняется весь Pipeline вместе со словарём и порогом. Оценки модели не проходили отдельную калибровку вероятностей.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Исследованы четыре семейства алгоритмов и шесть конфигураций. Dummy всегда отвечает ham и показывает бесполезность оптимизации только по FP. Для ComplementNB сравнили alpha 0,5 и 1,0. Для логистической регрессии сравнили C 0,5 и 2,0: меньшее C означает более сильную регуляризацию. Логистической регрессии и SVM назначен повышенный вес ham. LinearSVC подходит для разреженных текстов и выдаёт оценку положения относительно границы, а не вероятность. Все кандидаты используют одинаковый тип TF-IDF.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Таблица показывает средние результаты пяти фолдов при стандартных порогах. У LinearSVC лучший F1 — около 0,9594, но Precision составляет 98,09 процента. ComplementNB с alpha 1,0 даёт Precision 99,75 процента, Recall 85,20 процента и средний FPR около 0,081 процента. У Dummy Precision математически не определён, поскольку спам не предсказывается; в программном отчёте этот случай заменён нулём.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самостоятельно задали требования: средний Precision на CV не ниже 99 процентов и FPR не выше одного процента. Среди подходящих кандидатов выбирали максимальный F0.5, который придаёт Precision больший вес. По этому правилу выбран ComplementNB с alpha 1,0. Это вывод в рамках принятого протокола, а не доказательство безусловного превосходства над SVM. Отдельная настройка порога каждого кандидата могла бы изменить сравнение и остаётся следующим экспериментом.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" name="Google Shape;338;g1bbe5570b94_0_1489:notes"/>
          <p:cNvSpPr/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1bbe5570b94_0_1489:notes"/>
          <p:cNvSpPr txBox="1"/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pPr>
            <a:r>
              <a:rPr lang="en-US" sz="1200"/>
              <a:t>Титульный слайд</a:t>
            </a:r>
            <a:endParaRPr sz="1200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.Фон" preserve="0" showMasterPhAnim="0" userDrawn="1">
  <p:cSld name="1.Фон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1. Фон dark" preserve="0" showMasterPhAnim="0" userDrawn="1">
  <p:cSld name="1_11. Фон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.Определение" preserve="0" showMasterPhAnim="0" userDrawn="1">
  <p:cSld name="2.Определение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Google Shape;14;p4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15;p4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3.Титульник wihte" preserve="0" showMasterPhAnim="0" userDrawn="1">
  <p:cSld name="3.Титульник wihte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 bwMode="auto">
          <a:xfrm>
            <a:off x="6531775" y="0"/>
            <a:ext cx="5214899" cy="51435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Google Shape;18;p5"/>
          <p:cNvSpPr/>
          <p:nvPr/>
        </p:nvSpPr>
        <p:spPr bwMode="auto">
          <a:xfrm>
            <a:off x="1331509" y="18000"/>
            <a:ext cx="5200200" cy="5129399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9" name="Google Shape;19;p5"/>
          <p:cNvGrpSpPr/>
          <p:nvPr/>
        </p:nvGrpSpPr>
        <p:grpSpPr bwMode="auto">
          <a:xfrm>
            <a:off x="8569715" y="4536459"/>
            <a:ext cx="258577" cy="265368"/>
            <a:chOff x="238125" y="2432825"/>
            <a:chExt cx="779549" cy="781875"/>
          </a:xfrm>
        </p:grpSpPr>
        <p:sp>
          <p:nvSpPr>
            <p:cNvPr id="20" name="Google Shape;20;p5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1" name="Google Shape;21;p5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2" name="Google Shape;22;p5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3" name="Google Shape;23;p5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4.Отбивка wihte" preserve="0" showMasterPhAnim="0" userDrawn="1">
  <p:cSld name="4.Отбивка wihte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5" name="Google Shape;25;p6"/>
          <p:cNvGrpSpPr/>
          <p:nvPr/>
        </p:nvGrpSpPr>
        <p:grpSpPr bwMode="auto"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26" name="Google Shape;26;p6"/>
            <p:cNvSpPr/>
            <p:nvPr/>
          </p:nvSpPr>
          <p:spPr bwMode="auto"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7" name="Google Shape;27;p6"/>
            <p:cNvSpPr/>
            <p:nvPr/>
          </p:nvSpPr>
          <p:spPr bwMode="auto"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8" name="Google Shape;28;p6"/>
            <p:cNvSpPr/>
            <p:nvPr/>
          </p:nvSpPr>
          <p:spPr bwMode="auto"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9" name="Google Shape;29;p6"/>
            <p:cNvSpPr/>
            <p:nvPr/>
          </p:nvSpPr>
          <p:spPr bwMode="auto"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0" name="Google Shape;30;p6"/>
            <p:cNvSpPr/>
            <p:nvPr/>
          </p:nvSpPr>
          <p:spPr bwMode="auto"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1" name="Google Shape;31;p6"/>
            <p:cNvSpPr/>
            <p:nvPr/>
          </p:nvSpPr>
          <p:spPr bwMode="auto"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5. Определение wihte" preserve="0" showMasterPhAnim="0" userDrawn="1">
  <p:cSld name="5. Определение wihte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Google Shape;34;p7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Google Shape;35;p7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rgbClr val="F3F4F7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6.Титульник dark" preserve="0" showMasterPhAnim="0" userDrawn="1">
  <p:cSld name="6.Титульник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 bwMode="auto">
          <a:xfrm>
            <a:off x="6531775" y="0"/>
            <a:ext cx="5214899" cy="5143500"/>
          </a:xfrm>
          <a:prstGeom prst="ellipse">
            <a:avLst/>
          </a:prstGeom>
          <a:solidFill>
            <a:srgbClr val="2F3035"/>
          </a:solidFill>
          <a:ln w="9525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8"/>
          <p:cNvSpPr/>
          <p:nvPr/>
        </p:nvSpPr>
        <p:spPr bwMode="auto">
          <a:xfrm>
            <a:off x="1331509" y="18000"/>
            <a:ext cx="5200200" cy="5129399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39" name="Google Shape;39;p8"/>
          <p:cNvGrpSpPr/>
          <p:nvPr/>
        </p:nvGrpSpPr>
        <p:grpSpPr bwMode="auto">
          <a:xfrm>
            <a:off x="8569715" y="4505199"/>
            <a:ext cx="258577" cy="265368"/>
            <a:chOff x="238125" y="2432825"/>
            <a:chExt cx="779549" cy="781875"/>
          </a:xfrm>
        </p:grpSpPr>
        <p:sp>
          <p:nvSpPr>
            <p:cNvPr id="40" name="Google Shape;40;p8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1" name="Google Shape;41;p8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2" name="Google Shape;42;p8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3" name="Google Shape;43;p8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7. Отбивка dark" preserve="0" showMasterPhAnim="0" userDrawn="1">
  <p:cSld name="7. Отбивка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5" name="Google Shape;45;p9"/>
          <p:cNvGrpSpPr/>
          <p:nvPr/>
        </p:nvGrpSpPr>
        <p:grpSpPr bwMode="auto"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46" name="Google Shape;46;p9"/>
            <p:cNvSpPr/>
            <p:nvPr/>
          </p:nvSpPr>
          <p:spPr bwMode="auto"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7" name="Google Shape;47;p9"/>
            <p:cNvSpPr/>
            <p:nvPr/>
          </p:nvSpPr>
          <p:spPr bwMode="auto"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8" name="Google Shape;48;p9"/>
            <p:cNvSpPr/>
            <p:nvPr/>
          </p:nvSpPr>
          <p:spPr bwMode="auto"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9" name="Google Shape;49;p9"/>
            <p:cNvSpPr/>
            <p:nvPr/>
          </p:nvSpPr>
          <p:spPr bwMode="auto"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0" name="Google Shape;50;p9"/>
            <p:cNvSpPr/>
            <p:nvPr/>
          </p:nvSpPr>
          <p:spPr bwMode="auto"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1" name="Google Shape;51;p9"/>
            <p:cNvSpPr/>
            <p:nvPr/>
          </p:nvSpPr>
          <p:spPr bwMode="auto"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8. Определение dark" preserve="0" showMasterPhAnim="0" userDrawn="1">
  <p:cSld name="8. Определение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oogle Shape;54;p10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10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rgbClr val="2F3035"/>
          </a:solidFill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9. Определение dark" preserve="0" showMasterPhAnim="0" userDrawn="1">
  <p:cSld name="9. Определение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11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Google Shape;59;p11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0. Фон dark" preserve="0" showMasterPhAnim="0" userDrawn="1">
  <p:cSld name="10. Фон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/>
          <p:nvPr/>
        </p:nvSpPr>
        <p:spPr bwMode="auto"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Google Shape;62;p12"/>
          <p:cNvSpPr/>
          <p:nvPr/>
        </p:nvSpPr>
        <p:spPr bwMode="auto"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7. Титульник pro" preserve="0" showMasterPhAnim="0" userDrawn="1">
  <p:cSld name="17. Титульник pro">
    <p:bg>
      <p:bgPr shadeToTitle="0">
        <a:solidFill>
          <a:srgbClr val="006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 bwMode="auto">
          <a:xfrm>
            <a:off x="6531775" y="0"/>
            <a:ext cx="5214899" cy="5143500"/>
          </a:xfrm>
          <a:prstGeom prst="ellipse">
            <a:avLst/>
          </a:prstGeom>
          <a:solidFill>
            <a:srgbClr val="217AFF"/>
          </a:solidFill>
          <a:ln w="9525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13"/>
          <p:cNvSpPr/>
          <p:nvPr/>
        </p:nvSpPr>
        <p:spPr bwMode="auto">
          <a:xfrm>
            <a:off x="1331509" y="18000"/>
            <a:ext cx="5200200" cy="5129399"/>
          </a:xfrm>
          <a:prstGeom prst="ellipse">
            <a:avLst/>
          </a:prstGeom>
          <a:noFill/>
          <a:ln w="1905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66" name="Google Shape;66;p13"/>
          <p:cNvGrpSpPr/>
          <p:nvPr/>
        </p:nvGrpSpPr>
        <p:grpSpPr bwMode="auto">
          <a:xfrm>
            <a:off x="8569715" y="4505199"/>
            <a:ext cx="258577" cy="265368"/>
            <a:chOff x="238125" y="2432825"/>
            <a:chExt cx="779549" cy="781875"/>
          </a:xfrm>
        </p:grpSpPr>
        <p:sp>
          <p:nvSpPr>
            <p:cNvPr id="67" name="Google Shape;67;p13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8" name="Google Shape;68;p13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9" name="Google Shape;69;p13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0" name="Google Shape;70;p13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8. Отбивка pro" preserve="0" showMasterPhAnim="0" userDrawn="1">
  <p:cSld name="18. Отбивка pro">
    <p:bg>
      <p:bgPr shadeToTitle="0">
        <a:solidFill>
          <a:srgbClr val="006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" name="Google Shape;72;p14"/>
          <p:cNvGrpSpPr/>
          <p:nvPr/>
        </p:nvGrpSpPr>
        <p:grpSpPr bwMode="auto"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73" name="Google Shape;73;p14"/>
            <p:cNvSpPr/>
            <p:nvPr/>
          </p:nvSpPr>
          <p:spPr bwMode="auto"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4" name="Google Shape;74;p14"/>
            <p:cNvSpPr/>
            <p:nvPr/>
          </p:nvSpPr>
          <p:spPr bwMode="auto"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17AFF"/>
            </a:solidFill>
            <a:ln w="28575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5" name="Google Shape;75;p14"/>
            <p:cNvSpPr/>
            <p:nvPr/>
          </p:nvSpPr>
          <p:spPr bwMode="auto"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17AFF"/>
            </a:solidFill>
            <a:ln w="28575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6" name="Google Shape;76;p14"/>
            <p:cNvSpPr/>
            <p:nvPr/>
          </p:nvSpPr>
          <p:spPr bwMode="auto"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7" name="Google Shape;77;p14"/>
            <p:cNvSpPr/>
            <p:nvPr/>
          </p:nvSpPr>
          <p:spPr bwMode="auto"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8" name="Google Shape;78;p14"/>
            <p:cNvSpPr/>
            <p:nvPr/>
          </p:nvSpPr>
          <p:spPr bwMode="auto"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17AFF"/>
            </a:solidFill>
            <a:ln w="28575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9. Определение pro" preserve="0" showMasterPhAnim="0" userDrawn="1">
  <p:cSld name="19. Определение pro">
    <p:bg>
      <p:bgPr shadeToTitle="0">
        <a:solidFill>
          <a:srgbClr val="006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Google Shape;81;p15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Google Shape;82;p15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rgbClr val="217AFF"/>
          </a:solidFill>
          <a:ln w="2540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0. Отбивка 2 pro" preserve="0" showMasterPhAnim="0" userDrawn="1">
  <p:cSld name="20. Отбивка 2 pro">
    <p:bg>
      <p:bgPr shadeToTitle="0">
        <a:solidFill>
          <a:srgbClr val="006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 bwMode="auto"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Google Shape;85;p16"/>
          <p:cNvSpPr/>
          <p:nvPr/>
        </p:nvSpPr>
        <p:spPr bwMode="auto"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0. Отбивка 2 pro" preserve="0" showMasterPhAnim="0" userDrawn="1">
  <p:cSld name="1_20. Отбивка 2 pro">
    <p:bg>
      <p:bgPr shadeToTitle="0">
        <a:solidFill>
          <a:srgbClr val="006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1. Фон dark 1" preserve="0" showMasterPhAnim="0" userDrawn="1">
  <p:cSld name="11. Фон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1. Фон dark 1 1" preserve="0" showMasterPhAnim="0" userDrawn="1">
  <p:cSld name="11. Фоныыыыыы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2. Титульник neo" preserve="0" showMasterPhAnim="0" userDrawn="1">
  <p:cSld name="12. Титульник neo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/>
          <p:nvPr/>
        </p:nvSpPr>
        <p:spPr bwMode="auto">
          <a:xfrm>
            <a:off x="6531775" y="0"/>
            <a:ext cx="5214899" cy="5143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Google Shape;91;p20"/>
          <p:cNvSpPr/>
          <p:nvPr/>
        </p:nvSpPr>
        <p:spPr bwMode="auto">
          <a:xfrm>
            <a:off x="1331509" y="18000"/>
            <a:ext cx="5200200" cy="5129399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92" name="Google Shape;92;p20"/>
          <p:cNvGrpSpPr/>
          <p:nvPr/>
        </p:nvGrpSpPr>
        <p:grpSpPr bwMode="auto">
          <a:xfrm>
            <a:off x="8569715" y="4505200"/>
            <a:ext cx="258577" cy="265368"/>
            <a:chOff x="238125" y="2432825"/>
            <a:chExt cx="779549" cy="781875"/>
          </a:xfrm>
        </p:grpSpPr>
        <p:sp>
          <p:nvSpPr>
            <p:cNvPr id="93" name="Google Shape;93;p20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4" name="Google Shape;94;p20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5" name="Google Shape;95;p20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6" name="Google Shape;96;p20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4. Определение neo" preserve="0" showMasterPhAnim="0" userDrawn="1">
  <p:cSld name="14. Определение neo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Google Shape;99;p21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Google Shape;100;p21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4. Определение neo 1" preserve="0" showMasterPhAnim="0" userDrawn="1">
  <p:cSld name="14. Определение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p22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Google Shape;104;p22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5. Отбивка 2 neo" preserve="0" showMasterPhAnim="0" userDrawn="1">
  <p:cSld name="15. Отбивка 2 neo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/>
        </p:nvSpPr>
        <p:spPr bwMode="auto"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Google Shape;107;p23"/>
          <p:cNvSpPr/>
          <p:nvPr/>
        </p:nvSpPr>
        <p:spPr bwMode="auto"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6. Фон neo" preserve="0" showMasterPhAnim="0" userDrawn="1">
  <p:cSld name="16. Фон neo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6. Фон neo 1" preserve="0" showMasterPhAnim="0" userDrawn="1">
  <p:cSld name="16. Фон 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4" name="Google Shape;114;p26"/>
          <p:cNvGrpSpPr/>
          <p:nvPr/>
        </p:nvGrpSpPr>
        <p:grpSpPr bwMode="auto">
          <a:xfrm>
            <a:off x="8549243" y="4536458"/>
            <a:ext cx="258577" cy="265368"/>
            <a:chOff x="238125" y="2432825"/>
            <a:chExt cx="779549" cy="781875"/>
          </a:xfrm>
        </p:grpSpPr>
        <p:sp>
          <p:nvSpPr>
            <p:cNvPr id="115" name="Google Shape;115;p26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6" name="Google Shape;116;p26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7" name="Google Shape;117;p26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8" name="Google Shape;118;p26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365760" y="347472"/>
            <a:ext cx="813816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</a:rPr>
              <a:t>Применение ML в кибербезопасности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1188720"/>
            <a:ext cx="8046720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rPr sz="3800" b="1">
                <a:solidFill>
                  <a:srgbClr val="FFFFFF"/>
                </a:solidFill>
                <a:latin typeface="Arial"/>
              </a:rPr>
              <a:t>Антиспам:</a:t>
            </a:r>
          </a:p>
          <a:p>
            <a:pPr algn="l">
              <a:spcAft>
                <a:spcPts val="5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rPr sz="3800" b="1">
                <a:solidFill>
                  <a:srgbClr val="FFFFFF"/>
                </a:solidFill>
                <a:latin typeface="Arial"/>
              </a:rPr>
              <a:t>выбор модели</a:t>
            </a:r>
          </a:p>
          <a:p>
            <a:pPr algn="l">
              <a:spcAft>
                <a:spcPts val="5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rPr sz="3800" b="1">
                <a:solidFill>
                  <a:srgbClr val="FFFFFF"/>
                </a:solidFill>
                <a:latin typeface="Arial"/>
              </a:rPr>
              <a:t>и цена ошибок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93192" y="3401568"/>
            <a:ext cx="7726679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</a:rPr>
              <a:t>Итоговое задание  •  TF-IDF + ComplementNB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93192" y="4224528"/>
            <a:ext cx="73609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rPr sz="1600" b="0">
                <a:solidFill>
                  <a:srgbClr val="FFFFFF"/>
                </a:solidFill>
                <a:latin typeface="Arial"/>
              </a:rPr>
              <a:t>Городилова Ирина Сергеевна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rPr sz="1600" b="0">
                <a:solidFill>
                  <a:srgbClr val="FFFFFF"/>
                </a:solidFill>
                <a:latin typeface="Arial"/>
              </a:rPr>
              <a:t>Группа МКБ251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339327" cy="521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7263A"/>
                </a:solidFill>
                <a:latin typeface="Arial"/>
              </a:defRPr>
            </a:pPr>
            <a:r>
              <a:rPr sz="2600" b="1">
                <a:solidFill>
                  <a:srgbClr val="17263A"/>
                </a:solidFill>
                <a:latin typeface="Arial"/>
              </a:rPr>
              <a:t>Задача: распознавать спам и сохранять полезную почту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95528"/>
            <a:ext cx="8339327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4818888"/>
            <a:ext cx="781812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07087"/>
                </a:solidFill>
                <a:latin typeface="Arial"/>
              </a:defRPr>
            </a:pPr>
            <a:r>
              <a:rPr sz="900" b="0">
                <a:solidFill>
                  <a:srgbClr val="607087"/>
                </a:solidFill>
                <a:latin typeface="Arial"/>
              </a:rPr>
              <a:t>МКБ251  •  Городилова И. С.  •  Задача</a:t>
            </a:r>
          </a:p>
        </p:txBody>
      </p:sp>
      <p:sp>
        <p:nvSpPr>
          <p:cNvPr id="5" name="slide_pager"/>
          <p:cNvSpPr txBox="1"/>
          <p:nvPr/>
        </p:nvSpPr>
        <p:spPr>
          <a:xfrm>
            <a:off x="8275320" y="479145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07087"/>
                </a:solidFill>
                <a:latin typeface="Arial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38912" y="1033271"/>
            <a:ext cx="8183879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7263A"/>
                </a:solidFill>
                <a:latin typeface="Arial"/>
              </a:defRPr>
            </a:pPr>
            <a:r>
              <a:rPr sz="2000" b="1">
                <a:solidFill>
                  <a:srgbClr val="17263A"/>
                </a:solidFill>
                <a:latin typeface="Arial"/>
              </a:rPr>
              <a:t>Вход: электронное письмо RFC 822 / MIME</a:t>
            </a:r>
          </a:p>
          <a:p>
            <a:pPr algn="l">
              <a:spcAft>
                <a:spcPts val="500"/>
              </a:spcAft>
              <a:defRPr sz="2000" b="1">
                <a:solidFill>
                  <a:srgbClr val="17263A"/>
                </a:solidFill>
                <a:latin typeface="Arial"/>
              </a:defRPr>
            </a:pPr>
            <a:r>
              <a:rPr sz="2000" b="1">
                <a:solidFill>
                  <a:srgbClr val="17263A"/>
                </a:solidFill>
                <a:latin typeface="Arial"/>
              </a:rPr>
              <a:t>Выход: ham или spam и оценка модели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65960"/>
            <a:ext cx="2587752" cy="1746504"/>
          </a:xfrm>
          <a:prstGeom prst="round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57784" y="2084831"/>
            <a:ext cx="22951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07087"/>
                </a:solidFill>
                <a:latin typeface="Arial"/>
              </a:defRPr>
            </a:pPr>
            <a:r>
              <a:rPr sz="1300" b="0">
                <a:solidFill>
                  <a:srgbClr val="607087"/>
                </a:solidFill>
                <a:latin typeface="Arial"/>
              </a:rPr>
              <a:t>Критичная ошибка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450591"/>
            <a:ext cx="229514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D43B68"/>
                </a:solidFill>
                <a:latin typeface="Arial"/>
              </a:defRPr>
            </a:pPr>
            <a:r>
              <a:rPr sz="2900" b="1">
                <a:solidFill>
                  <a:srgbClr val="D43B68"/>
                </a:solidFill>
                <a:latin typeface="Arial"/>
              </a:rPr>
              <a:t>FP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999232"/>
            <a:ext cx="2295144" cy="6492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7263A"/>
                </a:solidFill>
                <a:latin typeface="Arial"/>
              </a:defRPr>
            </a:pPr>
            <a:r>
              <a:rPr sz="1300" b="0">
                <a:solidFill>
                  <a:srgbClr val="17263A"/>
                </a:solidFill>
                <a:latin typeface="Arial"/>
              </a:rPr>
              <a:t>Обычное письмо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7263A"/>
                </a:solidFill>
                <a:latin typeface="Arial"/>
              </a:defRPr>
            </a:pPr>
            <a:r>
              <a:rPr sz="1300" b="0">
                <a:solidFill>
                  <a:srgbClr val="17263A"/>
                </a:solidFill>
                <a:latin typeface="Arial"/>
              </a:rPr>
              <a:t>ошибочно заблокировано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4408" y="1965960"/>
            <a:ext cx="2587752" cy="1746504"/>
          </a:xfrm>
          <a:prstGeom prst="round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410712" y="2084831"/>
            <a:ext cx="22951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07087"/>
                </a:solidFill>
                <a:latin typeface="Arial"/>
              </a:defRPr>
            </a:pPr>
            <a:r>
              <a:rPr sz="1300" b="0">
                <a:solidFill>
                  <a:srgbClr val="607087"/>
                </a:solidFill>
                <a:latin typeface="Arial"/>
              </a:rPr>
              <a:t>Пропущенный спам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450591"/>
            <a:ext cx="229514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607087"/>
                </a:solidFill>
                <a:latin typeface="Arial"/>
              </a:defRPr>
            </a:pPr>
            <a:r>
              <a:rPr sz="2900" b="1">
                <a:solidFill>
                  <a:srgbClr val="607087"/>
                </a:solidFill>
                <a:latin typeface="Arial"/>
              </a:rPr>
              <a:t>FN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999232"/>
            <a:ext cx="2295144" cy="6492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7263A"/>
                </a:solidFill>
                <a:latin typeface="Arial"/>
              </a:defRPr>
            </a:pPr>
            <a:r>
              <a:rPr sz="1300" b="0">
                <a:solidFill>
                  <a:srgbClr val="17263A"/>
                </a:solidFill>
                <a:latin typeface="Arial"/>
              </a:rPr>
              <a:t>Спам-письмо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7263A"/>
                </a:solidFill>
                <a:latin typeface="Arial"/>
              </a:defRPr>
            </a:pPr>
            <a:r>
              <a:rPr sz="1300" b="0">
                <a:solidFill>
                  <a:srgbClr val="17263A"/>
                </a:solidFill>
                <a:latin typeface="Arial"/>
              </a:rPr>
              <a:t>попало во входящие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1965960"/>
            <a:ext cx="2587752" cy="1746504"/>
          </a:xfrm>
          <a:prstGeom prst="round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263640" y="2084831"/>
            <a:ext cx="22951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07087"/>
                </a:solidFill>
                <a:latin typeface="Arial"/>
              </a:defRPr>
            </a:pPr>
            <a:r>
              <a:rPr sz="1300" b="0">
                <a:solidFill>
                  <a:srgbClr val="607087"/>
                </a:solidFill>
                <a:latin typeface="Arial"/>
              </a:rPr>
              <a:t>Метрики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50591"/>
            <a:ext cx="229514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0066FF"/>
                </a:solidFill>
                <a:latin typeface="Arial"/>
              </a:defRPr>
            </a:pPr>
            <a:r>
              <a:rPr sz="2900" b="1">
                <a:solidFill>
                  <a:srgbClr val="0066FF"/>
                </a:solidFill>
                <a:latin typeface="Arial"/>
              </a:rPr>
              <a:t>P / R / 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999232"/>
            <a:ext cx="2295144" cy="6492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7263A"/>
                </a:solidFill>
                <a:latin typeface="Arial"/>
              </a:defRPr>
            </a:pPr>
            <a:r>
              <a:rPr sz="1300" b="0">
                <a:solidFill>
                  <a:srgbClr val="17263A"/>
                </a:solidFill>
                <a:latin typeface="Arial"/>
              </a:rPr>
              <a:t>Дополнительно F0.5,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7263A"/>
                </a:solidFill>
                <a:latin typeface="Arial"/>
              </a:defRPr>
            </a:pPr>
            <a:r>
              <a:rPr sz="1300" b="0">
                <a:solidFill>
                  <a:srgbClr val="17263A"/>
                </a:solidFill>
                <a:latin typeface="Arial"/>
              </a:rPr>
              <a:t>FPR и число FP / FN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" y="4032504"/>
            <a:ext cx="8321040" cy="4572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30352" y="4114800"/>
            <a:ext cx="8037575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20" b="1">
                <a:solidFill>
                  <a:srgbClr val="0066FF"/>
                </a:solidFill>
                <a:latin typeface="Arial"/>
              </a:defRPr>
            </a:pPr>
            <a:r>
              <a:rPr sz="1320" b="1">
                <a:solidFill>
                  <a:srgbClr val="0066FF"/>
                </a:solidFill>
                <a:latin typeface="Arial"/>
              </a:rPr>
              <a:t>Цель — снизить FP, сохранив способность обнаруживать спам.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339327" cy="521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7263A"/>
                </a:solidFill>
                <a:latin typeface="Arial"/>
              </a:defRPr>
            </a:pPr>
            <a:r>
              <a:rPr sz="2600" b="1">
                <a:solidFill>
                  <a:srgbClr val="17263A"/>
                </a:solidFill>
                <a:latin typeface="Arial"/>
              </a:rPr>
              <a:t>Этапы работы и функции в проекте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95528"/>
            <a:ext cx="8339327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4818888"/>
            <a:ext cx="781812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07087"/>
                </a:solidFill>
                <a:latin typeface="Arial"/>
              </a:defRPr>
            </a:pPr>
            <a:r>
              <a:rPr sz="900" b="0">
                <a:solidFill>
                  <a:srgbClr val="607087"/>
                </a:solidFill>
                <a:latin typeface="Arial"/>
              </a:rPr>
              <a:t>МКБ251  •  Городилова И. С.  •  План</a:t>
            </a:r>
          </a:p>
        </p:txBody>
      </p:sp>
      <p:sp>
        <p:nvSpPr>
          <p:cNvPr id="5" name="slide_pager"/>
          <p:cNvSpPr txBox="1"/>
          <p:nvPr/>
        </p:nvSpPr>
        <p:spPr>
          <a:xfrm>
            <a:off x="8275320" y="479145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07087"/>
                </a:solidFill>
                <a:latin typeface="Arial"/>
              </a:defRPr>
            </a:p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3192" y="1097280"/>
          <a:ext cx="83210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217920"/>
              </a:tblGrid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Функция</a:t>
                      </a:r>
                    </a:p>
                  </a:txBody>
                  <a:tcPr marL="91440" marR="64008" marT="59436" marB="32004" anchor="ctr"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Результат работы</a:t>
                      </a:r>
                    </a:p>
                  </a:txBody>
                  <a:tcPr marL="91440" marR="64008" marT="59436" marB="32004" anchor="ctr">
                    <a:solidFill>
                      <a:srgbClr val="0066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700" b="0">
                          <a:solidFill>
                            <a:srgbClr val="17263A"/>
                          </a:solidFill>
                          <a:latin typeface="Arial"/>
                        </a:rPr>
                        <a:t>Аналитика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7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700" b="0">
                          <a:solidFill>
                            <a:srgbClr val="17263A"/>
                          </a:solidFill>
                          <a:latin typeface="Arial"/>
                        </a:rPr>
                        <a:t>Постановка задачи, метрики и приоритет FP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700" b="0">
                          <a:solidFill>
                            <a:srgbClr val="17263A"/>
                          </a:solidFill>
                          <a:latin typeface="Arial"/>
                        </a:rPr>
                        <a:t>Подготовка данных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7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700" b="0">
                          <a:solidFill>
                            <a:srgbClr val="17263A"/>
                          </a:solidFill>
                          <a:latin typeface="Arial"/>
                        </a:rPr>
                        <a:t>MIME/HTML, очистка и защита от утечки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700" b="0">
                          <a:solidFill>
                            <a:srgbClr val="17263A"/>
                          </a:solidFill>
                          <a:latin typeface="Arial"/>
                        </a:rPr>
                        <a:t>Data Science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7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700" b="0">
                          <a:solidFill>
                            <a:srgbClr val="17263A"/>
                          </a:solidFill>
                          <a:latin typeface="Arial"/>
                        </a:rPr>
                        <a:t>EDA, 5-fold CV и выбор порога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700" b="0">
                          <a:solidFill>
                            <a:srgbClr val="17263A"/>
                          </a:solidFill>
                          <a:latin typeface="Arial"/>
                        </a:rPr>
                        <a:t>ML-инженерия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7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700" b="0">
                          <a:solidFill>
                            <a:srgbClr val="17263A"/>
                          </a:solidFill>
                          <a:latin typeface="Arial"/>
                        </a:rPr>
                        <a:t>Экспорт Pipeline, FastAPI и Docker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93192" y="3913632"/>
            <a:ext cx="8321040" cy="45720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30352" y="3995928"/>
            <a:ext cx="8037575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20" b="1">
                <a:solidFill>
                  <a:srgbClr val="0066FF"/>
                </a:solidFill>
                <a:latin typeface="Arial"/>
              </a:defRPr>
            </a:pPr>
            <a:r>
              <a:rPr sz="1320" b="1">
                <a:solidFill>
                  <a:srgbClr val="0066FF"/>
                </a:solidFill>
                <a:latin typeface="Arial"/>
              </a:rPr>
              <a:t>Выполнены этапы 1–3. Публичное размещение — следующий этап.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339327" cy="521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7263A"/>
                </a:solidFill>
                <a:latin typeface="Arial"/>
              </a:defRPr>
            </a:pPr>
            <a:r>
              <a:rPr sz="2600" b="1">
                <a:solidFill>
                  <a:srgbClr val="17263A"/>
                </a:solidFill>
                <a:latin typeface="Arial"/>
              </a:rPr>
              <a:t>Данные: три подкорпуса и отдельный контроль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95528"/>
            <a:ext cx="8339327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877824"/>
            <a:ext cx="8275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250" b="0">
                <a:solidFill>
                  <a:srgbClr val="607087"/>
                </a:solidFill>
                <a:latin typeface="Arial"/>
              </a:defRPr>
            </a:pPr>
            <a:r>
              <a:rPr sz="1250" b="0">
                <a:solidFill>
                  <a:srgbClr val="607087"/>
                </a:solidFill>
                <a:latin typeface="Arial"/>
              </a:rPr>
              <a:t>Количество писем соответствует предоставленным локальным данным.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4818888"/>
            <a:ext cx="781812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07087"/>
                </a:solidFill>
                <a:latin typeface="Arial"/>
              </a:defRPr>
            </a:pPr>
            <a:r>
              <a:rPr sz="900" b="0">
                <a:solidFill>
                  <a:srgbClr val="607087"/>
                </a:solidFill>
                <a:latin typeface="Arial"/>
              </a:rPr>
              <a:t>МКБ251  •  Городилова И. С.  •  Данные</a:t>
            </a:r>
          </a:p>
        </p:txBody>
      </p:sp>
      <p:sp>
        <p:nvSpPr>
          <p:cNvPr id="6" name="slide_pager"/>
          <p:cNvSpPr txBox="1"/>
          <p:nvPr/>
        </p:nvSpPr>
        <p:spPr>
          <a:xfrm>
            <a:off x="8275320" y="479145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07087"/>
                </a:solidFill>
                <a:latin typeface="Arial"/>
              </a:defRPr>
            </a:p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3192" y="1307592"/>
          <a:ext cx="83210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1234440"/>
                <a:gridCol w="4343400"/>
              </a:tblGrid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Набор</a:t>
                      </a:r>
                    </a:p>
                  </a:txBody>
                  <a:tcPr marL="91440" marR="64008" marT="59436" marB="32004" anchor="ctr"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Писем</a:t>
                      </a:r>
                    </a:p>
                  </a:txBody>
                  <a:tcPr marL="91440" marR="64008" marT="59436" marB="32004" anchor="ctr"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Класс</a:t>
                      </a:r>
                    </a:p>
                  </a:txBody>
                  <a:tcPr marL="91440" marR="64008" marT="59436" marB="32004" anchor="ctr"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Особенность</a:t>
                      </a:r>
                    </a:p>
                  </a:txBody>
                  <a:tcPr marL="91440" marR="64008" marT="59436" marB="32004" anchor="ctr">
                    <a:solidFill>
                      <a:srgbClr val="0066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easy_ham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2551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ham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Обычная почта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hard_ham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ham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HTML и рекламоподобные выражения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spam_2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1396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spam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Нежелательная почта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Внешний контроль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1600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ham / spam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5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500" b="0">
                          <a:solidFill>
                            <a:srgbClr val="17263A"/>
                          </a:solidFill>
                          <a:latin typeface="Arial"/>
                        </a:rPr>
                        <a:t>600 ham и 1000 spam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3941063"/>
            <a:ext cx="8138160" cy="521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7263A"/>
                </a:solidFill>
                <a:latin typeface="Arial"/>
              </a:defRPr>
            </a:pPr>
            <a:r>
              <a:rPr sz="1500" b="0">
                <a:solidFill>
                  <a:srgbClr val="17263A"/>
                </a:solidFill>
                <a:latin typeface="Arial"/>
              </a:rPr>
              <a:t>4197 исходных писем: 66,74% ham и 33,26% spam.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7263A"/>
                </a:solidFill>
                <a:latin typeface="Arial"/>
              </a:defRPr>
            </a:pPr>
            <a:r>
              <a:rPr sz="1500" b="0">
                <a:solidFill>
                  <a:srgbClr val="17263A"/>
                </a:solidFill>
                <a:latin typeface="Arial"/>
              </a:rPr>
              <a:t>Три обучающих набора относятся к одному семейству SpamAssassin.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339327" cy="521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7263A"/>
                </a:solidFill>
                <a:latin typeface="Arial"/>
              </a:defRPr>
            </a:pPr>
            <a:r>
              <a:rPr sz="2600" b="1">
                <a:solidFill>
                  <a:srgbClr val="17263A"/>
                </a:solidFill>
                <a:latin typeface="Arial"/>
              </a:rPr>
              <a:t>Подготовка данных: сначала исключаем утечку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95528"/>
            <a:ext cx="8339327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4818888"/>
            <a:ext cx="781812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07087"/>
                </a:solidFill>
                <a:latin typeface="Arial"/>
              </a:defRPr>
            </a:pPr>
            <a:r>
              <a:rPr sz="900" b="0">
                <a:solidFill>
                  <a:srgbClr val="607087"/>
                </a:solidFill>
                <a:latin typeface="Arial"/>
              </a:rPr>
              <a:t>МКБ251  •  Городилова И. С.  •  Предобработка</a:t>
            </a:r>
          </a:p>
        </p:txBody>
      </p:sp>
      <p:sp>
        <p:nvSpPr>
          <p:cNvPr id="5" name="slide_pager"/>
          <p:cNvSpPr txBox="1"/>
          <p:nvPr/>
        </p:nvSpPr>
        <p:spPr>
          <a:xfrm>
            <a:off x="8275320" y="479145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07087"/>
                </a:solidFill>
                <a:latin typeface="Arial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38912" y="1005840"/>
            <a:ext cx="8211312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7263A"/>
                </a:solidFill>
                <a:latin typeface="Arial"/>
              </a:defRPr>
            </a:pPr>
            <a:r>
              <a:rPr sz="1900" b="1">
                <a:solidFill>
                  <a:srgbClr val="17263A"/>
                </a:solidFill>
                <a:latin typeface="Arial"/>
              </a:rPr>
              <a:t>MIME и кодировки → тема и тело → видимый текст HTML</a:t>
            </a:r>
          </a:p>
          <a:p>
            <a:pPr algn="l">
              <a:spcAft>
                <a:spcPts val="500"/>
              </a:spcAft>
              <a:defRPr sz="1900" b="1">
                <a:solidFill>
                  <a:srgbClr val="17263A"/>
                </a:solidFill>
                <a:latin typeface="Arial"/>
              </a:defRPr>
            </a:pPr>
            <a:r>
              <a:rPr sz="1900" b="1">
                <a:solidFill>
                  <a:srgbClr val="17263A"/>
                </a:solidFill>
                <a:latin typeface="Arial"/>
              </a:rPr>
              <a:t>Нормализация Unicode и пробелов → проверка идентичности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075688"/>
            <a:ext cx="2587752" cy="1572768"/>
          </a:xfrm>
          <a:prstGeom prst="round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57784" y="2194560"/>
            <a:ext cx="22951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07087"/>
                </a:solidFill>
                <a:latin typeface="Arial"/>
              </a:defRPr>
            </a:pPr>
            <a:r>
              <a:rPr sz="1300" b="0">
                <a:solidFill>
                  <a:srgbClr val="607087"/>
                </a:solidFill>
                <a:latin typeface="Arial"/>
              </a:rPr>
              <a:t>Исходные письма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560320"/>
            <a:ext cx="229514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0066FF"/>
                </a:solidFill>
                <a:latin typeface="Arial"/>
              </a:defRPr>
            </a:pPr>
            <a:r>
              <a:rPr sz="2900" b="1">
                <a:solidFill>
                  <a:srgbClr val="0066FF"/>
                </a:solidFill>
                <a:latin typeface="Arial"/>
              </a:rPr>
              <a:t>4197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3108960"/>
            <a:ext cx="229514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7263A"/>
                </a:solidFill>
                <a:latin typeface="Arial"/>
              </a:defRPr>
            </a:pPr>
            <a:r>
              <a:rPr sz="1300" b="0">
                <a:solidFill>
                  <a:srgbClr val="17263A"/>
                </a:solidFill>
                <a:latin typeface="Arial"/>
              </a:rPr>
              <a:t>После очистки — 3834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4408" y="2075688"/>
            <a:ext cx="2587752" cy="1572768"/>
          </a:xfrm>
          <a:prstGeom prst="round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410712" y="2194560"/>
            <a:ext cx="22951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07087"/>
                </a:solidFill>
                <a:latin typeface="Arial"/>
              </a:defRPr>
            </a:pPr>
            <a:r>
              <a:rPr sz="1300" b="0">
                <a:solidFill>
                  <a:srgbClr val="607087"/>
                </a:solidFill>
                <a:latin typeface="Arial"/>
              </a:rPr>
              <a:t>Пересечения с контролем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560320"/>
            <a:ext cx="229514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D43B68"/>
                </a:solidFill>
                <a:latin typeface="Arial"/>
              </a:defRPr>
            </a:pPr>
            <a:r>
              <a:rPr sz="2900" b="1">
                <a:solidFill>
                  <a:srgbClr val="D43B68"/>
                </a:solidFill>
                <a:latin typeface="Arial"/>
              </a:rPr>
              <a:t>956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3108960"/>
            <a:ext cx="229514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7263A"/>
                </a:solidFill>
                <a:latin typeface="Arial"/>
              </a:defRPr>
            </a:pPr>
            <a:r>
              <a:rPr sz="1300" b="0">
                <a:solidFill>
                  <a:srgbClr val="17263A"/>
                </a:solidFill>
                <a:latin typeface="Arial"/>
              </a:rPr>
              <a:t>Исключены до разбиения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2075688"/>
            <a:ext cx="2587752" cy="1572768"/>
          </a:xfrm>
          <a:prstGeom prst="round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263640" y="2194560"/>
            <a:ext cx="22951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07087"/>
                </a:solidFill>
                <a:latin typeface="Arial"/>
              </a:defRPr>
            </a:pPr>
            <a:r>
              <a:rPr sz="1300" b="0">
                <a:solidFill>
                  <a:srgbClr val="607087"/>
                </a:solidFill>
                <a:latin typeface="Arial"/>
              </a:rPr>
              <a:t>Готово для разбиения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560320"/>
            <a:ext cx="229514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18C78"/>
                </a:solidFill>
                <a:latin typeface="Arial"/>
              </a:defRPr>
            </a:pPr>
            <a:r>
              <a:rPr sz="2900" b="1">
                <a:solidFill>
                  <a:srgbClr val="118C78"/>
                </a:solidFill>
                <a:latin typeface="Arial"/>
              </a:rPr>
              <a:t>2878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108960"/>
            <a:ext cx="229514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7263A"/>
                </a:solidFill>
                <a:latin typeface="Arial"/>
              </a:defRPr>
            </a:pPr>
            <a:r>
              <a:rPr sz="1300" b="0">
                <a:solidFill>
                  <a:srgbClr val="17263A"/>
                </a:solidFill>
                <a:latin typeface="Arial"/>
              </a:rPr>
              <a:t>Уникальные письма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822191"/>
            <a:ext cx="8193024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07087"/>
                </a:solidFill>
                <a:latin typeface="Arial"/>
              </a:defRPr>
            </a:pPr>
            <a:r>
              <a:rPr sz="1500" b="0">
                <a:solidFill>
                  <a:srgbClr val="607087"/>
                </a:solidFill>
                <a:latin typeface="Arial"/>
              </a:rPr>
              <a:t>В признаки не входят X-Spam-*, Received, отправитель и имя файла.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607087"/>
                </a:solidFill>
                <a:latin typeface="Arial"/>
              </a:defRPr>
            </a:pPr>
            <a:r>
              <a:rPr sz="1500" b="0">
                <a:solidFill>
                  <a:srgbClr val="607087"/>
                </a:solidFill>
                <a:latin typeface="Arial"/>
              </a:rPr>
              <a:t>Повторы проверены по байтам, тексту, телу и Message-ID.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339327" cy="521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7263A"/>
                </a:solidFill>
                <a:latin typeface="Arial"/>
              </a:defRPr>
            </a:pPr>
            <a:r>
              <a:rPr sz="2600" b="1">
                <a:solidFill>
                  <a:srgbClr val="17263A"/>
                </a:solidFill>
                <a:latin typeface="Arial"/>
              </a:rPr>
              <a:t>EDA: отдельные признаки не заменяют классификатор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95528"/>
            <a:ext cx="8339327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877824"/>
            <a:ext cx="8275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250" b="0">
                <a:solidFill>
                  <a:srgbClr val="607087"/>
                </a:solidFill>
                <a:latin typeface="Arial"/>
              </a:defRPr>
            </a:pPr>
            <a:r>
              <a:rPr sz="1250" b="0">
                <a:solidFill>
                  <a:srgbClr val="607087"/>
                </a:solidFill>
                <a:latin typeface="Arial"/>
              </a:rPr>
              <a:t>Подробное исследование выполнено только на обучающей части.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4818888"/>
            <a:ext cx="781812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07087"/>
                </a:solidFill>
                <a:latin typeface="Arial"/>
              </a:defRPr>
            </a:pPr>
            <a:r>
              <a:rPr sz="900" b="0">
                <a:solidFill>
                  <a:srgbClr val="607087"/>
                </a:solidFill>
                <a:latin typeface="Arial"/>
              </a:rPr>
              <a:t>МКБ251  •  Городилова И. С.  •  Исследование</a:t>
            </a:r>
          </a:p>
        </p:txBody>
      </p:sp>
      <p:sp>
        <p:nvSpPr>
          <p:cNvPr id="6" name="slide_pager"/>
          <p:cNvSpPr txBox="1"/>
          <p:nvPr/>
        </p:nvSpPr>
        <p:spPr>
          <a:xfrm>
            <a:off x="8275320" y="479145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07087"/>
                </a:solidFill>
                <a:latin typeface="Arial"/>
              </a:defRPr>
            </a:pP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29768" y="1426464"/>
          <a:ext cx="4800600" cy="252374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513832" y="1417320"/>
            <a:ext cx="3154680" cy="1051560"/>
          </a:xfrm>
          <a:prstGeom prst="round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500"/>
              </a:spcAft>
              <a:defRPr sz="1900" b="1">
                <a:solidFill>
                  <a:srgbClr val="17263A"/>
                </a:solidFill>
                <a:latin typeface="Arial"/>
              </a:defRPr>
            </a:pPr>
            <a:r>
              <a:rPr sz="1900" b="1">
                <a:solidFill>
                  <a:srgbClr val="17263A"/>
                </a:solidFill>
                <a:latin typeface="Arial"/>
              </a:rPr>
              <a:t>Медиана числа ссылок</a:t>
            </a:r>
          </a:p>
          <a:p>
            <a:pPr algn="l">
              <a:spcAft>
                <a:spcPts val="500"/>
              </a:spcAft>
              <a:defRPr sz="1900" b="1">
                <a:solidFill>
                  <a:srgbClr val="17263A"/>
                </a:solidFill>
                <a:latin typeface="Arial"/>
              </a:defRPr>
            </a:pPr>
            <a:r>
              <a:rPr sz="1900" b="1">
                <a:solidFill>
                  <a:srgbClr val="17263A"/>
                </a:solidFill>
                <a:latin typeface="Arial"/>
              </a:rPr>
              <a:t>ham: 2  •  spam: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13832" y="2688336"/>
            <a:ext cx="3154680" cy="1051560"/>
          </a:xfrm>
          <a:prstGeom prst="round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500"/>
              </a:spcAft>
              <a:defRPr sz="1900" b="1">
                <a:solidFill>
                  <a:srgbClr val="17263A"/>
                </a:solidFill>
                <a:latin typeface="Arial"/>
              </a:defRPr>
            </a:pPr>
            <a:r>
              <a:rPr sz="1900" b="1">
                <a:solidFill>
                  <a:srgbClr val="17263A"/>
                </a:solidFill>
                <a:latin typeface="Arial"/>
              </a:rPr>
              <a:t>Медиана числа слов</a:t>
            </a:r>
          </a:p>
          <a:p>
            <a:pPr algn="l">
              <a:spcAft>
                <a:spcPts val="500"/>
              </a:spcAft>
              <a:defRPr sz="1900" b="1">
                <a:solidFill>
                  <a:srgbClr val="17263A"/>
                </a:solidFill>
                <a:latin typeface="Arial"/>
              </a:defRPr>
            </a:pPr>
            <a:r>
              <a:rPr sz="1900" b="1">
                <a:solidFill>
                  <a:srgbClr val="17263A"/>
                </a:solidFill>
                <a:latin typeface="Arial"/>
              </a:rPr>
              <a:t>ham: 141  •  spam: 161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" y="4096512"/>
            <a:ext cx="8321040" cy="44805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30352" y="4178808"/>
            <a:ext cx="8037575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20" b="1">
                <a:solidFill>
                  <a:srgbClr val="0066FF"/>
                </a:solidFill>
                <a:latin typeface="Arial"/>
              </a:defRPr>
            </a:pPr>
            <a:r>
              <a:rPr sz="1320" b="1">
                <a:solidFill>
                  <a:srgbClr val="0066FF"/>
                </a:solidFill>
                <a:latin typeface="Arial"/>
              </a:rPr>
              <a:t>Наличие HTML или ссылок само по себе не является основанием блокировать письмо.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339327" cy="521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7263A"/>
                </a:solidFill>
                <a:latin typeface="Arial"/>
              </a:defRPr>
            </a:pPr>
            <a:r>
              <a:rPr sz="2600" b="1">
                <a:solidFill>
                  <a:srgbClr val="17263A"/>
                </a:solidFill>
                <a:latin typeface="Arial"/>
              </a:rPr>
              <a:t>Обучение, выбор порога и тест — разные этапы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95528"/>
            <a:ext cx="8339327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4818888"/>
            <a:ext cx="781812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07087"/>
                </a:solidFill>
                <a:latin typeface="Arial"/>
              </a:defRPr>
            </a:pPr>
            <a:r>
              <a:rPr sz="900" b="0">
                <a:solidFill>
                  <a:srgbClr val="607087"/>
                </a:solidFill>
                <a:latin typeface="Arial"/>
              </a:rPr>
              <a:t>МКБ251  •  Городилова И. С.  •  Валидация</a:t>
            </a:r>
          </a:p>
        </p:txBody>
      </p:sp>
      <p:sp>
        <p:nvSpPr>
          <p:cNvPr id="5" name="slide_pager"/>
          <p:cNvSpPr txBox="1"/>
          <p:nvPr/>
        </p:nvSpPr>
        <p:spPr>
          <a:xfrm>
            <a:off x="8275320" y="479145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07087"/>
                </a:solidFill>
                <a:latin typeface="Arial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11480" y="1197864"/>
            <a:ext cx="2587752" cy="1865376"/>
          </a:xfrm>
          <a:prstGeom prst="round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57784" y="1316736"/>
            <a:ext cx="22951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07087"/>
                </a:solidFill>
                <a:latin typeface="Arial"/>
              </a:defRPr>
            </a:pPr>
            <a:r>
              <a:rPr sz="1300" b="0">
                <a:solidFill>
                  <a:srgbClr val="607087"/>
                </a:solidFill>
                <a:latin typeface="Arial"/>
              </a:rPr>
              <a:t>Train — около 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682496"/>
            <a:ext cx="229514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0066FF"/>
                </a:solidFill>
                <a:latin typeface="Arial"/>
              </a:defRPr>
            </a:pPr>
            <a:r>
              <a:rPr sz="2900" b="1">
                <a:solidFill>
                  <a:srgbClr val="0066FF"/>
                </a:solidFill>
                <a:latin typeface="Arial"/>
              </a:rPr>
              <a:t>1726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231136"/>
            <a:ext cx="2295144" cy="7680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7263A"/>
                </a:solidFill>
                <a:latin typeface="Arial"/>
              </a:defRPr>
            </a:pPr>
            <a:r>
              <a:rPr sz="1300" b="0">
                <a:solidFill>
                  <a:srgbClr val="17263A"/>
                </a:solidFill>
                <a:latin typeface="Arial"/>
              </a:rPr>
              <a:t>EDA, обучение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7263A"/>
                </a:solidFill>
                <a:latin typeface="Arial"/>
              </a:defRPr>
            </a:pPr>
            <a:r>
              <a:rPr sz="1300" b="0">
                <a:solidFill>
                  <a:srgbClr val="17263A"/>
                </a:solidFill>
                <a:latin typeface="Arial"/>
              </a:rPr>
              <a:t>и 5-fold CV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4408" y="1197864"/>
            <a:ext cx="2587752" cy="1865376"/>
          </a:xfrm>
          <a:prstGeom prst="round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10712" y="1316736"/>
            <a:ext cx="22951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07087"/>
                </a:solidFill>
                <a:latin typeface="Arial"/>
              </a:defRPr>
            </a:pPr>
            <a:r>
              <a:rPr sz="1300" b="0">
                <a:solidFill>
                  <a:srgbClr val="607087"/>
                </a:solidFill>
                <a:latin typeface="Arial"/>
              </a:rPr>
              <a:t>Validation — около 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682496"/>
            <a:ext cx="229514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18C78"/>
                </a:solidFill>
                <a:latin typeface="Arial"/>
              </a:defRPr>
            </a:pPr>
            <a:r>
              <a:rPr sz="2900" b="1">
                <a:solidFill>
                  <a:srgbClr val="118C78"/>
                </a:solidFill>
                <a:latin typeface="Arial"/>
              </a:rPr>
              <a:t>576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231136"/>
            <a:ext cx="2295144" cy="7680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7263A"/>
                </a:solidFill>
                <a:latin typeface="Arial"/>
              </a:defRPr>
            </a:pPr>
            <a:r>
              <a:rPr sz="1300" b="0">
                <a:solidFill>
                  <a:srgbClr val="17263A"/>
                </a:solidFill>
                <a:latin typeface="Arial"/>
              </a:rPr>
              <a:t>Настройка порога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7263A"/>
                </a:solidFill>
                <a:latin typeface="Arial"/>
              </a:defRPr>
            </a:pPr>
            <a:r>
              <a:rPr sz="1300" b="0">
                <a:solidFill>
                  <a:srgbClr val="17263A"/>
                </a:solidFill>
                <a:latin typeface="Arial"/>
              </a:rPr>
              <a:t>выбранной модели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1197864"/>
            <a:ext cx="2587752" cy="1865376"/>
          </a:xfrm>
          <a:prstGeom prst="round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263640" y="1316736"/>
            <a:ext cx="22951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07087"/>
                </a:solidFill>
                <a:latin typeface="Arial"/>
              </a:defRPr>
            </a:pPr>
            <a:r>
              <a:rPr sz="1300" b="0">
                <a:solidFill>
                  <a:srgbClr val="607087"/>
                </a:solidFill>
                <a:latin typeface="Arial"/>
              </a:rPr>
              <a:t>Test — около 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82496"/>
            <a:ext cx="229514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D43B68"/>
                </a:solidFill>
                <a:latin typeface="Arial"/>
              </a:defRPr>
            </a:pPr>
            <a:r>
              <a:rPr sz="2900" b="1">
                <a:solidFill>
                  <a:srgbClr val="D43B68"/>
                </a:solidFill>
                <a:latin typeface="Arial"/>
              </a:rPr>
              <a:t>576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31136"/>
            <a:ext cx="2295144" cy="7680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7263A"/>
                </a:solidFill>
                <a:latin typeface="Arial"/>
              </a:defRPr>
            </a:pPr>
            <a:r>
              <a:rPr sz="1300" b="0">
                <a:solidFill>
                  <a:srgbClr val="17263A"/>
                </a:solidFill>
                <a:latin typeface="Arial"/>
              </a:rPr>
              <a:t>Финальная оценка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7263A"/>
                </a:solidFill>
                <a:latin typeface="Arial"/>
              </a:defRPr>
            </a:pPr>
            <a:r>
              <a:rPr sz="1300" b="0">
                <a:solidFill>
                  <a:srgbClr val="17263A"/>
                </a:solidFill>
                <a:latin typeface="Arial"/>
              </a:rPr>
              <a:t>после фиксации решения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" y="3383280"/>
            <a:ext cx="8174736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7263A"/>
                </a:solidFill>
                <a:latin typeface="Arial"/>
              </a:defRPr>
            </a:pPr>
            <a:r>
              <a:rPr sz="1800" b="1">
                <a:solidFill>
                  <a:srgbClr val="17263A"/>
                </a:solidFill>
                <a:latin typeface="Arial"/>
              </a:rPr>
              <a:t>Стратификация по источнику сохраняет hard_ham.</a:t>
            </a:r>
          </a:p>
          <a:p>
            <a:pPr algn="l">
              <a:spcAft>
                <a:spcPts val="500"/>
              </a:spcAft>
              <a:defRPr sz="1800" b="1">
                <a:solidFill>
                  <a:srgbClr val="17263A"/>
                </a:solidFill>
                <a:latin typeface="Arial"/>
              </a:defRPr>
            </a:pPr>
            <a:r>
              <a:rPr sz="1800" b="1">
                <a:solidFill>
                  <a:srgbClr val="17263A"/>
                </a:solidFill>
                <a:latin typeface="Arial"/>
              </a:rPr>
              <a:t>TF-IDF заново обучается внутри каждого CV-фолда.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" y="4160520"/>
            <a:ext cx="8321040" cy="39319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30352" y="4242816"/>
            <a:ext cx="8037575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20" b="1">
                <a:solidFill>
                  <a:srgbClr val="0066FF"/>
                </a:solidFill>
                <a:latin typeface="Arial"/>
              </a:defRPr>
            </a:pPr>
            <a:r>
              <a:rPr sz="1320" b="1">
                <a:solidFill>
                  <a:srgbClr val="0066FF"/>
                </a:solidFill>
                <a:latin typeface="Arial"/>
              </a:rPr>
              <a:t>Внешние метрики не используются при выборе модели или порога.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339327" cy="521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7263A"/>
                </a:solidFill>
                <a:latin typeface="Arial"/>
              </a:defRPr>
            </a:pPr>
            <a:r>
              <a:rPr sz="2600" b="1">
                <a:solidFill>
                  <a:srgbClr val="17263A"/>
                </a:solidFill>
                <a:latin typeface="Arial"/>
              </a:rPr>
              <a:t>Архитектура: TF-IDF + ComplementNB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95528"/>
            <a:ext cx="8339327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4818888"/>
            <a:ext cx="781812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07087"/>
                </a:solidFill>
                <a:latin typeface="Arial"/>
              </a:defRPr>
            </a:pPr>
            <a:r>
              <a:rPr sz="900" b="0">
                <a:solidFill>
                  <a:srgbClr val="607087"/>
                </a:solidFill>
                <a:latin typeface="Arial"/>
              </a:rPr>
              <a:t>МКБ251  •  Городилова И. С.  •  Модель</a:t>
            </a:r>
          </a:p>
        </p:txBody>
      </p:sp>
      <p:sp>
        <p:nvSpPr>
          <p:cNvPr id="5" name="slide_pager"/>
          <p:cNvSpPr txBox="1"/>
          <p:nvPr/>
        </p:nvSpPr>
        <p:spPr>
          <a:xfrm>
            <a:off x="8275320" y="479145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07087"/>
                </a:solidFill>
                <a:latin typeface="Arial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02336" y="1197864"/>
            <a:ext cx="1508760" cy="1024128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93776" y="1344168"/>
            <a:ext cx="132588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0066FF"/>
                </a:solidFill>
                <a:latin typeface="Arial"/>
              </a:defRPr>
            </a:pPr>
            <a:r>
              <a:rPr sz="1500" b="1">
                <a:solidFill>
                  <a:srgbClr val="0066FF"/>
                </a:solidFill>
                <a:latin typeface="Arial"/>
              </a:rPr>
              <a:t>Письмо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783080"/>
            <a:ext cx="138074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070" b="0">
                <a:solidFill>
                  <a:srgbClr val="17263A"/>
                </a:solidFill>
                <a:latin typeface="Arial"/>
              </a:defRPr>
            </a:pPr>
            <a:r>
              <a:rPr sz="1070" b="0">
                <a:solidFill>
                  <a:srgbClr val="17263A"/>
                </a:solidFill>
                <a:latin typeface="Arial"/>
              </a:rPr>
              <a:t>Тема и тело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1095" y="1508760"/>
            <a:ext cx="19202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0066FF"/>
                </a:solidFill>
                <a:latin typeface="Arial"/>
              </a:defRPr>
            </a:pPr>
            <a:r>
              <a:rPr sz="1900" b="1">
                <a:solidFill>
                  <a:srgbClr val="0066FF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197864"/>
            <a:ext cx="1508760" cy="1024128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194560" y="1344168"/>
            <a:ext cx="132588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0066FF"/>
                </a:solidFill>
                <a:latin typeface="Arial"/>
              </a:defRPr>
            </a:pPr>
            <a:r>
              <a:rPr sz="1500" b="1">
                <a:solidFill>
                  <a:srgbClr val="0066FF"/>
                </a:solidFill>
                <a:latin typeface="Arial"/>
              </a:rPr>
              <a:t>Парсер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7128" y="1783080"/>
            <a:ext cx="138074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070" b="0">
                <a:solidFill>
                  <a:srgbClr val="17263A"/>
                </a:solidFill>
                <a:latin typeface="Arial"/>
              </a:defRPr>
            </a:pPr>
            <a:r>
              <a:rPr sz="1070" b="0">
                <a:solidFill>
                  <a:srgbClr val="17263A"/>
                </a:solidFill>
                <a:latin typeface="Arial"/>
              </a:rPr>
              <a:t>MIME / 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508760"/>
            <a:ext cx="19202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0066FF"/>
                </a:solidFill>
                <a:latin typeface="Arial"/>
              </a:defRPr>
            </a:pPr>
            <a:r>
              <a:rPr sz="1900" b="1">
                <a:solidFill>
                  <a:srgbClr val="0066FF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03904" y="1197864"/>
            <a:ext cx="1508760" cy="1024128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895344" y="1344168"/>
            <a:ext cx="132588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0066FF"/>
                </a:solidFill>
                <a:latin typeface="Arial"/>
              </a:defRPr>
            </a:pPr>
            <a:r>
              <a:rPr sz="1500" b="1">
                <a:solidFill>
                  <a:srgbClr val="0066FF"/>
                </a:solidFill>
                <a:latin typeface="Arial"/>
              </a:rPr>
              <a:t>TF-IDF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1783080"/>
            <a:ext cx="138074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070" b="0">
                <a:solidFill>
                  <a:srgbClr val="17263A"/>
                </a:solidFill>
                <a:latin typeface="Arial"/>
              </a:defRPr>
            </a:pPr>
            <a:r>
              <a:rPr sz="1070" b="0">
                <a:solidFill>
                  <a:srgbClr val="17263A"/>
                </a:solidFill>
                <a:latin typeface="Arial"/>
              </a:rPr>
              <a:t>Слова и биграммы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1508760"/>
            <a:ext cx="19202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0066FF"/>
                </a:solidFill>
                <a:latin typeface="Arial"/>
              </a:defRPr>
            </a:pPr>
            <a:r>
              <a:rPr sz="1900" b="1">
                <a:solidFill>
                  <a:srgbClr val="0066FF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4688" y="1197864"/>
            <a:ext cx="1508760" cy="1024128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596128" y="1344168"/>
            <a:ext cx="132588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0066FF"/>
                </a:solidFill>
                <a:latin typeface="Arial"/>
              </a:defRPr>
            </a:pPr>
            <a:r>
              <a:rPr sz="1500" b="1">
                <a:solidFill>
                  <a:srgbClr val="0066FF"/>
                </a:solidFill>
                <a:latin typeface="Arial"/>
              </a:rPr>
              <a:t>ComplementNB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8696" y="1783080"/>
            <a:ext cx="138074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070" b="0">
                <a:solidFill>
                  <a:srgbClr val="17263A"/>
                </a:solidFill>
                <a:latin typeface="Arial"/>
              </a:defRPr>
            </a:pPr>
            <a:r>
              <a:rPr sz="1070" b="0">
                <a:solidFill>
                  <a:srgbClr val="17263A"/>
                </a:solidFill>
                <a:latin typeface="Arial"/>
              </a:rPr>
              <a:t>Оценка spam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1508760"/>
            <a:ext cx="19202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0066FF"/>
                </a:solidFill>
                <a:latin typeface="Arial"/>
              </a:defRPr>
            </a:pPr>
            <a:r>
              <a:rPr sz="1900" b="1">
                <a:solidFill>
                  <a:srgbClr val="0066FF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5472" y="1197864"/>
            <a:ext cx="1508760" cy="1024128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7296912" y="1344168"/>
            <a:ext cx="132588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0066FF"/>
                </a:solidFill>
                <a:latin typeface="Arial"/>
              </a:defRPr>
            </a:pPr>
            <a:r>
              <a:rPr sz="1500" b="1">
                <a:solidFill>
                  <a:srgbClr val="0066FF"/>
                </a:solidFill>
                <a:latin typeface="Arial"/>
              </a:rPr>
              <a:t>Порог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1783080"/>
            <a:ext cx="138074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500"/>
              </a:spcAft>
              <a:defRPr sz="1070" b="0">
                <a:solidFill>
                  <a:srgbClr val="17263A"/>
                </a:solidFill>
                <a:latin typeface="Arial"/>
              </a:defRPr>
            </a:pPr>
            <a:r>
              <a:rPr sz="1070" b="0">
                <a:solidFill>
                  <a:srgbClr val="17263A"/>
                </a:solidFill>
                <a:latin typeface="Arial"/>
              </a:rPr>
              <a:t>ham / spam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93192" y="2578608"/>
          <a:ext cx="8321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126480"/>
              </a:tblGrid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91440" marR="64008" marT="59436" marB="32004" anchor="ctr"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91440" marR="64008" marT="59436" marB="32004" anchor="ctr">
                    <a:solidFill>
                      <a:srgbClr val="006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400" b="0">
                          <a:solidFill>
                            <a:srgbClr val="17263A"/>
                          </a:solidFill>
                          <a:latin typeface="Arial"/>
                        </a:rPr>
                        <a:t>Словарь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400" b="0">
                          <a:solidFill>
                            <a:srgbClr val="17263A"/>
                          </a:solidFill>
                          <a:latin typeface="Arial"/>
                        </a:rPr>
                        <a:t>До 30 000 признаков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400" b="0">
                          <a:solidFill>
                            <a:srgbClr val="17263A"/>
                          </a:solidFill>
                          <a:latin typeface="Arial"/>
                        </a:rPr>
                        <a:t>Частота слов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400" b="0">
                          <a:solidFill>
                            <a:srgbClr val="17263A"/>
                          </a:solidFill>
                          <a:latin typeface="Arial"/>
                        </a:rPr>
                        <a:t>sublinear_tf=True; min_df=2; max_df=0,995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400" b="0">
                          <a:solidFill>
                            <a:srgbClr val="17263A"/>
                          </a:solidFill>
                          <a:latin typeface="Arial"/>
                        </a:rPr>
                        <a:t>Классификатор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400" b="0">
                          <a:solidFill>
                            <a:srgbClr val="17263A"/>
                          </a:solidFill>
                          <a:latin typeface="Arial"/>
                        </a:rPr>
                        <a:t>ComplementNB; alpha=1,0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400" b="0">
                          <a:solidFill>
                            <a:srgbClr val="17263A"/>
                          </a:solidFill>
                          <a:latin typeface="Arial"/>
                        </a:rPr>
                        <a:t>Порог сервиса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40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400" b="0">
                          <a:solidFill>
                            <a:srgbClr val="17263A"/>
                          </a:solidFill>
                          <a:latin typeface="Arial"/>
                        </a:rPr>
                        <a:t>0,862981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339327" cy="521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7263A"/>
                </a:solidFill>
                <a:latin typeface="Arial"/>
              </a:defRPr>
            </a:pPr>
            <a:r>
              <a:rPr sz="2600" b="1">
                <a:solidFill>
                  <a:srgbClr val="17263A"/>
                </a:solidFill>
                <a:latin typeface="Arial"/>
              </a:rPr>
              <a:t>Кандидаты: четыре подхода, шесть конфигураций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95528"/>
            <a:ext cx="8339327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4818888"/>
            <a:ext cx="781812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07087"/>
                </a:solidFill>
                <a:latin typeface="Arial"/>
              </a:defRPr>
            </a:pPr>
            <a:r>
              <a:rPr sz="900" b="0">
                <a:solidFill>
                  <a:srgbClr val="607087"/>
                </a:solidFill>
                <a:latin typeface="Arial"/>
              </a:rPr>
              <a:t>МКБ251  •  Городилова И. С.  •  Сравнение моделей</a:t>
            </a:r>
          </a:p>
        </p:txBody>
      </p:sp>
      <p:sp>
        <p:nvSpPr>
          <p:cNvPr id="5" name="slide_pager"/>
          <p:cNvSpPr txBox="1"/>
          <p:nvPr/>
        </p:nvSpPr>
        <p:spPr>
          <a:xfrm>
            <a:off x="8275320" y="479145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07087"/>
                </a:solidFill>
                <a:latin typeface="Arial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11480" y="1060704"/>
            <a:ext cx="3986784" cy="1536192"/>
          </a:xfrm>
          <a:prstGeom prst="round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0" y="1179576"/>
            <a:ext cx="369417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607087"/>
                </a:solidFill>
                <a:latin typeface="Arial"/>
              </a:defRPr>
            </a:pPr>
            <a:r>
              <a:rPr sz="1800" b="1">
                <a:solidFill>
                  <a:srgbClr val="607087"/>
                </a:solidFill>
                <a:latin typeface="Arial"/>
              </a:rPr>
              <a:t>DummyClassifier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91055"/>
            <a:ext cx="3694176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20" b="0">
                <a:solidFill>
                  <a:srgbClr val="17263A"/>
                </a:solidFill>
                <a:latin typeface="Arial"/>
              </a:defRPr>
            </a:pPr>
            <a:r>
              <a:rPr sz="1420" b="0">
                <a:solidFill>
                  <a:srgbClr val="17263A"/>
                </a:solidFill>
                <a:latin typeface="Arial"/>
              </a:rPr>
              <a:t>Всегда ham</a:t>
            </a:r>
          </a:p>
          <a:p>
            <a:pPr algn="l">
              <a:spcAft>
                <a:spcPts val="500"/>
              </a:spcAft>
              <a:defRPr sz="1420" b="0">
                <a:solidFill>
                  <a:srgbClr val="17263A"/>
                </a:solidFill>
                <a:latin typeface="Arial"/>
              </a:defRPr>
            </a:pPr>
            <a:r>
              <a:rPr sz="1420" b="0">
                <a:solidFill>
                  <a:srgbClr val="17263A"/>
                </a:solidFill>
                <a:latin typeface="Arial"/>
              </a:rPr>
              <a:t>Нулевые FP, но Recall = 0</a:t>
            </a:r>
          </a:p>
          <a:p>
            <a:pPr algn="l">
              <a:spcAft>
                <a:spcPts val="500"/>
              </a:spcAft>
              <a:defRPr sz="1420" b="0">
                <a:solidFill>
                  <a:srgbClr val="17263A"/>
                </a:solidFill>
                <a:latin typeface="Arial"/>
              </a:defRPr>
            </a:pPr>
            <a:r>
              <a:rPr sz="1420" b="0">
                <a:solidFill>
                  <a:srgbClr val="17263A"/>
                </a:solidFill>
                <a:latin typeface="Arial"/>
              </a:rPr>
              <a:t>Ориентир для проверки смысла метрик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060704"/>
            <a:ext cx="3986784" cy="1536192"/>
          </a:xfrm>
          <a:prstGeom prst="round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846320" y="1179576"/>
            <a:ext cx="369417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0066FF"/>
                </a:solidFill>
                <a:latin typeface="Arial"/>
              </a:defRPr>
            </a:pPr>
            <a:r>
              <a:rPr sz="1800" b="1">
                <a:solidFill>
                  <a:srgbClr val="0066FF"/>
                </a:solidFill>
                <a:latin typeface="Arial"/>
              </a:rPr>
              <a:t>ComplementNB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591055"/>
            <a:ext cx="3694176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20" b="0">
                <a:solidFill>
                  <a:srgbClr val="17263A"/>
                </a:solidFill>
                <a:latin typeface="Arial"/>
              </a:defRPr>
            </a:pPr>
            <a:r>
              <a:rPr sz="1420" b="0">
                <a:solidFill>
                  <a:srgbClr val="17263A"/>
                </a:solidFill>
                <a:latin typeface="Arial"/>
              </a:rPr>
              <a:t>alpha = 0,5 и 1,0</a:t>
            </a:r>
          </a:p>
          <a:p>
            <a:pPr algn="l">
              <a:spcAft>
                <a:spcPts val="500"/>
              </a:spcAft>
              <a:defRPr sz="1420" b="0">
                <a:solidFill>
                  <a:srgbClr val="17263A"/>
                </a:solidFill>
                <a:latin typeface="Arial"/>
              </a:defRPr>
            </a:pPr>
            <a:r>
              <a:rPr sz="1420" b="0">
                <a:solidFill>
                  <a:srgbClr val="17263A"/>
                </a:solidFill>
                <a:latin typeface="Arial"/>
              </a:rPr>
              <a:t>Быстрый текстовый классификатор</a:t>
            </a:r>
          </a:p>
          <a:p>
            <a:pPr algn="l">
              <a:spcAft>
                <a:spcPts val="500"/>
              </a:spcAft>
              <a:defRPr sz="1420" b="0">
                <a:solidFill>
                  <a:srgbClr val="17263A"/>
                </a:solidFill>
                <a:latin typeface="Arial"/>
              </a:defRPr>
            </a:pPr>
            <a:r>
              <a:rPr sz="1420" b="0">
                <a:solidFill>
                  <a:srgbClr val="17263A"/>
                </a:solidFill>
                <a:latin typeface="Arial"/>
              </a:rPr>
              <a:t>Сглаживание редких признаков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788920"/>
            <a:ext cx="3986784" cy="1536192"/>
          </a:xfrm>
          <a:prstGeom prst="round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" y="2907791"/>
            <a:ext cx="369417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18C78"/>
                </a:solidFill>
                <a:latin typeface="Arial"/>
              </a:defRPr>
            </a:pPr>
            <a:r>
              <a:rPr sz="1800" b="1">
                <a:solidFill>
                  <a:srgbClr val="118C78"/>
                </a:solidFill>
                <a:latin typeface="Arial"/>
              </a:rPr>
              <a:t>LogisticRegression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19272"/>
            <a:ext cx="3694176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20" b="0">
                <a:solidFill>
                  <a:srgbClr val="17263A"/>
                </a:solidFill>
                <a:latin typeface="Arial"/>
              </a:defRPr>
            </a:pPr>
            <a:r>
              <a:rPr sz="1420" b="0">
                <a:solidFill>
                  <a:srgbClr val="17263A"/>
                </a:solidFill>
                <a:latin typeface="Arial"/>
              </a:rPr>
              <a:t>C = 0,5 и 2,0</a:t>
            </a:r>
          </a:p>
          <a:p>
            <a:pPr algn="l">
              <a:spcAft>
                <a:spcPts val="500"/>
              </a:spcAft>
              <a:defRPr sz="1420" b="0">
                <a:solidFill>
                  <a:srgbClr val="17263A"/>
                </a:solidFill>
                <a:latin typeface="Arial"/>
              </a:defRPr>
            </a:pPr>
            <a:r>
              <a:rPr sz="1420" b="0">
                <a:solidFill>
                  <a:srgbClr val="17263A"/>
                </a:solidFill>
                <a:latin typeface="Arial"/>
              </a:rPr>
              <a:t>Меньший C — сильнее регуляризация</a:t>
            </a:r>
          </a:p>
          <a:p>
            <a:pPr algn="l">
              <a:spcAft>
                <a:spcPts val="500"/>
              </a:spcAft>
              <a:defRPr sz="1420" b="0">
                <a:solidFill>
                  <a:srgbClr val="17263A"/>
                </a:solidFill>
                <a:latin typeface="Arial"/>
              </a:defRPr>
            </a:pPr>
            <a:r>
              <a:rPr sz="1420" b="0">
                <a:solidFill>
                  <a:srgbClr val="17263A"/>
                </a:solidFill>
                <a:latin typeface="Arial"/>
              </a:rPr>
              <a:t>Вес ham вдвое выше веса spam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2788920"/>
            <a:ext cx="3986784" cy="1536192"/>
          </a:xfrm>
          <a:prstGeom prst="round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846320" y="2907791"/>
            <a:ext cx="369417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D43B68"/>
                </a:solidFill>
                <a:latin typeface="Arial"/>
              </a:defRPr>
            </a:pPr>
            <a:r>
              <a:rPr sz="1800" b="1">
                <a:solidFill>
                  <a:srgbClr val="D43B68"/>
                </a:solidFill>
                <a:latin typeface="Arial"/>
              </a:rPr>
              <a:t>LinearSVC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319272"/>
            <a:ext cx="3694176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420" b="0">
                <a:solidFill>
                  <a:srgbClr val="17263A"/>
                </a:solidFill>
                <a:latin typeface="Arial"/>
              </a:defRPr>
            </a:pPr>
            <a:r>
              <a:rPr sz="1420" b="0">
                <a:solidFill>
                  <a:srgbClr val="17263A"/>
                </a:solidFill>
                <a:latin typeface="Arial"/>
              </a:rPr>
              <a:t>C = 1,0; вес ham = 2</a:t>
            </a:r>
          </a:p>
          <a:p>
            <a:pPr algn="l">
              <a:spcAft>
                <a:spcPts val="500"/>
              </a:spcAft>
              <a:defRPr sz="1420" b="0">
                <a:solidFill>
                  <a:srgbClr val="17263A"/>
                </a:solidFill>
                <a:latin typeface="Arial"/>
              </a:defRPr>
            </a:pPr>
            <a:r>
              <a:rPr sz="1420" b="0">
                <a:solidFill>
                  <a:srgbClr val="17263A"/>
                </a:solidFill>
                <a:latin typeface="Arial"/>
              </a:rPr>
              <a:t>Разделяющая граница с зазором</a:t>
            </a:r>
          </a:p>
          <a:p>
            <a:pPr algn="l">
              <a:spcAft>
                <a:spcPts val="500"/>
              </a:spcAft>
              <a:defRPr sz="1420" b="0">
                <a:solidFill>
                  <a:srgbClr val="17263A"/>
                </a:solidFill>
                <a:latin typeface="Arial"/>
              </a:defRPr>
            </a:pPr>
            <a:r>
              <a:rPr sz="1420" b="0">
                <a:solidFill>
                  <a:srgbClr val="17263A"/>
                </a:solidFill>
                <a:latin typeface="Arial"/>
              </a:rPr>
              <a:t>Выход — margin, не вероятность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339327" cy="521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7263A"/>
                </a:solidFill>
                <a:latin typeface="Arial"/>
              </a:defRPr>
            </a:pPr>
            <a:r>
              <a:rPr sz="2600" b="1">
                <a:solidFill>
                  <a:srgbClr val="17263A"/>
                </a:solidFill>
                <a:latin typeface="Arial"/>
              </a:rPr>
              <a:t>Кросс-валидация: качество при стандартных порогах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95528"/>
            <a:ext cx="8339327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877824"/>
            <a:ext cx="8275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250" b="0">
                <a:solidFill>
                  <a:srgbClr val="607087"/>
                </a:solidFill>
                <a:latin typeface="Arial"/>
              </a:defRPr>
            </a:pPr>
            <a:r>
              <a:rPr sz="1250" b="0">
                <a:solidFill>
                  <a:srgbClr val="607087"/>
                </a:solidFill>
                <a:latin typeface="Arial"/>
              </a:rPr>
              <a:t>Средние значения по 5 фолдам внутри train. Порог NB/LR — 0,5; SVC — 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4818888"/>
            <a:ext cx="781812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07087"/>
                </a:solidFill>
                <a:latin typeface="Arial"/>
              </a:defRPr>
            </a:pPr>
            <a:r>
              <a:rPr sz="900" b="0">
                <a:solidFill>
                  <a:srgbClr val="607087"/>
                </a:solidFill>
                <a:latin typeface="Arial"/>
              </a:rPr>
              <a:t>МКБ251  •  Городилова И. С.  •  CV</a:t>
            </a:r>
          </a:p>
        </p:txBody>
      </p:sp>
      <p:sp>
        <p:nvSpPr>
          <p:cNvPr id="6" name="slide_pager"/>
          <p:cNvSpPr txBox="1"/>
          <p:nvPr/>
        </p:nvSpPr>
        <p:spPr>
          <a:xfrm>
            <a:off x="8275320" y="479145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07087"/>
                </a:solidFill>
                <a:latin typeface="Arial"/>
              </a:defRPr>
            </a:p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3192" y="1316736"/>
          <a:ext cx="8321040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1188720"/>
                <a:gridCol w="1143000"/>
                <a:gridCol w="960120"/>
                <a:gridCol w="960120"/>
                <a:gridCol w="1280160"/>
              </a:tblGrid>
              <a:tr h="3749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80" b="1">
                          <a:solidFill>
                            <a:srgbClr val="FFFFFF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 marL="91440" marR="64008" marT="59436" marB="32004" anchor="ctr"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80" b="1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 marL="91440" marR="64008" marT="59436" marB="32004" anchor="ctr"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8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91440" marR="64008" marT="59436" marB="32004" anchor="ctr"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80" b="1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91440" marR="64008" marT="59436" marB="32004" anchor="ctr"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80" b="1">
                          <a:solidFill>
                            <a:srgbClr val="FFFFFF"/>
                          </a:solidFill>
                          <a:latin typeface="Arial"/>
                        </a:rPr>
                        <a:t>F0.5</a:t>
                      </a:r>
                    </a:p>
                  </a:txBody>
                  <a:tcPr marL="91440" marR="64008" marT="59436" marB="32004" anchor="ctr"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80" b="1">
                          <a:solidFill>
                            <a:srgbClr val="FFFFFF"/>
                          </a:solidFill>
                          <a:latin typeface="Arial"/>
                        </a:rPr>
                        <a:t>FPR</a:t>
                      </a:r>
                    </a:p>
                  </a:txBody>
                  <a:tcPr marL="91440" marR="64008" marT="59436" marB="32004" anchor="ctr">
                    <a:solidFill>
                      <a:srgbClr val="0066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80" b="1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1">
                          <a:solidFill>
                            <a:srgbClr val="17263A"/>
                          </a:solidFill>
                          <a:latin typeface="Arial"/>
                        </a:rPr>
                        <a:t>ComplementNB, α=1,0</a:t>
                      </a:r>
                    </a:p>
                  </a:txBody>
                  <a:tcPr marL="91440" marR="64008" marT="59436" marB="32004" anchor="ctr">
                    <a:solidFill>
                      <a:srgbClr val="E9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1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1">
                          <a:solidFill>
                            <a:srgbClr val="17263A"/>
                          </a:solidFill>
                          <a:latin typeface="Arial"/>
                        </a:rPr>
                        <a:t>99,75%</a:t>
                      </a:r>
                    </a:p>
                  </a:txBody>
                  <a:tcPr marL="91440" marR="64008" marT="59436" marB="32004" anchor="ctr">
                    <a:solidFill>
                      <a:srgbClr val="E9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1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1">
                          <a:solidFill>
                            <a:srgbClr val="17263A"/>
                          </a:solidFill>
                          <a:latin typeface="Arial"/>
                        </a:rPr>
                        <a:t>85,20%</a:t>
                      </a:r>
                    </a:p>
                  </a:txBody>
                  <a:tcPr marL="91440" marR="64008" marT="59436" marB="32004" anchor="ctr">
                    <a:solidFill>
                      <a:srgbClr val="E9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1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1">
                          <a:solidFill>
                            <a:srgbClr val="17263A"/>
                          </a:solidFill>
                          <a:latin typeface="Arial"/>
                        </a:rPr>
                        <a:t>0,9188</a:t>
                      </a:r>
                    </a:p>
                  </a:txBody>
                  <a:tcPr marL="91440" marR="64008" marT="59436" marB="32004" anchor="ctr">
                    <a:solidFill>
                      <a:srgbClr val="E9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1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1">
                          <a:solidFill>
                            <a:srgbClr val="17263A"/>
                          </a:solidFill>
                          <a:latin typeface="Arial"/>
                        </a:rPr>
                        <a:t>0,9644</a:t>
                      </a:r>
                    </a:p>
                  </a:txBody>
                  <a:tcPr marL="91440" marR="64008" marT="59436" marB="32004" anchor="ctr">
                    <a:solidFill>
                      <a:srgbClr val="E9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1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1">
                          <a:solidFill>
                            <a:srgbClr val="17263A"/>
                          </a:solidFill>
                          <a:latin typeface="Arial"/>
                        </a:rPr>
                        <a:t>0,081%</a:t>
                      </a:r>
                    </a:p>
                  </a:txBody>
                  <a:tcPr marL="91440" marR="64008" marT="59436" marB="32004" anchor="ctr">
                    <a:solidFill>
                      <a:srgbClr val="E9F6F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LogReg, C=2,0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99,00%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82,36%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0,8989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0,9513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0,324%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LogReg, C=0,5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100,00%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56,40%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0,7208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0,8657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0,000%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LinearSVC, C=1,0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98,09%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93,93%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0,9594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0,9722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0,729%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ComplementNB, α=0,5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98,11%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93,11%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0,9551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0,9705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0,729%</a:t>
                      </a:r>
                    </a:p>
                  </a:txBody>
                  <a:tcPr marL="91440" marR="64008" marT="59436" marB="32004" anchor="ctr">
                    <a:solidFill>
                      <a:srgbClr val="F3F6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Dummy: всегда ham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0,00%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0,0000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0,0000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80" b="0">
                          <a:solidFill>
                            <a:srgbClr val="17263A"/>
                          </a:solidFill>
                          <a:latin typeface="Arial"/>
                        </a:defRPr>
                      </a:pPr>
                      <a:r>
                        <a:rPr sz="1280" b="0">
                          <a:solidFill>
                            <a:srgbClr val="17263A"/>
                          </a:solidFill>
                          <a:latin typeface="Arial"/>
                        </a:rPr>
                        <a:t>0,000%</a:t>
                      </a:r>
                    </a:p>
                  </a:txBody>
                  <a:tcPr marL="91440" marR="64008" marT="59436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8056" y="4096512"/>
            <a:ext cx="821131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50" b="1">
                <a:solidFill>
                  <a:srgbClr val="17263A"/>
                </a:solidFill>
                <a:latin typeface="Arial"/>
              </a:defRPr>
            </a:pPr>
            <a:r>
              <a:rPr sz="1350" b="1">
                <a:solidFill>
                  <a:srgbClr val="17263A"/>
                </a:solidFill>
                <a:latin typeface="Arial"/>
              </a:rPr>
              <a:t>LinearSVC показал лучший F1. ComplementNB α=1,0 выбран по ограничениям на Precision и FPR.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339327" cy="521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7263A"/>
                </a:solidFill>
                <a:latin typeface="Arial"/>
              </a:defRPr>
            </a:pPr>
            <a:r>
              <a:rPr sz="2600" b="1">
                <a:solidFill>
                  <a:srgbClr val="17263A"/>
                </a:solidFill>
                <a:latin typeface="Arial"/>
              </a:rPr>
              <a:t>Почему выбран ComplementNB, хотя F1 у SVC выше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95528"/>
            <a:ext cx="8339327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4818888"/>
            <a:ext cx="781812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07087"/>
                </a:solidFill>
                <a:latin typeface="Arial"/>
              </a:defRPr>
            </a:pPr>
            <a:r>
              <a:rPr sz="900" b="0">
                <a:solidFill>
                  <a:srgbClr val="607087"/>
                </a:solidFill>
                <a:latin typeface="Arial"/>
              </a:rPr>
              <a:t>МКБ251  •  Городилова И. С.  •  Выбор</a:t>
            </a:r>
          </a:p>
        </p:txBody>
      </p:sp>
      <p:sp>
        <p:nvSpPr>
          <p:cNvPr id="5" name="slide_pager"/>
          <p:cNvSpPr txBox="1"/>
          <p:nvPr/>
        </p:nvSpPr>
        <p:spPr>
          <a:xfrm>
            <a:off x="8275320" y="479145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07087"/>
                </a:solidFill>
                <a:latin typeface="Arial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38912" y="1069848"/>
            <a:ext cx="8174736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0066FF"/>
                </a:solidFill>
                <a:latin typeface="Arial"/>
              </a:defRPr>
            </a:pPr>
            <a:r>
              <a:rPr sz="2300" b="1">
                <a:solidFill>
                  <a:srgbClr val="0066FF"/>
                </a:solidFill>
                <a:latin typeface="Arial"/>
              </a:rPr>
              <a:t>Сначала ограничения:</a:t>
            </a:r>
          </a:p>
          <a:p>
            <a:pPr algn="l">
              <a:spcAft>
                <a:spcPts val="500"/>
              </a:spcAft>
              <a:defRPr sz="2300" b="1">
                <a:solidFill>
                  <a:srgbClr val="0066FF"/>
                </a:solidFill>
                <a:latin typeface="Arial"/>
              </a:defRPr>
            </a:pPr>
            <a:r>
              <a:rPr sz="2300" b="1">
                <a:solidFill>
                  <a:srgbClr val="0066FF"/>
                </a:solidFill>
                <a:latin typeface="Arial"/>
              </a:rPr>
              <a:t>средний Precision ≥ 99% и FPR ≤ 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066543"/>
            <a:ext cx="8174736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7263A"/>
                </a:solidFill>
                <a:latin typeface="Arial"/>
              </a:defRPr>
            </a:pPr>
            <a:r>
              <a:rPr sz="2100" b="1">
                <a:solidFill>
                  <a:srgbClr val="17263A"/>
                </a:solidFill>
                <a:latin typeface="Arial"/>
              </a:rPr>
              <a:t>Затем — максимальный средний F0.5</a:t>
            </a:r>
          </a:p>
          <a:p>
            <a:pPr algn="l">
              <a:spcAft>
                <a:spcPts val="500"/>
              </a:spcAft>
              <a:defRPr sz="2100" b="1">
                <a:solidFill>
                  <a:srgbClr val="17263A"/>
                </a:solidFill>
                <a:latin typeface="Arial"/>
              </a:defRPr>
            </a:pPr>
            <a:r>
              <a:rPr sz="2100" b="1">
                <a:solidFill>
                  <a:srgbClr val="17263A"/>
                </a:solidFill>
                <a:latin typeface="Arial"/>
              </a:rPr>
              <a:t>среди допустимых кандидатов.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3081528"/>
            <a:ext cx="8174736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18C78"/>
                </a:solidFill>
                <a:latin typeface="Arial"/>
              </a:defRPr>
            </a:pPr>
            <a:r>
              <a:rPr sz="1700" b="1">
                <a:solidFill>
                  <a:srgbClr val="118C78"/>
                </a:solidFill>
                <a:latin typeface="Arial"/>
              </a:rPr>
              <a:t>Победитель: ComplementNB, alpha = 1,0</a:t>
            </a:r>
          </a:p>
          <a:p>
            <a:pPr algn="l">
              <a:spcAft>
                <a:spcPts val="500"/>
              </a:spcAft>
              <a:defRPr sz="1700" b="1">
                <a:solidFill>
                  <a:srgbClr val="118C78"/>
                </a:solidFill>
                <a:latin typeface="Arial"/>
              </a:defRPr>
            </a:pPr>
            <a:r>
              <a:rPr sz="1700" b="1">
                <a:solidFill>
                  <a:srgbClr val="118C78"/>
                </a:solidFill>
                <a:latin typeface="Arial"/>
              </a:rPr>
              <a:t>F0.5 = 0,9644; повышенный приоритет Precision.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" y="4078224"/>
            <a:ext cx="8321040" cy="4846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500"/>
              </a:spcAft>
              <a:defRPr sz="1800" b="0">
                <a:solidFill>
                  <a:srgbClr val="17263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30352" y="4160520"/>
            <a:ext cx="8037575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  <a:defRPr sz="1320" b="1">
                <a:solidFill>
                  <a:srgbClr val="0066FF"/>
                </a:solidFill>
                <a:latin typeface="Arial"/>
              </a:defRPr>
            </a:pPr>
            <a:r>
              <a:rPr sz="1320" b="1">
                <a:solidFill>
                  <a:srgbClr val="0066FF"/>
                </a:solidFill>
                <a:latin typeface="Arial"/>
              </a:rPr>
              <a:t>Порог отдельно настроен только победителю. Такой же анализ для всех моделей — следующий шаг.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41" name="Google Shape;341;p42"/>
          <p:cNvGrpSpPr/>
          <p:nvPr/>
        </p:nvGrpSpPr>
        <p:grpSpPr bwMode="auto">
          <a:xfrm>
            <a:off x="8549243" y="4536459"/>
            <a:ext cx="258577" cy="265368"/>
            <a:chOff x="238125" y="2432825"/>
            <a:chExt cx="779549" cy="781875"/>
          </a:xfrm>
        </p:grpSpPr>
        <p:sp>
          <p:nvSpPr>
            <p:cNvPr id="342" name="Google Shape;342;p42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43" name="Google Shape;343;p42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44" name="Google Shape;344;p42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45" name="Google Shape;345;p42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46" name="Google Shape;346;p42"/>
          <p:cNvSpPr txBox="1"/>
          <p:nvPr/>
        </p:nvSpPr>
        <p:spPr bwMode="auto">
          <a:xfrm>
            <a:off x="319074" y="294016"/>
            <a:ext cx="8566500" cy="16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r>
              <a:rPr lang="en-US"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Спасибо за внимание!</a:t>
            </a: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38100" marR="0" lvl="0" indent="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pP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RO_presentation">
  <a:themeElements>
    <a:clrScheme name="PRO_presentation">
      <a:dk1>
        <a:srgbClr val="000000"/>
      </a:dk1>
      <a:lt1>
        <a:srgbClr val="FFFFFF"/>
      </a:lt1>
      <a:dk2>
        <a:srgbClr val="FFFFFF"/>
      </a:dk2>
      <a:lt2>
        <a:srgbClr val="27282D"/>
      </a:lt2>
      <a:accent1>
        <a:srgbClr val="217AFF"/>
      </a:accent1>
      <a:accent2>
        <a:srgbClr val="0066FF"/>
      </a:accent2>
      <a:accent3>
        <a:srgbClr val="4BD0A0"/>
      </a:accent3>
      <a:accent4>
        <a:srgbClr val="DE3773"/>
      </a:accent4>
      <a:accent5>
        <a:srgbClr val="8261EE"/>
      </a:accent5>
      <a:accent6>
        <a:srgbClr val="F3F4F7"/>
      </a:accent6>
      <a:hlink>
        <a:srgbClr val="0066FF"/>
      </a:hlink>
      <a:folHlink>
        <a:srgbClr val="0066FF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R7-Office/2024.1.1.375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