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74" r:id="rId6"/>
    <p:sldId id="275" r:id="rId7"/>
    <p:sldId id="276" r:id="rId8"/>
    <p:sldId id="277" r:id="rId9"/>
    <p:sldId id="278" r:id="rId10"/>
    <p:sldId id="279" r:id="rId11"/>
    <p:sldId id="280" r:id="rId12"/>
    <p:sldId id="281" r:id="rId13"/>
    <p:sldId id="282" r:id="rId14"/>
    <p:sldId id="272" r:id="rId15"/>
    <p:sldId id="283" r:id="rId23"/>
    <p:sldId id="284" r:id="rId24"/>
    <p:sldId id="285" r:id="rId25"/>
    <p:sldId id="286" r:id="rId26"/>
    <p:sldId id="287" r:id="rId27"/>
    <p:sldId id="288" r:id="rId28"/>
    <p:sldId id="289" r:id="rId29"/>
    <p:sldId id="290" r:id="rId30"/>
    <p:sldId id="273" r:id="rId5"/>
    <p:sldId id="291" r:id="rId31"/>
    <p:sldId id="292" r:id="rId32"/>
    <p:sldId id="293" r:id="rId33"/>
  </p:sldIdLst>
  <p:sldSz cx="9144000" cy="5143500"/>
  <p:notesSz cx="9144000" cy="5143500"/>
  <p:embeddedFontLst>
    <p:embeddedFont>
      <p:font typeface="Calibri" panose="020F0502020204030204"/>
      <p:regular r:id="rId19"/>
      <p:bold r:id="rId20"/>
      <p:italic r:id="rId21"/>
      <p:boldItalic r:id="rId22"/>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1pPr>
    <a:lvl2pPr marR="0" lvl="1"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2pPr>
    <a:lvl3pPr marR="0" lvl="2"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3pPr>
    <a:lvl4pPr marR="0" lvl="3"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4pPr>
    <a:lvl5pPr marR="0" lvl="4"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5pPr>
    <a:lvl6pPr marR="0" lvl="5"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6pPr>
    <a:lvl7pPr marR="0" lvl="6"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7pPr>
    <a:lvl8pPr marR="0" lvl="7"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8pPr>
    <a:lvl9pPr marR="0" lvl="8"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9pPr>
  </p:defaultTextStyle>
  <p:extLst>
    <p:ext uri="{EFAFB233-063F-42B5-8137-9DF3F51BA10A}">
      <p15:sldGuideLst xmlns:p15="http://schemas.microsoft.com/office/powerpoint/2012/main">
        <p15:guide id="1" pos="2880" userDrawn="1">
          <p15:clr>
            <a:srgbClr val="A4A3A4"/>
          </p15:clr>
        </p15:guide>
        <p15:guide id="2"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6" d="112"/>
          <a:sy n="116" d="112"/>
        </p:scale>
        <p:origin x="114" y="101"/>
      </p:cViewPr>
      <p:guideLst>
        <p:guide pos="2880"/>
        <p:guide orient="horz" pos="162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1" i="0" u="none" strike="noStrike" kern="1200" baseline="0">
                <a:solidFill>
                  <a:schemeClr val="tx1"/>
                </a:solidFill>
                <a:latin typeface="Arial" panose="020B0604020202020204"/>
                <a:ea typeface="+mn-ea"/>
                <a:cs typeface="+mn-cs"/>
              </a:defRPr>
            </a:pPr>
            <a:r>
              <a:t>HTML встречается и в обычной почте</a:t>
            </a:r>
          </a:p>
        </c:rich>
      </c:tx>
      <c:layout/>
      <c:overlay val="0"/>
    </c:title>
    <c:autoTitleDeleted val="0"/>
    <c:plotArea>
      <c:layout/>
      <c:barChart>
        <c:barDir val="bar"/>
        <c:grouping val="clustered"/>
        <c:varyColors val="0"/>
        <c:ser>
          <c:idx val="0"/>
          <c:order val="0"/>
          <c:tx>
            <c:strRef>
              <c:f>Sheet1!$B$1</c:f>
              <c:strCache>
                <c:ptCount val="1"/>
                <c:pt idx="0">
                  <c:v>Доля писем с HTML</c:v>
                </c:pt>
              </c:strCache>
            </c:strRef>
          </c:tx>
          <c:spPr>
            <a:solidFill>
              <a:srgbClr val="0066FF"/>
            </a:solidFill>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Sheet1!$A$2:$A$4</c:f>
              <c:strCache>
                <c:ptCount val="3"/>
                <c:pt idx="0">
                  <c:v>easy_ham</c:v>
                </c:pt>
                <c:pt idx="1">
                  <c:v>hard_ham</c:v>
                </c:pt>
                <c:pt idx="2">
                  <c:v>spam_2</c:v>
                </c:pt>
              </c:strCache>
            </c:strRef>
          </c:cat>
          <c:val>
            <c:numRef>
              <c:f>Sheet1!$B$2:$B$4</c:f>
              <c:numCache>
                <c:formatCode>General</c:formatCode>
                <c:ptCount val="3"/>
                <c:pt idx="0">
                  <c:v>0.00362976406533575</c:v>
                </c:pt>
                <c:pt idx="1">
                  <c:v>0.694656488549618</c:v>
                </c:pt>
                <c:pt idx="2">
                  <c:v>0.545638945233266</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l"/>
        <c:majorTickMark val="out"/>
        <c:minorTickMark val="none"/>
        <c:tickLblPos val="nextTo"/>
        <c:txPr>
          <a:bodyPr rot="-60000000" spcFirstLastPara="0" vertOverflow="ellipsis" vert="horz" wrap="square" anchor="ctr" anchorCtr="1"/>
          <a:lstStyle/>
          <a:p>
            <a:pPr>
              <a:defRPr lang="en-US" sz="12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
          <c:min val="0"/>
        </c:scaling>
        <c:delete val="0"/>
        <c:axPos val="b"/>
        <c:majorGridlines/>
        <c:numFmt formatCode="0%" sourceLinked="0"/>
        <c:majorTickMark val="out"/>
        <c:minorTickMark val="none"/>
        <c:tickLblPos val="nextTo"/>
        <c:txPr>
          <a:bodyPr rot="-6000000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7119bd6b-3cc6-47c2-8b1e-cf738d652671}"/>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3" name="Google Shape;3;n"/>
          <p:cNvSpPr txBox="1"/>
          <p:nvPr>
            <p:ph type="hdr" idx="2"/>
          </p:nvPr>
        </p:nvSpPr>
        <p:spPr bwMode="auto">
          <a:xfrm>
            <a:off x="0" y="0"/>
            <a:ext cx="2971800" cy="458788"/>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defRPr>
            </a:lvl1pPr>
            <a:lvl2pPr marR="0" lvl="1"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2pPr>
            <a:lvl3pPr marR="0" lvl="2"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3pPr>
            <a:lvl4pPr marR="0" lvl="3"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4pPr>
            <a:lvl5pPr marR="0" lvl="4"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5pPr>
            <a:lvl6pPr marR="0" lvl="5"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6pPr>
            <a:lvl7pPr marR="0" lvl="6"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7pPr>
            <a:lvl8pPr marR="0" lvl="7"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8pPr>
            <a:lvl9pPr marR="0" lvl="8"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9pPr>
          </a:lstStyle>
          <a:p>
            <a:pPr>
              <a:defRPr/>
            </a:pPr>
          </a:p>
        </p:txBody>
      </p:sp>
      <p:sp>
        <p:nvSpPr>
          <p:cNvPr id="4" name="Google Shape;4;n"/>
          <p:cNvSpPr txBox="1"/>
          <p:nvPr>
            <p:ph type="dt" idx="10"/>
          </p:nvPr>
        </p:nvSpPr>
        <p:spPr bwMode="auto">
          <a:xfrm>
            <a:off x="3884613" y="0"/>
            <a:ext cx="2971800" cy="458788"/>
          </a:xfrm>
          <a:prstGeom prst="rect">
            <a:avLst/>
          </a:prstGeom>
          <a:noFill/>
          <a:ln>
            <a:noFill/>
          </a:ln>
        </p:spPr>
        <p:txBody>
          <a:bodyPr spcFirstLastPara="1" wrap="square" lIns="91425" tIns="45700" rIns="91425" bIns="45700" anchor="t" anchorCtr="0">
            <a:noAutofit/>
          </a:bodyPr>
          <a:lstStyle>
            <a:lvl1pPr marR="0" lvl="0" algn="r">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defRPr>
            </a:lvl1pPr>
            <a:lvl2pPr marR="0" lvl="1"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2pPr>
            <a:lvl3pPr marR="0" lvl="2"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3pPr>
            <a:lvl4pPr marR="0" lvl="3"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4pPr>
            <a:lvl5pPr marR="0" lvl="4"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5pPr>
            <a:lvl6pPr marR="0" lvl="5"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6pPr>
            <a:lvl7pPr marR="0" lvl="6"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7pPr>
            <a:lvl8pPr marR="0" lvl="7"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8pPr>
            <a:lvl9pPr marR="0" lvl="8"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9pPr>
          </a:lstStyle>
          <a:p>
            <a:pPr>
              <a:defRPr/>
            </a:pPr>
          </a:p>
        </p:txBody>
      </p:sp>
      <p:sp>
        <p:nvSpPr>
          <p:cNvPr id="5" name="Google Shape;5;n"/>
          <p:cNvSpPr/>
          <p:nvPr>
            <p:ph type="sldImg" idx="3"/>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1pPr>
            <a:lvl2pPr marL="914400" marR="0" lvl="1"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2pPr>
            <a:lvl3pPr marL="1371600" marR="0" lvl="2"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3pPr>
            <a:lvl4pPr marL="1828800" marR="0" lvl="3"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4pPr>
            <a:lvl5pPr marL="2286000" marR="0" lvl="4"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5pPr>
            <a:lvl6pPr marL="2743200" marR="0" lvl="5"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6pPr>
            <a:lvl7pPr marL="3200400" marR="0" lvl="6"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7pPr>
            <a:lvl8pPr marL="3657600" marR="0" lvl="7"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8pPr>
            <a:lvl9pPr marL="4114800" marR="0" lvl="8" indent="-228600" algn="l">
              <a:lnSpc>
                <a:spcPct val="100000"/>
              </a:lnSpc>
              <a:spcBef>
                <a:spcPts val="0"/>
              </a:spcBef>
              <a:spcAft>
                <a:spcPts val="0"/>
              </a:spcAft>
              <a:buClr>
                <a:srgbClr val="000000"/>
              </a:buClr>
              <a:buSzPts val="1400"/>
              <a:buFont typeface="Arial" panose="020B0604020202020204"/>
              <a:buNone/>
              <a:defRPr sz="900" b="0" i="0" u="none" strike="noStrike" cap="none">
                <a:solidFill>
                  <a:schemeClr val="dk1"/>
                </a:solidFill>
                <a:latin typeface="Calibri" panose="020F0502020204030204"/>
                <a:ea typeface="Calibri" panose="020F0502020204030204"/>
                <a:cs typeface="Calibri" panose="020F0502020204030204"/>
              </a:defRPr>
            </a:lvl9pPr>
          </a:lstStyle>
          <a:p>
            <a:pPr>
              <a:defRPr/>
            </a:pPr>
          </a:p>
        </p:txBody>
      </p:sp>
      <p:sp>
        <p:nvSpPr>
          <p:cNvPr id="7" name="Google Shape;7;n"/>
          <p:cNvSpPr txBox="1"/>
          <p:nvPr>
            <p:ph type="ftr" idx="11"/>
          </p:nvPr>
        </p:nvSpPr>
        <p:spPr bwMode="auto">
          <a:xfrm>
            <a:off x="0" y="8685213"/>
            <a:ext cx="2971800" cy="458787"/>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defRPr>
            </a:lvl1pPr>
            <a:lvl2pPr marR="0" lvl="1"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2pPr>
            <a:lvl3pPr marR="0" lvl="2"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3pPr>
            <a:lvl4pPr marR="0" lvl="3"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4pPr>
            <a:lvl5pPr marR="0" lvl="4"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5pPr>
            <a:lvl6pPr marR="0" lvl="5"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6pPr>
            <a:lvl7pPr marR="0" lvl="6"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7pPr>
            <a:lvl8pPr marR="0" lvl="7"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8pPr>
            <a:lvl9pPr marR="0" lvl="8" algn="l">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defRPr>
            </a:lvl9pPr>
          </a:lstStyle>
          <a:p>
            <a:pPr>
              <a:defRPr/>
            </a:pPr>
          </a:p>
        </p:txBody>
      </p:sp>
      <p:sp>
        <p:nvSpPr>
          <p:cNvPr id="8" name="Google Shape;8;n"/>
          <p:cNvSpPr txBox="1"/>
          <p:nvPr>
            <p:ph type="sldNum" idx="12"/>
          </p:nvPr>
        </p:nvSpPr>
        <p:spPr bwMode="auto">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a:lnSpc>
                <a:spcPct val="100000"/>
              </a:lnSpc>
              <a:spcBef>
                <a:spcPts val="0"/>
              </a:spcBef>
              <a:spcAft>
                <a:spcPts val="0"/>
              </a:spcAft>
              <a:buClr>
                <a:srgbClr val="000000"/>
              </a:buClr>
              <a:buSzPts val="1200"/>
              <a:buFont typeface="Arial" panose="020B0604020202020204"/>
              <a:buNone/>
              <a:defRPr/>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1pPr>
    <a:lvl2pPr marR="0" lvl="1"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2pPr>
    <a:lvl3pPr marR="0" lvl="2"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3pPr>
    <a:lvl4pPr marR="0" lvl="3"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4pPr>
    <a:lvl5pPr marR="0" lvl="4"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5pPr>
    <a:lvl6pPr marR="0" lvl="5"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6pPr>
    <a:lvl7pPr marR="0" lvl="6"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7pPr>
    <a:lvl8pPr marR="0" lvl="7"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8pPr>
    <a:lvl9pPr marR="0" lvl="8"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
        <p:cNvGrpSpPr/>
        <p:nvPr/>
      </p:nvGrpSpPr>
      <p:grpSpPr bwMode="auto">
        <a:xfrm>
          <a:off x="0" y="0"/>
          <a:ext cx="0" cy="0"/>
          <a:chOff x="0" y="0"/>
          <a:chExt cx="0" cy="0"/>
        </a:xfrm>
      </p:grpSpPr>
      <p:sp>
        <p:nvSpPr>
          <p:cNvPr id="111" name="Google Shape;111;p3:notes"/>
          <p:cNvSpPr/>
          <p:nvPr>
            <p:ph type="sldImg" idx="2"/>
          </p:nvPr>
        </p:nvSpPr>
        <p:spPr bwMode="auto">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3:notes"/>
          <p:cNvSpPr txBox="1"/>
          <p:nvPr>
            <p:ph type="body" idx="1"/>
          </p:nvPr>
        </p:nvSpPr>
        <p:spPr bwMode="auto">
          <a:xfrm>
            <a:off x="1028700" y="8686800"/>
            <a:ext cx="8229600" cy="8229600"/>
          </a:xfrm>
          <a:prstGeom prst="rect">
            <a:avLst/>
          </a:prstGeom>
          <a:noFill/>
          <a:ln>
            <a:noFill/>
          </a:ln>
        </p:spPr>
        <p:txBody>
          <a:bodyPr spcFirstLastPara="1" wrap="square" lIns="152375" tIns="152375" rIns="152375" bIns="152375" anchor="t" anchorCtr="0">
            <a:noAutofit/>
          </a:bodyPr>
          <a:lstStyle/>
          <a:p>
            <a:r>
              <a:t>Представляю итоговую работу по применению машинного обучения в кибербезопасности. Мы подготовили данные, сравнили несколько антиспам-моделей и упаковали выбранное решение в Docker-сервис. Главный вопрос работы — как уменьшить ложные блокировки полезных писем и какую цену за это приходится платить полнотой обнаружения спама.</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Основной вывод работы: итоговое поведение антиспама определяется совместно моделью и порогом. Мы сделали приоритет сохранения полезной почты явным и показали его цену — снижение полноты обнаружения спама. Спасибо за внимание, готова ответить на вопросы.</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Работа охватывает подготовку данных, исследование, сравнение моделей и инженерную упаковку. Эти функции соответствуют аналитической роли, Data Engineering, Data Science и ML Engineering. Готовы основной ноутбук, воспроизводимый код обучения, сохранённая модель и работающий Docker-контейнер. Публичный хостинг пока не выполнялся.</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Для обучения объединены easy_ham, hard_ham и spam_2 — всего 4197 писем. Это три подкорпуса SpamAssassin, а не три независимых по происхождению датасета. Hard_ham особенно важен для нашей задачи: он содержит полезные письма, похожие на спам. Внешний контроль получен по ссылке из задания; в нём 600 обычных и 1000 спам-писем.</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Мы исключили служебные файлы macOS, повторы и конфликтующие метки. Один парсер декодирует MIME и извлекает тему и тело, предпочитая обычный текст. Вложения в признаки не входят. Служебные заголовки X-Spam-Status исключены, поскольку могут раскрывать готовую метку. После очистки осталось 3834 письма. Затем обнаружено 956 пересечений с полным внешним контролем. Их удалили из обучающих корпусов до разбиения; осталось 2878 писем.</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EDA включал баланс классов, длину текста, выбросы, HTML, ссылки, регистр, характерные слова и корреляции. На графике видно, что HTML встречается и в полезной почте, особенно в hard_ham. Медианное число ссылок составило два для ham и четыре для spam; медианная длина — 141 и 161 слово. Статистические различия обнаружены, но они не означают, что простое правило по одному признаку даст хорошую классификацию. Длинные письма и HTML автоматически не удалялись.</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Данные разделены примерно в пропорции 60 на 20 на 20 процентов, со стратификацией по исходному набору. На train выполнялись EDA и пятикратная кросс-валидация. Векторизатор включён в Pipeline и обучается только на тренировочной части каждого фолда. Validation используется для выбора порога. Внутренний и внешний тесты применяются после фиксации решения. После выбора порога модель не переобучалась на train вместе с validation, чтобы не изменить шкалу её оценок.</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Текст преобразуется в разреженный TF-IDF-вектор. Используются отдельные слова и биграммы, словарь ограничен 30 тысячами признаков. Сублинейная частота уменьшает влияние повторения одного слова. ComplementNB рассчитывает веса признаков по статистике остальных классов. Сглаживание alpha, равное единице, помогает обрабатывать редкие слова. В сервис сохраняется весь Pipeline вместе со словарём и порогом. Оценки модели не проходили отдельную калибровку вероятностей.</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Исследованы четыре семейства алгоритмов и шесть конфигураций. Dummy всегда отвечает ham и показывает бесполезность оптимизации только по FP. Для ComplementNB сравнили alpha 0,5 и 1,0. Для логистической регрессии сравнили C 0,5 и 2,0: меньшее C означает более сильную регуляризацию. Логистической регрессии и SVM назначен повышенный вес ham. LinearSVC подходит для разреженных текстов и выдаёт оценку положения относительно границы, а не вероятность. Все кандидаты используют одинаковый тип TF-IDF.</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Таблица показывает средние результаты пяти фолдов при стандартных порогах. У LinearSVC лучший F1 — около 0,9594, но Precision составляет 98,09 процента. ComplementNB с alpha 1,0 даёт Precision 99,75 процента, Recall 85,20 процента и средний FPR около 0,081 процента. У Dummy Precision математически не определён, поскольку спам не предсказывается; в программном отчёте этот случай заменён нулём.</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Мы самостоятельно задали требования: средний Precision на CV не ниже 99 процентов и FPR не выше одного процента. Среди подходящих кандидатов выбирали максимальный F0.5, который придаёт Precision больший вес. По этому правилу выбран ComplementNB с alpha 1,0. Это вывод в рамках принятого протокола, а не доказательство безусловного превосходства над SVM. Отдельная настройка порога каждого кандидата могла бы изменить сравнение и остаётся следующим экспериментом.</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
        <p:cNvGrpSpPr/>
        <p:nvPr/>
      </p:nvGrpSpPr>
      <p:grpSpPr bwMode="auto">
        <a:xfrm>
          <a:off x="0" y="0"/>
          <a:ext cx="0" cy="0"/>
          <a:chOff x="0" y="0"/>
          <a:chExt cx="0" cy="0"/>
        </a:xfrm>
      </p:grpSpPr>
      <p:sp>
        <p:nvSpPr>
          <p:cNvPr id="338" name="Google Shape;338;g1bbe5570b94_0_1489:notes"/>
          <p:cNvSpPr/>
          <p:nvPr>
            <p:ph type="sldImg" idx="2"/>
          </p:nvPr>
        </p:nvSpPr>
        <p:spPr bwMode="auto">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1bbe5570b94_0_1489:notes"/>
          <p:cNvSpPr txBox="1"/>
          <p:nvPr>
            <p:ph type="body" idx="1"/>
          </p:nvPr>
        </p:nvSpPr>
        <p:spPr bwMode="auto">
          <a:xfrm>
            <a:off x="1028700" y="8686800"/>
            <a:ext cx="8229600" cy="8229600"/>
          </a:xfrm>
          <a:prstGeom prst="rect">
            <a:avLst/>
          </a:prstGeom>
          <a:noFill/>
          <a:ln>
            <a:noFill/>
          </a:ln>
        </p:spPr>
        <p:txBody>
          <a:bodyPr spcFirstLastPara="1" wrap="square" lIns="152375" tIns="152375" rIns="152375" bIns="152375" anchor="t" anchorCtr="0">
            <a:noAutofit/>
          </a:bodyPr>
          <a:lstStyle/>
          <a:p>
            <a:pPr marL="0" lvl="0" indent="0" algn="l">
              <a:lnSpc>
                <a:spcPct val="100000"/>
              </a:lnSpc>
              <a:spcBef>
                <a:spcPts val="0"/>
              </a:spcBef>
              <a:spcAft>
                <a:spcPts val="0"/>
              </a:spcAft>
              <a:buSzPts val="1800"/>
              <a:buNone/>
              <a:defRPr/>
            </a:pPr>
            <a:r>
              <a:rPr lang="en-US" sz="1200"/>
              <a:t>Титульный слайд</a:t>
            </a:r>
            <a:endParaRPr sz="1200"/>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На validation мы перебрали пороги между уникальными оценками модели. Среди вариантов с Precision не ниже 99 процентов, FPR не выше одного процента и хотя бы одним найденным спам-письмом сначала минимизировали FP, затем максимизировали Recall. Получен порог 0,862981. На validation ложные блокировки снизились с трёх до нуля, но Recall уменьшился с 85,37 до 61,59 процента. Это заранее выбранная строгая политика, а не настройка по внешнему тесту.</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На внутреннем тесте стандартный порог даёт Recall 87,8 процента и три ложные блокировки. Строгий порог сохраняет все обычные письма, но Recall снижается до 62,8 процента. На полном внешнем наборе при стандартном пороге Recall составляет 81,2 процента с тремя FP. При строгом пороге наблюдалось ноль FP, но Recall упал до 39,1 процента. Оба результата показаны открыто; после просмотра теста мы не меняли решение.</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Матрица ошибок делает компромисс наглядным. Из 600 обычных писем сохранены все. Из тысячи спам-писем обнаружено 391, а 609 пропущены. Следовательно, строгая политика сохраняет полезную почту на проверенных данных, но пропускает большую часть спама. Формулировка результата должна быть именно «ноль наблюдаемых ложных блокировок». Гарантию отсутствия FP на будущих письмах этот тест не даёт.</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Для упаковки сохранён весь Pipeline и выбранный порог. Метаданные содержат версии библиотек и контрольную сумму. Сервис проверяет их при старте и загружает модель один раз. FastAPI принимает JSON и eml-файлы, используя тот же парсер, что и обучение. Docker содержит модель и зависимости инференса без исходных корпусов. Контейнер запускается от пользователя без root-прав, проверяется через healthcheck и доступен на localhost. Публичное размещение пока не выполнялось.</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На слайде фактический скриншот работающего Swagger. Через него можно отправить текст или eml и посмотреть класс, оценку и порог. Контейнер прошёл HTTP-проверку: оценки и решения совпали с сохранёнными результатами для обычной почты, найденного и пропущенного спама. Всего прошли 20 автоматизированных тестов. Они проверяют корректность программы и упаковки; качество распознавания оценивается отдельно ML-метриками.</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Ссылка на репозиторий проекта приведена на слайде. Основной ноутбук содержит выполненные расчёты и графики; модули вынесены в src. Сохранены обработанные данные, разбиения, результаты CV и предсказания. Для повторного обучения используется build.py, для экспорта из сохранённого train — export_model.py. Скрипт start_docker.cmd собирает образ, запускает контейнер и ждёт healthcheck; параметр SkipBuild использует готовый образ. Random state и основные версии зависимостей зафиксированы.</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Получен воспроизводимый конвейер от исходного письма до HTTP-сервиса. Сильная сторона работы — проверка утечки и явный выбор политики ошибок. Главное ограничение — низкий внешний Recall строгого порога. Данные исторические и преимущественно англоязычные; точная дедупликация не устраняет все похожие шаблоны. Следующий шаг — настраивать порог каждого кандидата и сравнивать решения с учётом стоимости FP и FN на новом независимом контроле.</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Для мультиязычности потребуются размеченные письма на разных языках и оценка качества отдельно по каждому языку; можно исследовать символьные признаки и мультиязычные эмбеддинги. Для concept drift нужен мониторинг обратной связи и распределений, затем переобучение с новой валидацией порога. При полуобучении нельзя автоматически считать все предсказания истинной разметкой: спорные примеры требуют проверки. Любая новая настройка должна оцениваться на свежем контроле.</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Полный внешний набор содержит 1600 писем; после удаления 105 повторов и двух пустых текстов осталось 1493. На очищенной версии строгая политика дала Recall 38,87 процента и ноль FP. Близость результатов показывает, что главный вывод о снижении полноты сохраняется после очистки контроля. При исключении пересечений из обучения использовался именно полный набор.</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Ноль FP не равен нулевой вероятности ошибки. При нуле FP из 600 ham верхняя односторонняя 95-процентная граница составляет около половины процента. Для hard_ham всего 44 тестовых письма, поэтому граница существенно шире — около 6,58 процента. Интервалы предполагают независимость наблюдений; письма одной рассылки могут эту предпосылку нарушать. Автоматизированные тесты проверяют программу, но не заменяют оценку обобщающей способности.</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Здесь приведены исходный шаблон, описание корпуса, контрольный набор, документация по настройке порога и упаковке, а также репозиторий проекта. Все численные результаты презентации получены из локальных отчётов эксперимента.</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userDrawn="1" matchingName="1.Фон">
  <p:cSld name="1.Фон">
    <p:bg>
      <p:bgPr>
        <a:solidFill>
          <a:schemeClr val="lt1"/>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userDrawn="1" matchingName="11. Фон dark">
  <p:cSld name="1_11. Фон dark">
    <p:bg>
      <p:bgPr>
        <a:solidFill>
          <a:schemeClr val="lt2"/>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userDrawn="1" matchingName="2.Определение">
  <p:cSld name="2.Определение">
    <p:bg>
      <p:bgPr>
        <a:solidFill>
          <a:schemeClr val="lt1"/>
        </a:solidFill>
        <a:effectLst/>
      </p:bgPr>
    </p:bg>
    <p:spTree>
      <p:nvGrpSpPr>
        <p:cNvPr id="1" name=""/>
        <p:cNvGrpSpPr/>
        <p:nvPr/>
      </p:nvGrpSpPr>
      <p:grpSpPr bwMode="auto">
        <a:xfrm>
          <a:off x="0" y="0"/>
          <a:ext cx="0" cy="0"/>
          <a:chOff x="0" y="0"/>
          <a:chExt cx="0" cy="0"/>
        </a:xfrm>
      </p:grpSpPr>
      <p:sp>
        <p:nvSpPr>
          <p:cNvPr id="13" name="Google Shape;13;p4"/>
          <p:cNvSpPr/>
          <p:nvPr/>
        </p:nvSpPr>
        <p:spPr bwMode="auto">
          <a:xfrm>
            <a:off x="7143750" y="0"/>
            <a:ext cx="5143500" cy="5143500"/>
          </a:xfrm>
          <a:prstGeom prst="ellipse">
            <a:avLst/>
          </a:prstGeom>
          <a:noFill/>
          <a:ln w="19050" cap="flat" cmpd="sng">
            <a:solidFill>
              <a:srgbClr val="F2F2F2"/>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4" name="Google Shape;14;p4"/>
          <p:cNvSpPr/>
          <p:nvPr/>
        </p:nvSpPr>
        <p:spPr bwMode="auto">
          <a:xfrm>
            <a:off x="-3143250" y="0"/>
            <a:ext cx="5143500" cy="5143500"/>
          </a:xfrm>
          <a:prstGeom prst="ellipse">
            <a:avLst/>
          </a:prstGeom>
          <a:noFill/>
          <a:ln w="19050" cap="flat" cmpd="sng">
            <a:solidFill>
              <a:srgbClr val="F2F2F2"/>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5" name="Google Shape;15;p4"/>
          <p:cNvSpPr/>
          <p:nvPr/>
        </p:nvSpPr>
        <p:spPr bwMode="auto">
          <a:xfrm>
            <a:off x="2000250" y="0"/>
            <a:ext cx="5143500" cy="5143500"/>
          </a:xfrm>
          <a:prstGeom prst="ellipse">
            <a:avLst/>
          </a:prstGeom>
          <a:noFill/>
          <a:ln w="25400" cap="flat" cmpd="sng">
            <a:solidFill>
              <a:srgbClr val="EAEAEA"/>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userDrawn="1" matchingName="3.Титульник wihte">
  <p:cSld name="3.Титульник wihte">
    <p:bg>
      <p:bgPr>
        <a:solidFill>
          <a:schemeClr val="lt1"/>
        </a:solidFill>
        <a:effectLst/>
      </p:bgPr>
    </p:bg>
    <p:spTree>
      <p:nvGrpSpPr>
        <p:cNvPr id="1" name=""/>
        <p:cNvGrpSpPr/>
        <p:nvPr/>
      </p:nvGrpSpPr>
      <p:grpSpPr bwMode="auto">
        <a:xfrm>
          <a:off x="0" y="0"/>
          <a:ext cx="0" cy="0"/>
          <a:chOff x="0" y="0"/>
          <a:chExt cx="0" cy="0"/>
        </a:xfrm>
      </p:grpSpPr>
      <p:sp>
        <p:nvSpPr>
          <p:cNvPr id="17" name="Google Shape;17;p5"/>
          <p:cNvSpPr/>
          <p:nvPr/>
        </p:nvSpPr>
        <p:spPr bwMode="auto">
          <a:xfrm>
            <a:off x="6531775" y="0"/>
            <a:ext cx="5214899" cy="5143500"/>
          </a:xfrm>
          <a:prstGeom prst="ellipse">
            <a:avLst/>
          </a:prstGeom>
          <a:solidFill>
            <a:schemeClr val="accent6"/>
          </a:solidFill>
          <a:ln w="9525"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8" name="Google Shape;18;p5"/>
          <p:cNvSpPr/>
          <p:nvPr/>
        </p:nvSpPr>
        <p:spPr bwMode="auto">
          <a:xfrm>
            <a:off x="1331509" y="18000"/>
            <a:ext cx="5200200" cy="5129399"/>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nvGrpSpPr>
          <p:cNvPr id="19" name="Google Shape;19;p5"/>
          <p:cNvGrpSpPr/>
          <p:nvPr/>
        </p:nvGrpSpPr>
        <p:grpSpPr bwMode="auto">
          <a:xfrm>
            <a:off x="8569715" y="4536459"/>
            <a:ext cx="258577" cy="265368"/>
            <a:chOff x="238125" y="2432825"/>
            <a:chExt cx="779549" cy="781875"/>
          </a:xfrm>
        </p:grpSpPr>
        <p:sp>
          <p:nvSpPr>
            <p:cNvPr id="20" name="Google Shape;20;p5"/>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chemeClr val="lt1"/>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1" name="Google Shape;21;p5"/>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chemeClr val="lt1"/>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2" name="Google Shape;22;p5"/>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chemeClr val="lt1"/>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3" name="Google Shape;23;p5"/>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chemeClr val="lt1"/>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userDrawn="1" matchingName="4.Отбивка wihte">
  <p:cSld name="4.Отбивка wihte">
    <p:bg>
      <p:bgPr>
        <a:solidFill>
          <a:schemeClr val="lt1"/>
        </a:solidFill>
        <a:effectLst/>
      </p:bgPr>
    </p:bg>
    <p:spTree>
      <p:nvGrpSpPr>
        <p:cNvPr id="1" name=""/>
        <p:cNvGrpSpPr/>
        <p:nvPr/>
      </p:nvGrpSpPr>
      <p:grpSpPr bwMode="auto">
        <a:xfrm>
          <a:off x="0" y="0"/>
          <a:ext cx="0" cy="0"/>
          <a:chOff x="0" y="0"/>
          <a:chExt cx="0" cy="0"/>
        </a:xfrm>
      </p:grpSpPr>
      <p:grpSp>
        <p:nvGrpSpPr>
          <p:cNvPr id="25" name="Google Shape;25;p6"/>
          <p:cNvGrpSpPr/>
          <p:nvPr/>
        </p:nvGrpSpPr>
        <p:grpSpPr bwMode="auto">
          <a:xfrm>
            <a:off x="5737860" y="0"/>
            <a:ext cx="3406140" cy="5128200"/>
            <a:chOff x="11475720" y="0"/>
            <a:chExt cx="6812280" cy="10256400"/>
          </a:xfrm>
        </p:grpSpPr>
        <p:sp>
          <p:nvSpPr>
            <p:cNvPr id="26" name="Google Shape;26;p6"/>
            <p:cNvSpPr/>
            <p:nvPr/>
          </p:nvSpPr>
          <p:spPr bwMode="auto">
            <a:xfrm>
              <a:off x="11475720" y="0"/>
              <a:ext cx="3395700" cy="3398400"/>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7" name="Google Shape;27;p6"/>
            <p:cNvSpPr/>
            <p:nvPr/>
          </p:nvSpPr>
          <p:spPr bwMode="auto">
            <a:xfrm>
              <a:off x="14892300" y="0"/>
              <a:ext cx="3395700" cy="3398400"/>
            </a:xfrm>
            <a:prstGeom prst="ellipse">
              <a:avLst/>
            </a:prstGeom>
            <a:solidFill>
              <a:schemeClr val="accent6"/>
            </a:solidFill>
            <a:ln w="28575"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8" name="Google Shape;28;p6"/>
            <p:cNvSpPr/>
            <p:nvPr/>
          </p:nvSpPr>
          <p:spPr bwMode="auto">
            <a:xfrm>
              <a:off x="11475720" y="3444300"/>
              <a:ext cx="3395700" cy="3398400"/>
            </a:xfrm>
            <a:prstGeom prst="ellipse">
              <a:avLst/>
            </a:prstGeom>
            <a:solidFill>
              <a:schemeClr val="accent6"/>
            </a:solidFill>
            <a:ln w="28575"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29" name="Google Shape;29;p6"/>
            <p:cNvSpPr/>
            <p:nvPr/>
          </p:nvSpPr>
          <p:spPr bwMode="auto">
            <a:xfrm>
              <a:off x="14892300" y="3444300"/>
              <a:ext cx="3395700" cy="3398400"/>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0" name="Google Shape;30;p6"/>
            <p:cNvSpPr/>
            <p:nvPr/>
          </p:nvSpPr>
          <p:spPr bwMode="auto">
            <a:xfrm>
              <a:off x="11475720" y="6858000"/>
              <a:ext cx="3395700" cy="3398400"/>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1" name="Google Shape;31;p6"/>
            <p:cNvSpPr/>
            <p:nvPr/>
          </p:nvSpPr>
          <p:spPr bwMode="auto">
            <a:xfrm>
              <a:off x="14892300" y="6858000"/>
              <a:ext cx="3395700" cy="3398400"/>
            </a:xfrm>
            <a:prstGeom prst="ellipse">
              <a:avLst/>
            </a:prstGeom>
            <a:solidFill>
              <a:schemeClr val="accent6"/>
            </a:solidFill>
            <a:ln w="28575"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matchingName="5. Определение wihte">
  <p:cSld name="5. Определение wihte">
    <p:bg>
      <p:bgPr>
        <a:solidFill>
          <a:schemeClr val="lt1"/>
        </a:solidFill>
        <a:effectLst/>
      </p:bgPr>
    </p:bg>
    <p:spTree>
      <p:nvGrpSpPr>
        <p:cNvPr id="1" name=""/>
        <p:cNvGrpSpPr/>
        <p:nvPr/>
      </p:nvGrpSpPr>
      <p:grpSpPr bwMode="auto">
        <a:xfrm>
          <a:off x="0" y="0"/>
          <a:ext cx="0" cy="0"/>
          <a:chOff x="0" y="0"/>
          <a:chExt cx="0" cy="0"/>
        </a:xfrm>
      </p:grpSpPr>
      <p:sp>
        <p:nvSpPr>
          <p:cNvPr id="33" name="Google Shape;33;p7"/>
          <p:cNvSpPr/>
          <p:nvPr/>
        </p:nvSpPr>
        <p:spPr bwMode="auto">
          <a:xfrm>
            <a:off x="7143750" y="0"/>
            <a:ext cx="5143500" cy="5143500"/>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4" name="Google Shape;34;p7"/>
          <p:cNvSpPr/>
          <p:nvPr/>
        </p:nvSpPr>
        <p:spPr bwMode="auto">
          <a:xfrm>
            <a:off x="-3143250" y="0"/>
            <a:ext cx="5143500" cy="5143500"/>
          </a:xfrm>
          <a:prstGeom prst="ellipse">
            <a:avLst/>
          </a:prstGeom>
          <a:noFill/>
          <a:ln w="1905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5" name="Google Shape;35;p7"/>
          <p:cNvSpPr/>
          <p:nvPr/>
        </p:nvSpPr>
        <p:spPr bwMode="auto">
          <a:xfrm>
            <a:off x="2000250" y="0"/>
            <a:ext cx="5143500" cy="5143500"/>
          </a:xfrm>
          <a:prstGeom prst="ellipse">
            <a:avLst/>
          </a:prstGeom>
          <a:solidFill>
            <a:srgbClr val="F3F4F7"/>
          </a:solidFill>
          <a:ln w="25400" cap="flat" cmpd="sng">
            <a:solidFill>
              <a:schemeClr val="accent6"/>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userDrawn="1" matchingName="6.Титульник dark">
  <p:cSld name="6.Титульник dark">
    <p:bg>
      <p:bgPr>
        <a:solidFill>
          <a:schemeClr val="lt2"/>
        </a:solidFill>
        <a:effectLst/>
      </p:bgPr>
    </p:bg>
    <p:spTree>
      <p:nvGrpSpPr>
        <p:cNvPr id="1" name=""/>
        <p:cNvGrpSpPr/>
        <p:nvPr/>
      </p:nvGrpSpPr>
      <p:grpSpPr bwMode="auto">
        <a:xfrm>
          <a:off x="0" y="0"/>
          <a:ext cx="0" cy="0"/>
          <a:chOff x="0" y="0"/>
          <a:chExt cx="0" cy="0"/>
        </a:xfrm>
      </p:grpSpPr>
      <p:sp>
        <p:nvSpPr>
          <p:cNvPr id="37" name="Google Shape;37;p8"/>
          <p:cNvSpPr/>
          <p:nvPr/>
        </p:nvSpPr>
        <p:spPr bwMode="auto">
          <a:xfrm>
            <a:off x="6531775" y="0"/>
            <a:ext cx="5214899" cy="5143500"/>
          </a:xfrm>
          <a:prstGeom prst="ellipse">
            <a:avLst/>
          </a:prstGeom>
          <a:solidFill>
            <a:srgbClr val="2F3035"/>
          </a:solidFill>
          <a:ln w="9525"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8" name="Google Shape;38;p8"/>
          <p:cNvSpPr/>
          <p:nvPr/>
        </p:nvSpPr>
        <p:spPr bwMode="auto">
          <a:xfrm>
            <a:off x="1331509" y="18000"/>
            <a:ext cx="5200200" cy="5129399"/>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nvGrpSpPr>
          <p:cNvPr id="39" name="Google Shape;39;p8"/>
          <p:cNvGrpSpPr/>
          <p:nvPr/>
        </p:nvGrpSpPr>
        <p:grpSpPr bwMode="auto">
          <a:xfrm>
            <a:off x="8569715" y="4505199"/>
            <a:ext cx="258577" cy="265368"/>
            <a:chOff x="238125" y="2432825"/>
            <a:chExt cx="779549" cy="781875"/>
          </a:xfrm>
        </p:grpSpPr>
        <p:sp>
          <p:nvSpPr>
            <p:cNvPr id="40" name="Google Shape;40;p8"/>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1" name="Google Shape;41;p8"/>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2" name="Google Shape;42;p8"/>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3" name="Google Shape;43;p8"/>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userDrawn="1" matchingName="7. Отбивка dark">
  <p:cSld name="7. Отбивка dark">
    <p:bg>
      <p:bgPr>
        <a:solidFill>
          <a:schemeClr val="lt2"/>
        </a:solidFill>
        <a:effectLst/>
      </p:bgPr>
    </p:bg>
    <p:spTree>
      <p:nvGrpSpPr>
        <p:cNvPr id="1" name=""/>
        <p:cNvGrpSpPr/>
        <p:nvPr/>
      </p:nvGrpSpPr>
      <p:grpSpPr bwMode="auto">
        <a:xfrm>
          <a:off x="0" y="0"/>
          <a:ext cx="0" cy="0"/>
          <a:chOff x="0" y="0"/>
          <a:chExt cx="0" cy="0"/>
        </a:xfrm>
      </p:grpSpPr>
      <p:grpSp>
        <p:nvGrpSpPr>
          <p:cNvPr id="45" name="Google Shape;45;p9"/>
          <p:cNvGrpSpPr/>
          <p:nvPr/>
        </p:nvGrpSpPr>
        <p:grpSpPr bwMode="auto">
          <a:xfrm>
            <a:off x="5737860" y="0"/>
            <a:ext cx="3406140" cy="5128200"/>
            <a:chOff x="11475720" y="0"/>
            <a:chExt cx="6812280" cy="10256400"/>
          </a:xfrm>
        </p:grpSpPr>
        <p:sp>
          <p:nvSpPr>
            <p:cNvPr id="46" name="Google Shape;46;p9"/>
            <p:cNvSpPr/>
            <p:nvPr/>
          </p:nvSpPr>
          <p:spPr bwMode="auto">
            <a:xfrm>
              <a:off x="11475720" y="0"/>
              <a:ext cx="3395700" cy="33984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7" name="Google Shape;47;p9"/>
            <p:cNvSpPr/>
            <p:nvPr/>
          </p:nvSpPr>
          <p:spPr bwMode="auto">
            <a:xfrm>
              <a:off x="14892300" y="0"/>
              <a:ext cx="3395700" cy="3398400"/>
            </a:xfrm>
            <a:prstGeom prst="ellipse">
              <a:avLst/>
            </a:prstGeom>
            <a:solidFill>
              <a:srgbClr val="2F3035"/>
            </a:solidFill>
            <a:ln w="28575"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8" name="Google Shape;48;p9"/>
            <p:cNvSpPr/>
            <p:nvPr/>
          </p:nvSpPr>
          <p:spPr bwMode="auto">
            <a:xfrm>
              <a:off x="11475720" y="3444300"/>
              <a:ext cx="3395700" cy="3398400"/>
            </a:xfrm>
            <a:prstGeom prst="ellipse">
              <a:avLst/>
            </a:prstGeom>
            <a:solidFill>
              <a:srgbClr val="2F3035"/>
            </a:solidFill>
            <a:ln w="28575"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49" name="Google Shape;49;p9"/>
            <p:cNvSpPr/>
            <p:nvPr/>
          </p:nvSpPr>
          <p:spPr bwMode="auto">
            <a:xfrm>
              <a:off x="14892300" y="3444300"/>
              <a:ext cx="3395700" cy="33984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0" name="Google Shape;50;p9"/>
            <p:cNvSpPr/>
            <p:nvPr/>
          </p:nvSpPr>
          <p:spPr bwMode="auto">
            <a:xfrm>
              <a:off x="11475720" y="6858000"/>
              <a:ext cx="3395700" cy="33984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1" name="Google Shape;51;p9"/>
            <p:cNvSpPr/>
            <p:nvPr/>
          </p:nvSpPr>
          <p:spPr bwMode="auto">
            <a:xfrm>
              <a:off x="14892300" y="6858000"/>
              <a:ext cx="3395700" cy="3398400"/>
            </a:xfrm>
            <a:prstGeom prst="ellipse">
              <a:avLst/>
            </a:prstGeom>
            <a:solidFill>
              <a:srgbClr val="2F3035"/>
            </a:solidFill>
            <a:ln w="28575"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userDrawn="1" matchingName="8. Определение dark">
  <p:cSld name="8. Определение dark">
    <p:bg>
      <p:bgPr>
        <a:solidFill>
          <a:schemeClr val="lt2"/>
        </a:solidFill>
        <a:effectLst/>
      </p:bgPr>
    </p:bg>
    <p:spTree>
      <p:nvGrpSpPr>
        <p:cNvPr id="1" name=""/>
        <p:cNvGrpSpPr/>
        <p:nvPr/>
      </p:nvGrpSpPr>
      <p:grpSpPr bwMode="auto">
        <a:xfrm>
          <a:off x="0" y="0"/>
          <a:ext cx="0" cy="0"/>
          <a:chOff x="0" y="0"/>
          <a:chExt cx="0" cy="0"/>
        </a:xfrm>
      </p:grpSpPr>
      <p:sp>
        <p:nvSpPr>
          <p:cNvPr id="53" name="Google Shape;53;p10"/>
          <p:cNvSpPr/>
          <p:nvPr/>
        </p:nvSpPr>
        <p:spPr bwMode="auto">
          <a:xfrm>
            <a:off x="7143750" y="0"/>
            <a:ext cx="5143500" cy="51435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4" name="Google Shape;54;p10"/>
          <p:cNvSpPr/>
          <p:nvPr/>
        </p:nvSpPr>
        <p:spPr bwMode="auto">
          <a:xfrm>
            <a:off x="-3143250" y="0"/>
            <a:ext cx="5143500" cy="51435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5" name="Google Shape;55;p10"/>
          <p:cNvSpPr/>
          <p:nvPr/>
        </p:nvSpPr>
        <p:spPr bwMode="auto">
          <a:xfrm>
            <a:off x="2000250" y="0"/>
            <a:ext cx="5143500" cy="5143500"/>
          </a:xfrm>
          <a:prstGeom prst="ellipse">
            <a:avLst/>
          </a:prstGeom>
          <a:solidFill>
            <a:srgbClr val="2F3035"/>
          </a:solidFill>
          <a:ln w="2540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userDrawn="1" matchingName="9. Определение dark">
  <p:cSld name="9. Определение dark">
    <p:bg>
      <p:bgPr>
        <a:solidFill>
          <a:schemeClr val="lt2"/>
        </a:solidFill>
        <a:effectLst/>
      </p:bgPr>
    </p:bg>
    <p:spTree>
      <p:nvGrpSpPr>
        <p:cNvPr id="1" name=""/>
        <p:cNvGrpSpPr/>
        <p:nvPr/>
      </p:nvGrpSpPr>
      <p:grpSpPr bwMode="auto">
        <a:xfrm>
          <a:off x="0" y="0"/>
          <a:ext cx="0" cy="0"/>
          <a:chOff x="0" y="0"/>
          <a:chExt cx="0" cy="0"/>
        </a:xfrm>
      </p:grpSpPr>
      <p:sp>
        <p:nvSpPr>
          <p:cNvPr id="57" name="Google Shape;57;p11"/>
          <p:cNvSpPr/>
          <p:nvPr/>
        </p:nvSpPr>
        <p:spPr bwMode="auto">
          <a:xfrm>
            <a:off x="7143750" y="0"/>
            <a:ext cx="5143500" cy="51435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8" name="Google Shape;58;p11"/>
          <p:cNvSpPr/>
          <p:nvPr/>
        </p:nvSpPr>
        <p:spPr bwMode="auto">
          <a:xfrm>
            <a:off x="-3143250" y="0"/>
            <a:ext cx="5143500" cy="5143500"/>
          </a:xfrm>
          <a:prstGeom prst="ellipse">
            <a:avLst/>
          </a:prstGeom>
          <a:noFill/>
          <a:ln w="19050" cap="flat" cmpd="sng">
            <a:solidFill>
              <a:srgbClr val="2F3035"/>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59" name="Google Shape;59;p11"/>
          <p:cNvSpPr/>
          <p:nvPr/>
        </p:nvSpPr>
        <p:spPr bwMode="auto">
          <a:xfrm>
            <a:off x="2000250" y="0"/>
            <a:ext cx="5143500" cy="5143500"/>
          </a:xfrm>
          <a:prstGeom prst="ellipse">
            <a:avLst/>
          </a:prstGeom>
          <a:noFill/>
          <a:ln w="25400" cap="flat" cmpd="sng">
            <a:solidFill>
              <a:srgbClr val="4C4C4C"/>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matchingName="10. Фон dark">
  <p:cSld name="10. Фон dark">
    <p:bg>
      <p:bgPr>
        <a:solidFill>
          <a:schemeClr val="lt2"/>
        </a:solidFill>
        <a:effectLst/>
      </p:bgPr>
    </p:bg>
    <p:spTree>
      <p:nvGrpSpPr>
        <p:cNvPr id="1" name=""/>
        <p:cNvGrpSpPr/>
        <p:nvPr/>
      </p:nvGrpSpPr>
      <p:grpSpPr bwMode="auto">
        <a:xfrm>
          <a:off x="0" y="0"/>
          <a:ext cx="0" cy="0"/>
          <a:chOff x="0" y="0"/>
          <a:chExt cx="0" cy="0"/>
        </a:xfrm>
      </p:grpSpPr>
      <p:sp>
        <p:nvSpPr>
          <p:cNvPr id="61" name="Google Shape;61;p12"/>
          <p:cNvSpPr/>
          <p:nvPr/>
        </p:nvSpPr>
        <p:spPr bwMode="auto">
          <a:xfrm>
            <a:off x="8382000" y="2523325"/>
            <a:ext cx="2286000" cy="2286000"/>
          </a:xfrm>
          <a:prstGeom prst="ellipse">
            <a:avLst/>
          </a:prstGeom>
          <a:noFill/>
          <a:ln w="1905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62" name="Google Shape;62;p12"/>
          <p:cNvSpPr/>
          <p:nvPr/>
        </p:nvSpPr>
        <p:spPr bwMode="auto">
          <a:xfrm>
            <a:off x="6096000" y="2514600"/>
            <a:ext cx="2286000" cy="2286000"/>
          </a:xfrm>
          <a:prstGeom prst="ellipse">
            <a:avLst/>
          </a:prstGeom>
          <a:solidFill>
            <a:schemeClr val="lt1"/>
          </a:solidFill>
          <a:ln w="3810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a:lnSpc>
                <a:spcPct val="100000"/>
              </a:lnSpc>
              <a:spcBef>
                <a:spcPts val="0"/>
              </a:spcBef>
              <a:spcAft>
                <a:spcPts val="0"/>
              </a:spcAft>
              <a:buClr>
                <a:srgbClr val="000000"/>
              </a:buClr>
              <a:buSzPts val="4800"/>
              <a:buFont typeface="Arial" panose="020B0604020202020204"/>
              <a:buNone/>
              <a:defRPr/>
            </a:pPr>
            <a:endParaRPr sz="4800" b="0" i="0" u="none" strike="noStrike" cap="none">
              <a:solidFill>
                <a:schemeClr val="dk2"/>
              </a:solidFill>
              <a:latin typeface="Proxima Nova"/>
              <a:ea typeface="Proxima Nova"/>
              <a:cs typeface="Proxima Nov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userDrawn="1" matchingName="17. Титульник pro">
  <p:cSld name="17. Титульник pro">
    <p:bg>
      <p:bgPr>
        <a:solidFill>
          <a:srgbClr val="0066FF"/>
        </a:solidFill>
        <a:effectLst/>
      </p:bgPr>
    </p:bg>
    <p:spTree>
      <p:nvGrpSpPr>
        <p:cNvPr id="1" name=""/>
        <p:cNvGrpSpPr/>
        <p:nvPr/>
      </p:nvGrpSpPr>
      <p:grpSpPr bwMode="auto">
        <a:xfrm>
          <a:off x="0" y="0"/>
          <a:ext cx="0" cy="0"/>
          <a:chOff x="0" y="0"/>
          <a:chExt cx="0" cy="0"/>
        </a:xfrm>
      </p:grpSpPr>
      <p:sp>
        <p:nvSpPr>
          <p:cNvPr id="64" name="Google Shape;64;p13"/>
          <p:cNvSpPr/>
          <p:nvPr/>
        </p:nvSpPr>
        <p:spPr bwMode="auto">
          <a:xfrm>
            <a:off x="6531775" y="0"/>
            <a:ext cx="5214899" cy="5143500"/>
          </a:xfrm>
          <a:prstGeom prst="ellipse">
            <a:avLst/>
          </a:prstGeom>
          <a:solidFill>
            <a:srgbClr val="217AFF"/>
          </a:solidFill>
          <a:ln w="9525"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65" name="Google Shape;65;p13"/>
          <p:cNvSpPr/>
          <p:nvPr/>
        </p:nvSpPr>
        <p:spPr bwMode="auto">
          <a:xfrm>
            <a:off x="1331509" y="18000"/>
            <a:ext cx="5200200" cy="5129399"/>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nvGrpSpPr>
          <p:cNvPr id="66" name="Google Shape;66;p13"/>
          <p:cNvGrpSpPr/>
          <p:nvPr/>
        </p:nvGrpSpPr>
        <p:grpSpPr bwMode="auto">
          <a:xfrm>
            <a:off x="8569715" y="4505199"/>
            <a:ext cx="258577" cy="265368"/>
            <a:chOff x="238125" y="2432825"/>
            <a:chExt cx="779549" cy="781875"/>
          </a:xfrm>
        </p:grpSpPr>
        <p:sp>
          <p:nvSpPr>
            <p:cNvPr id="67" name="Google Shape;67;p13"/>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68" name="Google Shape;68;p13"/>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69" name="Google Shape;69;p13"/>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0" name="Google Shape;70;p13"/>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userDrawn="1" matchingName="18. Отбивка pro">
  <p:cSld name="18. Отбивка pro">
    <p:bg>
      <p:bgPr>
        <a:solidFill>
          <a:srgbClr val="0066FF"/>
        </a:solidFill>
        <a:effectLst/>
      </p:bgPr>
    </p:bg>
    <p:spTree>
      <p:nvGrpSpPr>
        <p:cNvPr id="1" name=""/>
        <p:cNvGrpSpPr/>
        <p:nvPr/>
      </p:nvGrpSpPr>
      <p:grpSpPr bwMode="auto">
        <a:xfrm>
          <a:off x="0" y="0"/>
          <a:ext cx="0" cy="0"/>
          <a:chOff x="0" y="0"/>
          <a:chExt cx="0" cy="0"/>
        </a:xfrm>
      </p:grpSpPr>
      <p:grpSp>
        <p:nvGrpSpPr>
          <p:cNvPr id="72" name="Google Shape;72;p14"/>
          <p:cNvGrpSpPr/>
          <p:nvPr/>
        </p:nvGrpSpPr>
        <p:grpSpPr bwMode="auto">
          <a:xfrm>
            <a:off x="5737860" y="0"/>
            <a:ext cx="3406140" cy="5128200"/>
            <a:chOff x="11475720" y="0"/>
            <a:chExt cx="6812280" cy="10256400"/>
          </a:xfrm>
        </p:grpSpPr>
        <p:sp>
          <p:nvSpPr>
            <p:cNvPr id="73" name="Google Shape;73;p14"/>
            <p:cNvSpPr/>
            <p:nvPr/>
          </p:nvSpPr>
          <p:spPr bwMode="auto">
            <a:xfrm>
              <a:off x="11475720" y="0"/>
              <a:ext cx="3395700" cy="3398400"/>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4" name="Google Shape;74;p14"/>
            <p:cNvSpPr/>
            <p:nvPr/>
          </p:nvSpPr>
          <p:spPr bwMode="auto">
            <a:xfrm>
              <a:off x="14892300" y="0"/>
              <a:ext cx="3395700" cy="3398400"/>
            </a:xfrm>
            <a:prstGeom prst="ellipse">
              <a:avLst/>
            </a:prstGeom>
            <a:solidFill>
              <a:srgbClr val="217AFF"/>
            </a:solidFill>
            <a:ln w="28575"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5" name="Google Shape;75;p14"/>
            <p:cNvSpPr/>
            <p:nvPr/>
          </p:nvSpPr>
          <p:spPr bwMode="auto">
            <a:xfrm>
              <a:off x="11475720" y="3444300"/>
              <a:ext cx="3395700" cy="3398400"/>
            </a:xfrm>
            <a:prstGeom prst="ellipse">
              <a:avLst/>
            </a:prstGeom>
            <a:solidFill>
              <a:srgbClr val="217AFF"/>
            </a:solidFill>
            <a:ln w="28575"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6" name="Google Shape;76;p14"/>
            <p:cNvSpPr/>
            <p:nvPr/>
          </p:nvSpPr>
          <p:spPr bwMode="auto">
            <a:xfrm>
              <a:off x="14892300" y="3444300"/>
              <a:ext cx="3395700" cy="3398400"/>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7" name="Google Shape;77;p14"/>
            <p:cNvSpPr/>
            <p:nvPr/>
          </p:nvSpPr>
          <p:spPr bwMode="auto">
            <a:xfrm>
              <a:off x="11475720" y="6858000"/>
              <a:ext cx="3395700" cy="3398400"/>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78" name="Google Shape;78;p14"/>
            <p:cNvSpPr/>
            <p:nvPr/>
          </p:nvSpPr>
          <p:spPr bwMode="auto">
            <a:xfrm>
              <a:off x="14892300" y="6858000"/>
              <a:ext cx="3395700" cy="3398400"/>
            </a:xfrm>
            <a:prstGeom prst="ellipse">
              <a:avLst/>
            </a:prstGeom>
            <a:solidFill>
              <a:srgbClr val="217AFF"/>
            </a:solidFill>
            <a:ln w="28575"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userDrawn="1" matchingName="19. Определение pro">
  <p:cSld name="19. Определение pro">
    <p:bg>
      <p:bgPr>
        <a:solidFill>
          <a:srgbClr val="0066FF"/>
        </a:solidFill>
        <a:effectLst/>
      </p:bgPr>
    </p:bg>
    <p:spTree>
      <p:nvGrpSpPr>
        <p:cNvPr id="1" name=""/>
        <p:cNvGrpSpPr/>
        <p:nvPr/>
      </p:nvGrpSpPr>
      <p:grpSpPr bwMode="auto">
        <a:xfrm>
          <a:off x="0" y="0"/>
          <a:ext cx="0" cy="0"/>
          <a:chOff x="0" y="0"/>
          <a:chExt cx="0" cy="0"/>
        </a:xfrm>
      </p:grpSpPr>
      <p:sp>
        <p:nvSpPr>
          <p:cNvPr id="80" name="Google Shape;80;p15"/>
          <p:cNvSpPr/>
          <p:nvPr/>
        </p:nvSpPr>
        <p:spPr bwMode="auto">
          <a:xfrm>
            <a:off x="7143750" y="0"/>
            <a:ext cx="5143500" cy="5143500"/>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81" name="Google Shape;81;p15"/>
          <p:cNvSpPr/>
          <p:nvPr/>
        </p:nvSpPr>
        <p:spPr bwMode="auto">
          <a:xfrm>
            <a:off x="-3143250" y="0"/>
            <a:ext cx="5143500" cy="5143500"/>
          </a:xfrm>
          <a:prstGeom prst="ellipse">
            <a:avLst/>
          </a:prstGeom>
          <a:noFill/>
          <a:ln w="1905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82" name="Google Shape;82;p15"/>
          <p:cNvSpPr/>
          <p:nvPr/>
        </p:nvSpPr>
        <p:spPr bwMode="auto">
          <a:xfrm>
            <a:off x="2000250" y="0"/>
            <a:ext cx="5143500" cy="5143500"/>
          </a:xfrm>
          <a:prstGeom prst="ellipse">
            <a:avLst/>
          </a:prstGeom>
          <a:solidFill>
            <a:srgbClr val="217AFF"/>
          </a:solidFill>
          <a:ln w="25400" cap="flat" cmpd="sng">
            <a:solidFill>
              <a:srgbClr val="217AFF"/>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userDrawn="1" matchingName="20. Отбивка 2 pro">
  <p:cSld name="20. Отбивка 2 pro">
    <p:bg>
      <p:bgPr>
        <a:solidFill>
          <a:srgbClr val="0066FF"/>
        </a:solidFill>
        <a:effectLst/>
      </p:bgPr>
    </p:bg>
    <p:spTree>
      <p:nvGrpSpPr>
        <p:cNvPr id="1" name=""/>
        <p:cNvGrpSpPr/>
        <p:nvPr/>
      </p:nvGrpSpPr>
      <p:grpSpPr bwMode="auto">
        <a:xfrm>
          <a:off x="0" y="0"/>
          <a:ext cx="0" cy="0"/>
          <a:chOff x="0" y="0"/>
          <a:chExt cx="0" cy="0"/>
        </a:xfrm>
      </p:grpSpPr>
      <p:sp>
        <p:nvSpPr>
          <p:cNvPr id="84" name="Google Shape;84;p16"/>
          <p:cNvSpPr/>
          <p:nvPr/>
        </p:nvSpPr>
        <p:spPr bwMode="auto">
          <a:xfrm>
            <a:off x="8382000" y="2523325"/>
            <a:ext cx="2286000" cy="2286000"/>
          </a:xfrm>
          <a:prstGeom prst="ellipse">
            <a:avLst/>
          </a:prstGeom>
          <a:noFill/>
          <a:ln w="1905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85" name="Google Shape;85;p16"/>
          <p:cNvSpPr/>
          <p:nvPr/>
        </p:nvSpPr>
        <p:spPr bwMode="auto">
          <a:xfrm>
            <a:off x="6096000" y="2514600"/>
            <a:ext cx="2286000" cy="2286000"/>
          </a:xfrm>
          <a:prstGeom prst="ellipse">
            <a:avLst/>
          </a:prstGeom>
          <a:solidFill>
            <a:schemeClr val="lt1"/>
          </a:solidFill>
          <a:ln w="3810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a:lnSpc>
                <a:spcPct val="100000"/>
              </a:lnSpc>
              <a:spcBef>
                <a:spcPts val="0"/>
              </a:spcBef>
              <a:spcAft>
                <a:spcPts val="0"/>
              </a:spcAft>
              <a:buClr>
                <a:srgbClr val="000000"/>
              </a:buClr>
              <a:buSzPts val="4800"/>
              <a:buFont typeface="Arial" panose="020B0604020202020204"/>
              <a:buNone/>
              <a:defRPr/>
            </a:pPr>
            <a:endParaRPr sz="4800" b="0" i="0" u="none" strike="noStrike" cap="none">
              <a:solidFill>
                <a:schemeClr val="dk2"/>
              </a:solidFill>
              <a:latin typeface="Proxima Nova"/>
              <a:ea typeface="Proxima Nova"/>
              <a:cs typeface="Proxima Nov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userDrawn="1" matchingName="20. Отбивка 2 pro">
  <p:cSld name="1_20. Отбивка 2 pro">
    <p:bg>
      <p:bgPr>
        <a:solidFill>
          <a:srgbClr val="0066FF"/>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userDrawn="1" matchingName="11. Фон dark 1">
  <p:cSld name="11. Фон dark">
    <p:bg>
      <p:bgPr>
        <a:solidFill>
          <a:schemeClr val="lt2"/>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userDrawn="1" matchingName="11. Фон dark 1 1">
  <p:cSld name="11. Фоныыыыыы">
    <p:bg>
      <p:bgPr>
        <a:solidFill>
          <a:schemeClr val="lt2"/>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userDrawn="1" matchingName="12. Титульник neo">
  <p:cSld name="12. Титульник neo">
    <p:bg>
      <p:bgPr>
        <a:solidFill>
          <a:schemeClr val="accent2"/>
        </a:solidFill>
        <a:effectLst/>
      </p:bgPr>
    </p:bg>
    <p:spTree>
      <p:nvGrpSpPr>
        <p:cNvPr id="1" name=""/>
        <p:cNvGrpSpPr/>
        <p:nvPr/>
      </p:nvGrpSpPr>
      <p:grpSpPr bwMode="auto">
        <a:xfrm>
          <a:off x="0" y="0"/>
          <a:ext cx="0" cy="0"/>
          <a:chOff x="0" y="0"/>
          <a:chExt cx="0" cy="0"/>
        </a:xfrm>
      </p:grpSpPr>
      <p:sp>
        <p:nvSpPr>
          <p:cNvPr id="90" name="Google Shape;90;p20"/>
          <p:cNvSpPr/>
          <p:nvPr/>
        </p:nvSpPr>
        <p:spPr bwMode="auto">
          <a:xfrm>
            <a:off x="6531775" y="0"/>
            <a:ext cx="5214899" cy="5143500"/>
          </a:xfrm>
          <a:prstGeom prst="ellipse">
            <a:avLst/>
          </a:prstGeom>
          <a:solidFill>
            <a:schemeClr val="accent1"/>
          </a:solidFill>
          <a:ln w="9525"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91" name="Google Shape;91;p20"/>
          <p:cNvSpPr/>
          <p:nvPr/>
        </p:nvSpPr>
        <p:spPr bwMode="auto">
          <a:xfrm>
            <a:off x="1331509" y="18000"/>
            <a:ext cx="5200200" cy="5129399"/>
          </a:xfrm>
          <a:prstGeom prst="ellipse">
            <a:avLst/>
          </a:prstGeom>
          <a:noFill/>
          <a:ln w="1905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nvGrpSpPr>
          <p:cNvPr id="92" name="Google Shape;92;p20"/>
          <p:cNvGrpSpPr/>
          <p:nvPr/>
        </p:nvGrpSpPr>
        <p:grpSpPr bwMode="auto">
          <a:xfrm>
            <a:off x="8569715" y="4505200"/>
            <a:ext cx="258577" cy="265368"/>
            <a:chOff x="238125" y="2432825"/>
            <a:chExt cx="779549" cy="781875"/>
          </a:xfrm>
        </p:grpSpPr>
        <p:sp>
          <p:nvSpPr>
            <p:cNvPr id="93" name="Google Shape;93;p20"/>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94" name="Google Shape;94;p20"/>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95" name="Google Shape;95;p20"/>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96" name="Google Shape;96;p20"/>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userDrawn="1" matchingName="14. Определение neo">
  <p:cSld name="14. Определение neo">
    <p:bg>
      <p:bgPr>
        <a:solidFill>
          <a:schemeClr val="accent2"/>
        </a:solidFill>
        <a:effectLst/>
      </p:bgPr>
    </p:bg>
    <p:spTree>
      <p:nvGrpSpPr>
        <p:cNvPr id="1" name=""/>
        <p:cNvGrpSpPr/>
        <p:nvPr/>
      </p:nvGrpSpPr>
      <p:grpSpPr bwMode="auto">
        <a:xfrm>
          <a:off x="0" y="0"/>
          <a:ext cx="0" cy="0"/>
          <a:chOff x="0" y="0"/>
          <a:chExt cx="0" cy="0"/>
        </a:xfrm>
      </p:grpSpPr>
      <p:sp>
        <p:nvSpPr>
          <p:cNvPr id="98" name="Google Shape;98;p21"/>
          <p:cNvSpPr/>
          <p:nvPr/>
        </p:nvSpPr>
        <p:spPr bwMode="auto">
          <a:xfrm>
            <a:off x="7143750" y="0"/>
            <a:ext cx="5143500" cy="5143500"/>
          </a:xfrm>
          <a:prstGeom prst="ellipse">
            <a:avLst/>
          </a:prstGeom>
          <a:noFill/>
          <a:ln w="1905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99" name="Google Shape;99;p21"/>
          <p:cNvSpPr/>
          <p:nvPr/>
        </p:nvSpPr>
        <p:spPr bwMode="auto">
          <a:xfrm>
            <a:off x="-3143250" y="0"/>
            <a:ext cx="5143500" cy="5143500"/>
          </a:xfrm>
          <a:prstGeom prst="ellipse">
            <a:avLst/>
          </a:prstGeom>
          <a:noFill/>
          <a:ln w="1905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00" name="Google Shape;100;p21"/>
          <p:cNvSpPr/>
          <p:nvPr/>
        </p:nvSpPr>
        <p:spPr bwMode="auto">
          <a:xfrm>
            <a:off x="2000250" y="0"/>
            <a:ext cx="5143500" cy="5143500"/>
          </a:xfrm>
          <a:prstGeom prst="ellipse">
            <a:avLst/>
          </a:prstGeom>
          <a:solidFill>
            <a:schemeClr val="accent1"/>
          </a:solidFill>
          <a:ln w="2540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userDrawn="1" matchingName="14. Определение neo 1">
  <p:cSld name="14. Определение">
    <p:bg>
      <p:bgPr>
        <a:solidFill>
          <a:schemeClr val="accent2"/>
        </a:solidFill>
        <a:effectLst/>
      </p:bgPr>
    </p:bg>
    <p:spTree>
      <p:nvGrpSpPr>
        <p:cNvPr id="1" name=""/>
        <p:cNvGrpSpPr/>
        <p:nvPr/>
      </p:nvGrpSpPr>
      <p:grpSpPr bwMode="auto">
        <a:xfrm>
          <a:off x="0" y="0"/>
          <a:ext cx="0" cy="0"/>
          <a:chOff x="0" y="0"/>
          <a:chExt cx="0" cy="0"/>
        </a:xfrm>
      </p:grpSpPr>
      <p:sp>
        <p:nvSpPr>
          <p:cNvPr id="102" name="Google Shape;102;p22"/>
          <p:cNvSpPr/>
          <p:nvPr/>
        </p:nvSpPr>
        <p:spPr bwMode="auto">
          <a:xfrm>
            <a:off x="7143750" y="0"/>
            <a:ext cx="5143500" cy="5143500"/>
          </a:xfrm>
          <a:prstGeom prst="ellipse">
            <a:avLst/>
          </a:prstGeom>
          <a:noFill/>
          <a:ln w="1905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03" name="Google Shape;103;p22"/>
          <p:cNvSpPr/>
          <p:nvPr/>
        </p:nvSpPr>
        <p:spPr bwMode="auto">
          <a:xfrm>
            <a:off x="-3143250" y="0"/>
            <a:ext cx="5143500" cy="5143500"/>
          </a:xfrm>
          <a:prstGeom prst="ellipse">
            <a:avLst/>
          </a:prstGeom>
          <a:noFill/>
          <a:ln w="1905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04" name="Google Shape;104;p22"/>
          <p:cNvSpPr/>
          <p:nvPr/>
        </p:nvSpPr>
        <p:spPr bwMode="auto">
          <a:xfrm>
            <a:off x="2000250" y="0"/>
            <a:ext cx="5143500" cy="5143500"/>
          </a:xfrm>
          <a:prstGeom prst="ellipse">
            <a:avLst/>
          </a:prstGeom>
          <a:solidFill>
            <a:schemeClr val="accent1"/>
          </a:solidFill>
          <a:ln w="25400" cap="flat" cmpd="sng">
            <a:solidFill>
              <a:schemeClr val="accen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userDrawn="1" matchingName="15. Отбивка 2 neo">
  <p:cSld name="15. Отбивка 2 neo">
    <p:bg>
      <p:bgPr>
        <a:solidFill>
          <a:schemeClr val="accent2"/>
        </a:solidFill>
        <a:effectLst/>
      </p:bgPr>
    </p:bg>
    <p:spTree>
      <p:nvGrpSpPr>
        <p:cNvPr id="1" name=""/>
        <p:cNvGrpSpPr/>
        <p:nvPr/>
      </p:nvGrpSpPr>
      <p:grpSpPr bwMode="auto">
        <a:xfrm>
          <a:off x="0" y="0"/>
          <a:ext cx="0" cy="0"/>
          <a:chOff x="0" y="0"/>
          <a:chExt cx="0" cy="0"/>
        </a:xfrm>
      </p:grpSpPr>
      <p:sp>
        <p:nvSpPr>
          <p:cNvPr id="106" name="Google Shape;106;p23"/>
          <p:cNvSpPr/>
          <p:nvPr/>
        </p:nvSpPr>
        <p:spPr bwMode="auto">
          <a:xfrm>
            <a:off x="8382000" y="2523325"/>
            <a:ext cx="2286000" cy="2286000"/>
          </a:xfrm>
          <a:prstGeom prst="ellipse">
            <a:avLst/>
          </a:prstGeom>
          <a:noFill/>
          <a:ln w="1905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07" name="Google Shape;107;p23"/>
          <p:cNvSpPr/>
          <p:nvPr/>
        </p:nvSpPr>
        <p:spPr bwMode="auto">
          <a:xfrm>
            <a:off x="6096000" y="2514600"/>
            <a:ext cx="2286000" cy="2286000"/>
          </a:xfrm>
          <a:prstGeom prst="ellipse">
            <a:avLst/>
          </a:prstGeom>
          <a:solidFill>
            <a:schemeClr val="lt1"/>
          </a:solidFill>
          <a:ln w="38100" cap="flat" cmpd="sng">
            <a:solidFill>
              <a:schemeClr val="lt1"/>
            </a:solidFill>
            <a:prstDash val="solid"/>
            <a:round/>
            <a:headEnd type="none" w="sm" len="sm"/>
            <a:tailEnd type="none" w="sm" len="sm"/>
          </a:ln>
        </p:spPr>
        <p:txBody>
          <a:bodyPr spcFirstLastPara="1" wrap="square" lIns="45725" tIns="45725" rIns="45725" bIns="45725" anchor="ctr" anchorCtr="0">
            <a:noAutofit/>
          </a:bodyPr>
          <a:lstStyle/>
          <a:p>
            <a:pPr marL="0" marR="0" lvl="0" indent="0" algn="ctr">
              <a:lnSpc>
                <a:spcPct val="100000"/>
              </a:lnSpc>
              <a:spcBef>
                <a:spcPts val="0"/>
              </a:spcBef>
              <a:spcAft>
                <a:spcPts val="0"/>
              </a:spcAft>
              <a:buClr>
                <a:srgbClr val="000000"/>
              </a:buClr>
              <a:buSzPts val="4800"/>
              <a:buFont typeface="Arial" panose="020B0604020202020204"/>
              <a:buNone/>
              <a:defRPr/>
            </a:pPr>
            <a:endParaRPr sz="4800" b="0" i="0" u="none" strike="noStrike" cap="none">
              <a:solidFill>
                <a:schemeClr val="dk2"/>
              </a:solidFill>
              <a:latin typeface="Proxima Nova"/>
              <a:ea typeface="Proxima Nova"/>
              <a:cs typeface="Proxima Nov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userDrawn="1" matchingName="16. Фон neo">
  <p:cSld name="16. Фон neo">
    <p:bg>
      <p:bgPr>
        <a:solidFill>
          <a:schemeClr val="accent2"/>
        </a:solidFill>
        <a:effectLst/>
      </p:bgPr>
    </p:bg>
    <p:spTree>
      <p:nvGrpSpPr>
        <p:cNvPr id="1" name=""/>
        <p:cNvGrpSpPr/>
        <p:nvPr/>
      </p:nvGrpSpPr>
      <p:grpSpPr bwMode="auto">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userDrawn="1" matchingName="16. Фон neo 1">
  <p:cSld name="16. Фон ">
    <p:bg>
      <p:bgPr>
        <a:solidFill>
          <a:schemeClr val="accent2"/>
        </a:solidFill>
        <a:effectLst/>
      </p:bgPr>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bwMode="auto">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1pPr>
      <a:lvl2pPr marR="0" lvl="1"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2pPr>
      <a:lvl3pPr marR="0" lvl="2"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3pPr>
      <a:lvl4pPr marR="0" lvl="3"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4pPr>
      <a:lvl5pPr marR="0" lvl="4"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5pPr>
      <a:lvl6pPr marR="0" lvl="5"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6pPr>
      <a:lvl7pPr marR="0" lvl="6"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7pPr>
      <a:lvl8pPr marR="0" lvl="7"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8pPr>
      <a:lvl9pPr marR="0" lvl="8"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1pPr>
      <a:lvl2pPr marR="0" lvl="1"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2pPr>
      <a:lvl3pPr marR="0" lvl="2"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3pPr>
      <a:lvl4pPr marR="0" lvl="3"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4pPr>
      <a:lvl5pPr marR="0" lvl="4"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5pPr>
      <a:lvl6pPr marR="0" lvl="5"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6pPr>
      <a:lvl7pPr marR="0" lvl="6"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7pPr>
      <a:lvl8pPr marR="0" lvl="7"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8pPr>
      <a:lvl9pPr marR="0" lvl="8"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1pPr>
      <a:lvl2pPr marR="0" lvl="1"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2pPr>
      <a:lvl3pPr marR="0" lvl="2"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3pPr>
      <a:lvl4pPr marR="0" lvl="3"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4pPr>
      <a:lvl5pPr marR="0" lvl="4"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5pPr>
      <a:lvl6pPr marR="0" lvl="5"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6pPr>
      <a:lvl7pPr marR="0" lvl="6"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7pPr>
      <a:lvl8pPr marR="0" lvl="7"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8pPr>
      <a:lvl9pPr marR="0" lvl="8" algn="l">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127.0.0.1:8000/docs"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city-cyber/ML_Cyber"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isk.360.yandex.ru/i/uOVimqbYdaoPdg" TargetMode="External"/><Relationship Id="rId3" Type="http://schemas.openxmlformats.org/officeDocument/2006/relationships/hyperlink" Target="https://spamassassin.apache.org/old/publiccorpus/readme.html" TargetMode="External"/><Relationship Id="rId4" Type="http://schemas.openxmlformats.org/officeDocument/2006/relationships/hyperlink" Target="https://disk.yandex.ru/d/mJ_9zG3dX3eZgg" TargetMode="External"/><Relationship Id="rId5" Type="http://schemas.openxmlformats.org/officeDocument/2006/relationships/hyperlink" Target="https://scikit-learn.org/stable/modules/classification_threshold.html" TargetMode="External"/><Relationship Id="rId6" Type="http://schemas.openxmlformats.org/officeDocument/2006/relationships/hyperlink" Target="https://fastapi.tiangolo.com/deployment/docker/" TargetMode="External"/><Relationship Id="rId7" Type="http://schemas.openxmlformats.org/officeDocument/2006/relationships/hyperlink" Target="https://github.com/city-cyber/ML_Cyber" TargetMode="External"/><Relationship Id="rId8"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14" name="Google Shape;114;p26"/>
          <p:cNvGrpSpPr/>
          <p:nvPr/>
        </p:nvGrpSpPr>
        <p:grpSpPr bwMode="auto">
          <a:xfrm>
            <a:off x="8549243" y="4536458"/>
            <a:ext cx="258577" cy="265368"/>
            <a:chOff x="238125" y="2432825"/>
            <a:chExt cx="779549" cy="781875"/>
          </a:xfrm>
        </p:grpSpPr>
        <p:sp>
          <p:nvSpPr>
            <p:cNvPr id="115" name="Google Shape;115;p26"/>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16" name="Google Shape;116;p26"/>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17" name="Google Shape;117;p26"/>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118" name="Google Shape;118;p26"/>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
        <p:nvSpPr>
          <p:cNvPr id="119" name="TextBox 118"/>
          <p:cNvSpPr txBox="1"/>
          <p:nvPr/>
        </p:nvSpPr>
        <p:spPr>
          <a:xfrm>
            <a:off x="365760" y="347472"/>
            <a:ext cx="8138160" cy="530352"/>
          </a:xfrm>
          <a:prstGeom prst="rect">
            <a:avLst/>
          </a:prstGeom>
          <a:noFill/>
        </p:spPr>
        <p:txBody>
          <a:bodyPr wrap="square" lIns="18288" tIns="18288" rIns="18288" bIns="18288">
            <a:spAutoFit/>
          </a:bodyPr>
          <a:lstStyle/>
          <a:p>
            <a:pPr algn="l">
              <a:spcAft>
                <a:spcPts val="500"/>
              </a:spcAft>
              <a:defRPr sz="2200" b="1">
                <a:solidFill>
                  <a:srgbClr val="FFFFFF"/>
                </a:solidFill>
                <a:latin typeface="Arial" panose="020B0604020202020204"/>
              </a:defRPr>
            </a:pPr>
            <a:r>
              <a:rPr sz="2200" b="1">
                <a:solidFill>
                  <a:srgbClr val="FFFFFF"/>
                </a:solidFill>
                <a:latin typeface="Arial" panose="020B0604020202020204"/>
              </a:rPr>
              <a:t>Применение ML в кибербезопасности</a:t>
            </a:r>
            <a:endParaRPr sz="2200" b="1">
              <a:solidFill>
                <a:srgbClr val="FFFFFF"/>
              </a:solidFill>
              <a:latin typeface="Arial" panose="020B0604020202020204"/>
            </a:endParaRPr>
          </a:p>
        </p:txBody>
      </p:sp>
      <p:sp>
        <p:nvSpPr>
          <p:cNvPr id="120" name="TextBox 119"/>
          <p:cNvSpPr txBox="1"/>
          <p:nvPr/>
        </p:nvSpPr>
        <p:spPr>
          <a:xfrm>
            <a:off x="365760" y="1188720"/>
            <a:ext cx="8046720" cy="1920240"/>
          </a:xfrm>
          <a:prstGeom prst="rect">
            <a:avLst/>
          </a:prstGeom>
          <a:noFill/>
        </p:spPr>
        <p:txBody>
          <a:bodyPr wrap="square" lIns="18288" tIns="18288" rIns="18288" bIns="18288">
            <a:spAutoFit/>
          </a:bodyPr>
          <a:lstStyle/>
          <a:p>
            <a:pPr algn="l">
              <a:spcAft>
                <a:spcPts val="500"/>
              </a:spcAft>
              <a:defRPr sz="3800" b="1">
                <a:solidFill>
                  <a:srgbClr val="FFFFFF"/>
                </a:solidFill>
                <a:latin typeface="Arial" panose="020B0604020202020204"/>
              </a:defRPr>
            </a:pPr>
            <a:r>
              <a:rPr sz="3800" b="1">
                <a:solidFill>
                  <a:srgbClr val="FFFFFF"/>
                </a:solidFill>
                <a:latin typeface="Arial" panose="020B0604020202020204"/>
              </a:rPr>
              <a:t>Антиспам:</a:t>
            </a:r>
            <a:endParaRPr sz="3800" b="1">
              <a:solidFill>
                <a:srgbClr val="FFFFFF"/>
              </a:solidFill>
              <a:latin typeface="Arial" panose="020B0604020202020204"/>
            </a:endParaRPr>
          </a:p>
          <a:p>
            <a:pPr algn="l">
              <a:spcAft>
                <a:spcPts val="500"/>
              </a:spcAft>
              <a:defRPr sz="3800" b="1">
                <a:solidFill>
                  <a:srgbClr val="FFFFFF"/>
                </a:solidFill>
                <a:latin typeface="Arial" panose="020B0604020202020204"/>
              </a:defRPr>
            </a:pPr>
            <a:r>
              <a:rPr sz="3800" b="1">
                <a:solidFill>
                  <a:srgbClr val="FFFFFF"/>
                </a:solidFill>
                <a:latin typeface="Arial" panose="020B0604020202020204"/>
              </a:rPr>
              <a:t>выбор модели</a:t>
            </a:r>
            <a:endParaRPr sz="3800" b="1">
              <a:solidFill>
                <a:srgbClr val="FFFFFF"/>
              </a:solidFill>
              <a:latin typeface="Arial" panose="020B0604020202020204"/>
            </a:endParaRPr>
          </a:p>
          <a:p>
            <a:pPr algn="l">
              <a:spcAft>
                <a:spcPts val="500"/>
              </a:spcAft>
              <a:defRPr sz="3800" b="1">
                <a:solidFill>
                  <a:srgbClr val="FFFFFF"/>
                </a:solidFill>
                <a:latin typeface="Arial" panose="020B0604020202020204"/>
              </a:defRPr>
            </a:pPr>
            <a:r>
              <a:rPr sz="3800" b="1">
                <a:solidFill>
                  <a:srgbClr val="FFFFFF"/>
                </a:solidFill>
                <a:latin typeface="Arial" panose="020B0604020202020204"/>
              </a:rPr>
              <a:t>и цена ошибок</a:t>
            </a:r>
            <a:endParaRPr sz="3800" b="1">
              <a:solidFill>
                <a:srgbClr val="FFFFFF"/>
              </a:solidFill>
              <a:latin typeface="Arial" panose="020B0604020202020204"/>
            </a:endParaRPr>
          </a:p>
        </p:txBody>
      </p:sp>
      <p:sp>
        <p:nvSpPr>
          <p:cNvPr id="121" name="TextBox 120"/>
          <p:cNvSpPr txBox="1"/>
          <p:nvPr/>
        </p:nvSpPr>
        <p:spPr>
          <a:xfrm>
            <a:off x="393192" y="3401568"/>
            <a:ext cx="7726679" cy="530352"/>
          </a:xfrm>
          <a:prstGeom prst="rect">
            <a:avLst/>
          </a:prstGeom>
          <a:noFill/>
        </p:spPr>
        <p:txBody>
          <a:bodyPr wrap="square" lIns="18288" tIns="18288" rIns="18288" bIns="18288">
            <a:spAutoFit/>
          </a:bodyPr>
          <a:lstStyle/>
          <a:p>
            <a:pPr algn="l">
              <a:spcAft>
                <a:spcPts val="500"/>
              </a:spcAft>
              <a:defRPr sz="1800" b="0">
                <a:solidFill>
                  <a:srgbClr val="FFFFFF"/>
                </a:solidFill>
                <a:latin typeface="Arial" panose="020B0604020202020204"/>
              </a:defRPr>
            </a:pPr>
            <a:r>
              <a:rPr sz="1800" b="0">
                <a:solidFill>
                  <a:srgbClr val="FFFFFF"/>
                </a:solidFill>
                <a:latin typeface="Arial" panose="020B0604020202020204"/>
              </a:rPr>
              <a:t>Итоговое задание  •  TF-IDF + ComplementNB</a:t>
            </a:r>
            <a:endParaRPr sz="1800" b="0">
              <a:solidFill>
                <a:srgbClr val="FFFFFF"/>
              </a:solidFill>
              <a:latin typeface="Arial" panose="020B0604020202020204"/>
            </a:endParaRPr>
          </a:p>
        </p:txBody>
      </p:sp>
      <p:sp>
        <p:nvSpPr>
          <p:cNvPr id="122" name="TextBox 121"/>
          <p:cNvSpPr txBox="1"/>
          <p:nvPr/>
        </p:nvSpPr>
        <p:spPr>
          <a:xfrm>
            <a:off x="393192" y="4224528"/>
            <a:ext cx="7360920" cy="640080"/>
          </a:xfrm>
          <a:prstGeom prst="rect">
            <a:avLst/>
          </a:prstGeom>
          <a:noFill/>
        </p:spPr>
        <p:txBody>
          <a:bodyPr wrap="square" lIns="18288" tIns="18288" rIns="18288" bIns="18288">
            <a:spAutoFit/>
          </a:bodyPr>
          <a:lstStyle/>
          <a:p>
            <a:pPr algn="l">
              <a:spcAft>
                <a:spcPts val="500"/>
              </a:spcAft>
              <a:defRPr sz="1600" b="0">
                <a:solidFill>
                  <a:srgbClr val="FFFFFF"/>
                </a:solidFill>
                <a:latin typeface="Arial" panose="020B0604020202020204"/>
              </a:defRPr>
            </a:pPr>
            <a:r>
              <a:rPr sz="1600" b="0">
                <a:solidFill>
                  <a:srgbClr val="FFFFFF"/>
                </a:solidFill>
                <a:latin typeface="Arial" panose="020B0604020202020204"/>
              </a:rPr>
              <a:t>Городилова Ирина Сергеевна</a:t>
            </a:r>
            <a:endParaRPr sz="1600" b="0">
              <a:solidFill>
                <a:srgbClr val="FFFFFF"/>
              </a:solidFill>
              <a:latin typeface="Arial" panose="020B0604020202020204"/>
            </a:endParaRPr>
          </a:p>
          <a:p>
            <a:pPr algn="l">
              <a:spcAft>
                <a:spcPts val="500"/>
              </a:spcAft>
              <a:defRPr sz="1600" b="0">
                <a:solidFill>
                  <a:srgbClr val="FFFFFF"/>
                </a:solidFill>
                <a:latin typeface="Arial" panose="020B0604020202020204"/>
              </a:defRPr>
            </a:pPr>
            <a:r>
              <a:rPr sz="1600" b="0">
                <a:solidFill>
                  <a:srgbClr val="FFFFFF"/>
                </a:solidFill>
                <a:latin typeface="Arial" panose="020B0604020202020204"/>
              </a:rPr>
              <a:t>Группа МКБ251</a:t>
            </a:r>
            <a:endParaRPr sz="1600" b="0">
              <a:solidFill>
                <a:srgbClr val="FFFFFF"/>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84048" y="484632"/>
            <a:ext cx="7973568" cy="1417320"/>
          </a:xfrm>
          <a:prstGeom prst="rect">
            <a:avLst/>
          </a:prstGeom>
          <a:noFill/>
        </p:spPr>
        <p:txBody>
          <a:bodyPr wrap="square" lIns="18288" rIns="18288" tIns="18288" bIns="18288">
            <a:spAutoFit/>
          </a:bodyPr>
          <a:lstStyle/>
          <a:p>
            <a:pPr algn="l">
              <a:spcAft>
                <a:spcPts val="500"/>
              </a:spcAft>
              <a:defRPr sz="3400" b="1">
                <a:solidFill>
                  <a:srgbClr val="FFFFFF"/>
                </a:solidFill>
                <a:latin typeface="Arial"/>
              </a:defRPr>
            </a:pPr>
            <a:r>
              <a:rPr sz="3400" b="1">
                <a:solidFill>
                  <a:srgbClr val="FFFFFF"/>
                </a:solidFill>
                <a:latin typeface="Arial"/>
              </a:rPr>
              <a:t>Спасибо за внимание!</a:t>
            </a:r>
          </a:p>
          <a:p>
            <a:pPr algn="l">
              <a:spcAft>
                <a:spcPts val="500"/>
              </a:spcAft>
              <a:defRPr sz="3400" b="1">
                <a:solidFill>
                  <a:srgbClr val="FFFFFF"/>
                </a:solidFill>
                <a:latin typeface="Arial"/>
              </a:defRPr>
            </a:pPr>
            <a:r>
              <a:rPr sz="3400" b="1">
                <a:solidFill>
                  <a:srgbClr val="FFFFFF"/>
                </a:solidFill>
                <a:latin typeface="Arial"/>
              </a:rPr>
              <a:t>Готова к вопросам</a:t>
            </a:r>
          </a:p>
        </p:txBody>
      </p:sp>
      <p:sp>
        <p:nvSpPr>
          <p:cNvPr id="3" name="TextBox 2"/>
          <p:cNvSpPr txBox="1"/>
          <p:nvPr/>
        </p:nvSpPr>
        <p:spPr>
          <a:xfrm>
            <a:off x="411480" y="2350008"/>
            <a:ext cx="7955279" cy="932688"/>
          </a:xfrm>
          <a:prstGeom prst="rect">
            <a:avLst/>
          </a:prstGeom>
          <a:noFill/>
        </p:spPr>
        <p:txBody>
          <a:bodyPr wrap="square" lIns="18288" rIns="18288" tIns="18288" bIns="18288">
            <a:spAutoFit/>
          </a:bodyPr>
          <a:lstStyle/>
          <a:p>
            <a:pPr algn="l">
              <a:spcAft>
                <a:spcPts val="500"/>
              </a:spcAft>
              <a:defRPr sz="2700" b="1">
                <a:solidFill>
                  <a:srgbClr val="FFFFFF"/>
                </a:solidFill>
                <a:latin typeface="Arial"/>
              </a:defRPr>
            </a:pPr>
            <a:r>
              <a:rPr sz="2700" b="1">
                <a:solidFill>
                  <a:srgbClr val="FFFFFF"/>
                </a:solidFill>
                <a:latin typeface="Arial"/>
              </a:rPr>
              <a:t>Выбор модели и порога —</a:t>
            </a:r>
          </a:p>
          <a:p>
            <a:pPr algn="l">
              <a:spcAft>
                <a:spcPts val="500"/>
              </a:spcAft>
              <a:defRPr sz="2700" b="1">
                <a:solidFill>
                  <a:srgbClr val="FFFFFF"/>
                </a:solidFill>
                <a:latin typeface="Arial"/>
              </a:defRPr>
            </a:pPr>
            <a:r>
              <a:rPr sz="2700" b="1">
                <a:solidFill>
                  <a:srgbClr val="FFFFFF"/>
                </a:solidFill>
                <a:latin typeface="Arial"/>
              </a:rPr>
              <a:t>явный выбор цены ошибок.</a:t>
            </a:r>
          </a:p>
        </p:txBody>
      </p:sp>
      <p:sp>
        <p:nvSpPr>
          <p:cNvPr id="4" name="TextBox 3"/>
          <p:cNvSpPr txBox="1"/>
          <p:nvPr/>
        </p:nvSpPr>
        <p:spPr>
          <a:xfrm>
            <a:off x="411480" y="4105656"/>
            <a:ext cx="7680960" cy="704088"/>
          </a:xfrm>
          <a:prstGeom prst="rect">
            <a:avLst/>
          </a:prstGeom>
          <a:noFill/>
        </p:spPr>
        <p:txBody>
          <a:bodyPr wrap="square" lIns="18288" rIns="18288" tIns="18288" bIns="18288">
            <a:spAutoFit/>
          </a:bodyPr>
          <a:lstStyle/>
          <a:p>
            <a:pPr algn="l">
              <a:spcAft>
                <a:spcPts val="500"/>
              </a:spcAft>
              <a:defRPr sz="1500" b="0">
                <a:solidFill>
                  <a:srgbClr val="FFFFFF"/>
                </a:solidFill>
                <a:latin typeface="Arial"/>
              </a:defRPr>
            </a:pPr>
            <a:r>
              <a:rPr sz="1500" b="0">
                <a:solidFill>
                  <a:srgbClr val="FFFFFF"/>
                </a:solidFill>
                <a:latin typeface="Arial"/>
              </a:rPr>
              <a:t>Городилова Ирина Сергеевна  •  МКБ251</a:t>
            </a:r>
          </a:p>
          <a:p>
            <a:pPr algn="l">
              <a:spcAft>
                <a:spcPts val="500"/>
              </a:spcAft>
              <a:defRPr sz="1500" b="0">
                <a:solidFill>
                  <a:srgbClr val="FFFFFF"/>
                </a:solidFill>
                <a:latin typeface="Arial"/>
              </a:defRPr>
            </a:pPr>
            <a:r>
              <a:rPr sz="1500" b="0">
                <a:solidFill>
                  <a:srgbClr val="FFFFFF"/>
                </a:solidFill>
                <a:latin typeface="Arial"/>
              </a:rPr>
              <a:t>github.com/city-cyber/ML_Cyber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Этапы работы и функции в проекте</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План</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02 / 23</a:t>
            </a:r>
          </a:p>
        </p:txBody>
      </p:sp>
      <p:graphicFrame>
        <p:nvGraphicFramePr>
          <p:cNvPr id="6" name="Table 5"/>
          <p:cNvGraphicFramePr>
            <a:graphicFrameLocks noGrp="1"/>
          </p:cNvGraphicFramePr>
          <p:nvPr/>
        </p:nvGraphicFramePr>
        <p:xfrm>
          <a:off x="393192" y="1097280"/>
          <a:ext cx="8321040" cy="2880360"/>
        </p:xfrm>
        <a:graphic>
          <a:graphicData uri="http://schemas.openxmlformats.org/drawingml/2006/table">
            <a:tbl>
              <a:tblPr firstRow="1" bandRow="1">
                <a:tableStyleId>{5C22544A-7EE6-4342-B048-85BDC9FD1C3A}</a:tableStyleId>
              </a:tblPr>
              <a:tblGrid>
                <a:gridCol w="2103120"/>
                <a:gridCol w="6217920"/>
              </a:tblGrid>
              <a:tr h="576072">
                <a:tc>
                  <a:txBody>
                    <a:bodyPr/>
                    <a:lstStyle/>
                    <a:p>
                      <a:pPr>
                        <a:spcAft>
                          <a:spcPts val="0"/>
                        </a:spcAft>
                        <a:defRPr sz="1700" b="1">
                          <a:solidFill>
                            <a:srgbClr val="FFFFFF"/>
                          </a:solidFill>
                          <a:latin typeface="Arial" panose="020B0604020202020204"/>
                        </a:defRPr>
                      </a:pPr>
                      <a:r>
                        <a:rPr sz="1700" b="1">
                          <a:solidFill>
                            <a:srgbClr val="FFFFFF"/>
                          </a:solidFill>
                          <a:latin typeface="Arial" panose="020B0604020202020204"/>
                        </a:rPr>
                        <a:t>Функция</a:t>
                      </a:r>
                      <a:endParaRPr sz="170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700" b="1">
                          <a:solidFill>
                            <a:srgbClr val="FFFFFF"/>
                          </a:solidFill>
                          <a:latin typeface="Arial" panose="020B0604020202020204"/>
                        </a:defRPr>
                      </a:pPr>
                      <a:r>
                        <a:rPr sz="1700" b="1">
                          <a:solidFill>
                            <a:srgbClr val="FFFFFF"/>
                          </a:solidFill>
                          <a:latin typeface="Arial" panose="020B0604020202020204"/>
                        </a:rPr>
                        <a:t>Результат работы</a:t>
                      </a:r>
                      <a:endParaRPr sz="1700" b="1">
                        <a:solidFill>
                          <a:srgbClr val="FFFFFF"/>
                        </a:solidFill>
                        <a:latin typeface="Arial" panose="020B0604020202020204"/>
                      </a:endParaRPr>
                    </a:p>
                  </a:txBody>
                  <a:tcPr marR="64008" marT="59436" marB="32004" anchor="ctr">
                    <a:solidFill>
                      <a:srgbClr val="0066FF"/>
                    </a:solidFill>
                  </a:tcPr>
                </a:tc>
              </a:tr>
              <a:tr h="576072">
                <a:tc>
                  <a:txBody>
                    <a:bodyPr/>
                    <a:lstStyle/>
                    <a:p>
                      <a:pPr>
                        <a:spcAft>
                          <a:spcPts val="0"/>
                        </a:spcAft>
                        <a:defRPr sz="1700" b="0">
                          <a:solidFill>
                            <a:srgbClr val="17263A"/>
                          </a:solidFill>
                          <a:latin typeface="Arial" panose="020B0604020202020204"/>
                        </a:defRPr>
                      </a:pPr>
                      <a:r>
                        <a:rPr sz="1700" b="0">
                          <a:solidFill>
                            <a:srgbClr val="17263A"/>
                          </a:solidFill>
                          <a:latin typeface="Arial" panose="020B0604020202020204"/>
                        </a:rPr>
                        <a:t>Аналитика</a:t>
                      </a:r>
                      <a:endParaRPr sz="17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700" b="0">
                          <a:solidFill>
                            <a:srgbClr val="17263A"/>
                          </a:solidFill>
                          <a:latin typeface="Arial" panose="020B0604020202020204"/>
                        </a:defRPr>
                      </a:pPr>
                      <a:r>
                        <a:rPr sz="1700" b="0">
                          <a:solidFill>
                            <a:srgbClr val="17263A"/>
                          </a:solidFill>
                          <a:latin typeface="Arial" panose="020B0604020202020204"/>
                        </a:rPr>
                        <a:t>Постановка задачи, метрики и приоритет FP</a:t>
                      </a:r>
                      <a:endParaRPr sz="1700" b="0">
                        <a:solidFill>
                          <a:srgbClr val="17263A"/>
                        </a:solidFill>
                        <a:latin typeface="Arial" panose="020B0604020202020204"/>
                      </a:endParaRPr>
                    </a:p>
                  </a:txBody>
                  <a:tcPr marR="64008" marT="59436" marB="32004" anchor="ctr">
                    <a:solidFill>
                      <a:srgbClr val="F3F6FB"/>
                    </a:solidFill>
                  </a:tcPr>
                </a:tc>
              </a:tr>
              <a:tr h="576072">
                <a:tc>
                  <a:txBody>
                    <a:bodyPr/>
                    <a:lstStyle/>
                    <a:p>
                      <a:pPr>
                        <a:spcAft>
                          <a:spcPts val="0"/>
                        </a:spcAft>
                        <a:defRPr sz="1700" b="0">
                          <a:solidFill>
                            <a:srgbClr val="17263A"/>
                          </a:solidFill>
                          <a:latin typeface="Arial" panose="020B0604020202020204"/>
                        </a:defRPr>
                      </a:pPr>
                      <a:r>
                        <a:rPr sz="1700" b="0">
                          <a:solidFill>
                            <a:srgbClr val="17263A"/>
                          </a:solidFill>
                          <a:latin typeface="Arial" panose="020B0604020202020204"/>
                        </a:rPr>
                        <a:t>Подготовка данных</a:t>
                      </a:r>
                      <a:endParaRPr sz="17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700" b="0">
                          <a:solidFill>
                            <a:srgbClr val="17263A"/>
                          </a:solidFill>
                          <a:latin typeface="Arial" panose="020B0604020202020204"/>
                        </a:defRPr>
                      </a:pPr>
                      <a:r>
                        <a:rPr sz="1700" b="0">
                          <a:solidFill>
                            <a:srgbClr val="17263A"/>
                          </a:solidFill>
                          <a:latin typeface="Arial" panose="020B0604020202020204"/>
                        </a:rPr>
                        <a:t>MIME/HTML, очистка и защита от утечки</a:t>
                      </a:r>
                      <a:endParaRPr sz="1700" b="0">
                        <a:solidFill>
                          <a:srgbClr val="17263A"/>
                        </a:solidFill>
                        <a:latin typeface="Arial" panose="020B0604020202020204"/>
                      </a:endParaRPr>
                    </a:p>
                  </a:txBody>
                  <a:tcPr marR="64008" marT="59436" marB="32004" anchor="ctr">
                    <a:solidFill>
                      <a:srgbClr val="FFFFFF"/>
                    </a:solidFill>
                  </a:tcPr>
                </a:tc>
              </a:tr>
              <a:tr h="576072">
                <a:tc>
                  <a:txBody>
                    <a:bodyPr/>
                    <a:lstStyle/>
                    <a:p>
                      <a:pPr>
                        <a:spcAft>
                          <a:spcPts val="0"/>
                        </a:spcAft>
                        <a:defRPr sz="1700" b="0">
                          <a:solidFill>
                            <a:srgbClr val="17263A"/>
                          </a:solidFill>
                          <a:latin typeface="Arial" panose="020B0604020202020204"/>
                        </a:defRPr>
                      </a:pPr>
                      <a:r>
                        <a:rPr sz="1700" b="0">
                          <a:solidFill>
                            <a:srgbClr val="17263A"/>
                          </a:solidFill>
                          <a:latin typeface="Arial" panose="020B0604020202020204"/>
                        </a:rPr>
                        <a:t>Data Science</a:t>
                      </a:r>
                      <a:endParaRPr sz="17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700" b="0">
                          <a:solidFill>
                            <a:srgbClr val="17263A"/>
                          </a:solidFill>
                          <a:latin typeface="Arial" panose="020B0604020202020204"/>
                        </a:defRPr>
                      </a:pPr>
                      <a:r>
                        <a:rPr sz="1700" b="0">
                          <a:solidFill>
                            <a:srgbClr val="17263A"/>
                          </a:solidFill>
                          <a:latin typeface="Arial" panose="020B0604020202020204"/>
                        </a:rPr>
                        <a:t>EDA, 5-fold CV и выбор порога</a:t>
                      </a:r>
                      <a:endParaRPr sz="1700" b="0">
                        <a:solidFill>
                          <a:srgbClr val="17263A"/>
                        </a:solidFill>
                        <a:latin typeface="Arial" panose="020B0604020202020204"/>
                      </a:endParaRPr>
                    </a:p>
                  </a:txBody>
                  <a:tcPr marR="64008" marT="59436" marB="32004" anchor="ctr">
                    <a:solidFill>
                      <a:srgbClr val="F3F6FB"/>
                    </a:solidFill>
                  </a:tcPr>
                </a:tc>
              </a:tr>
              <a:tr h="576072">
                <a:tc>
                  <a:txBody>
                    <a:bodyPr/>
                    <a:lstStyle/>
                    <a:p>
                      <a:pPr>
                        <a:spcAft>
                          <a:spcPts val="0"/>
                        </a:spcAft>
                        <a:defRPr sz="1700" b="0">
                          <a:solidFill>
                            <a:srgbClr val="17263A"/>
                          </a:solidFill>
                          <a:latin typeface="Arial" panose="020B0604020202020204"/>
                        </a:defRPr>
                      </a:pPr>
                      <a:r>
                        <a:rPr sz="1700" b="0">
                          <a:solidFill>
                            <a:srgbClr val="17263A"/>
                          </a:solidFill>
                          <a:latin typeface="Arial" panose="020B0604020202020204"/>
                        </a:rPr>
                        <a:t>ML-инженерия</a:t>
                      </a:r>
                      <a:endParaRPr sz="17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700" b="0">
                          <a:solidFill>
                            <a:srgbClr val="17263A"/>
                          </a:solidFill>
                          <a:latin typeface="Arial" panose="020B0604020202020204"/>
                        </a:defRPr>
                      </a:pPr>
                      <a:r>
                        <a:rPr sz="1700" b="0">
                          <a:solidFill>
                            <a:srgbClr val="17263A"/>
                          </a:solidFill>
                          <a:latin typeface="Arial" panose="020B0604020202020204"/>
                        </a:rPr>
                        <a:t>Экспорт Pipeline, FastAPI и Docker</a:t>
                      </a:r>
                      <a:endParaRPr sz="1700" b="0">
                        <a:solidFill>
                          <a:srgbClr val="17263A"/>
                        </a:solidFill>
                        <a:latin typeface="Arial" panose="020B0604020202020204"/>
                      </a:endParaRPr>
                    </a:p>
                  </a:txBody>
                  <a:tcPr marR="64008" marT="59436" marB="32004" anchor="ctr">
                    <a:solidFill>
                      <a:srgbClr val="FFFFFF"/>
                    </a:solidFill>
                  </a:tcPr>
                </a:tc>
              </a:tr>
            </a:tbl>
          </a:graphicData>
        </a:graphic>
      </p:graphicFrame>
      <p:sp>
        <p:nvSpPr>
          <p:cNvPr id="7" name="Rounded Rectangle 6"/>
          <p:cNvSpPr/>
          <p:nvPr/>
        </p:nvSpPr>
        <p:spPr>
          <a:xfrm>
            <a:off x="393192" y="3913632"/>
            <a:ext cx="8321040" cy="457200"/>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8" name="TextBox 7"/>
          <p:cNvSpPr txBox="1"/>
          <p:nvPr/>
        </p:nvSpPr>
        <p:spPr>
          <a:xfrm>
            <a:off x="530352" y="3995928"/>
            <a:ext cx="8037575" cy="338328"/>
          </a:xfrm>
          <a:prstGeom prst="rect">
            <a:avLst/>
          </a:prstGeom>
          <a:noFill/>
        </p:spPr>
        <p:txBody>
          <a:bodyPr wrap="square" lIns="18288" tIns="18288" rIns="18288" bIns="18288">
            <a:spAutoFit/>
          </a:bodyPr>
          <a:lstStyle/>
          <a:p>
            <a:pPr algn="l">
              <a:spcAft>
                <a:spcPts val="500"/>
              </a:spcAft>
              <a:defRPr sz="1320" b="1">
                <a:solidFill>
                  <a:srgbClr val="0066FF"/>
                </a:solidFill>
                <a:latin typeface="Arial" panose="020B0604020202020204"/>
              </a:defRPr>
            </a:pPr>
            <a:r>
              <a:rPr sz="1320" b="1">
                <a:solidFill>
                  <a:srgbClr val="0066FF"/>
                </a:solidFill>
                <a:latin typeface="Arial" panose="020B0604020202020204"/>
              </a:rPr>
              <a:t>Выполнены этапы 1–3. Публичное размещение — следующий этап.</a:t>
            </a:r>
            <a:endParaRPr sz="1320" b="1">
              <a:solidFill>
                <a:srgbClr val="0066FF"/>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Данные: три подкорпуса и отдельный контроль</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tIns="18288" rIns="18288" bIns="18288">
            <a:spAutoFit/>
          </a:bodyPr>
          <a:lstStyle/>
          <a:p>
            <a:pPr algn="l">
              <a:spcAft>
                <a:spcPts val="500"/>
              </a:spcAft>
              <a:defRPr sz="1250" b="0">
                <a:solidFill>
                  <a:srgbClr val="607087"/>
                </a:solidFill>
                <a:latin typeface="Arial" panose="020B0604020202020204"/>
              </a:defRPr>
            </a:pPr>
            <a:r>
              <a:rPr sz="1250" b="0">
                <a:solidFill>
                  <a:srgbClr val="607087"/>
                </a:solidFill>
                <a:latin typeface="Arial" panose="020B0604020202020204"/>
              </a:rPr>
              <a:t>Количество писем соответствует предоставленным локальным данным.</a:t>
            </a:r>
            <a:endParaRPr sz="1250" b="0">
              <a:solidFill>
                <a:srgbClr val="607087"/>
              </a:solidFill>
              <a:latin typeface="Arial" panose="020B0604020202020204"/>
            </a:endParaRPr>
          </a:p>
        </p:txBody>
      </p:sp>
      <p:sp>
        <p:nvSpPr>
          <p:cNvPr id="5" name="TextBox 4"/>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Данные</a:t>
            </a:r>
            <a:endParaRPr sz="900" b="0">
              <a:solidFill>
                <a:srgbClr val="607087"/>
              </a:solidFill>
              <a:latin typeface="Arial" panose="020B0604020202020204"/>
            </a:endParaRPr>
          </a:p>
        </p:txBody>
      </p:sp>
      <p:sp>
        <p:nvSpPr>
          <p:cNvPr id="6"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03 / 23</a:t>
            </a:r>
          </a:p>
        </p:txBody>
      </p:sp>
      <p:graphicFrame>
        <p:nvGraphicFramePr>
          <p:cNvPr id="7" name="Table 6"/>
          <p:cNvGraphicFramePr>
            <a:graphicFrameLocks noGrp="1"/>
          </p:cNvGraphicFramePr>
          <p:nvPr/>
        </p:nvGraphicFramePr>
        <p:xfrm>
          <a:off x="393192" y="1307592"/>
          <a:ext cx="8321040" cy="2423160"/>
        </p:xfrm>
        <a:graphic>
          <a:graphicData uri="http://schemas.openxmlformats.org/drawingml/2006/table">
            <a:tbl>
              <a:tblPr firstRow="1" bandRow="1">
                <a:tableStyleId>{5C22544A-7EE6-4342-B048-85BDC9FD1C3A}</a:tableStyleId>
              </a:tblPr>
              <a:tblGrid>
                <a:gridCol w="1828800"/>
                <a:gridCol w="914400"/>
                <a:gridCol w="1234440"/>
                <a:gridCol w="4343400"/>
              </a:tblGrid>
              <a:tr h="484632">
                <a:tc>
                  <a:txBody>
                    <a:bodyPr/>
                    <a:lstStyle/>
                    <a:p>
                      <a:pPr>
                        <a:spcAft>
                          <a:spcPts val="0"/>
                        </a:spcAft>
                        <a:defRPr sz="1500" b="1">
                          <a:solidFill>
                            <a:srgbClr val="FFFFFF"/>
                          </a:solidFill>
                          <a:latin typeface="Arial" panose="020B0604020202020204"/>
                        </a:defRPr>
                      </a:pPr>
                      <a:r>
                        <a:rPr sz="1500" b="1">
                          <a:solidFill>
                            <a:srgbClr val="FFFFFF"/>
                          </a:solidFill>
                          <a:latin typeface="Arial" panose="020B0604020202020204"/>
                        </a:rPr>
                        <a:t>Набор</a:t>
                      </a:r>
                      <a:endParaRPr sz="150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500" b="1">
                          <a:solidFill>
                            <a:srgbClr val="FFFFFF"/>
                          </a:solidFill>
                          <a:latin typeface="Arial" panose="020B0604020202020204"/>
                        </a:defRPr>
                      </a:pPr>
                      <a:r>
                        <a:rPr sz="1500" b="1">
                          <a:solidFill>
                            <a:srgbClr val="FFFFFF"/>
                          </a:solidFill>
                          <a:latin typeface="Arial" panose="020B0604020202020204"/>
                        </a:rPr>
                        <a:t>Писем</a:t>
                      </a:r>
                      <a:endParaRPr sz="150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500" b="1">
                          <a:solidFill>
                            <a:srgbClr val="FFFFFF"/>
                          </a:solidFill>
                          <a:latin typeface="Arial" panose="020B0604020202020204"/>
                        </a:defRPr>
                      </a:pPr>
                      <a:r>
                        <a:rPr sz="1500" b="1">
                          <a:solidFill>
                            <a:srgbClr val="FFFFFF"/>
                          </a:solidFill>
                          <a:latin typeface="Arial" panose="020B0604020202020204"/>
                        </a:rPr>
                        <a:t>Класс</a:t>
                      </a:r>
                      <a:endParaRPr sz="150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500" b="1">
                          <a:solidFill>
                            <a:srgbClr val="FFFFFF"/>
                          </a:solidFill>
                          <a:latin typeface="Arial" panose="020B0604020202020204"/>
                        </a:defRPr>
                      </a:pPr>
                      <a:r>
                        <a:rPr sz="1500" b="1">
                          <a:solidFill>
                            <a:srgbClr val="FFFFFF"/>
                          </a:solidFill>
                          <a:latin typeface="Arial" panose="020B0604020202020204"/>
                        </a:rPr>
                        <a:t>Особенность</a:t>
                      </a:r>
                      <a:endParaRPr sz="1500" b="1">
                        <a:solidFill>
                          <a:srgbClr val="FFFFFF"/>
                        </a:solidFill>
                        <a:latin typeface="Arial" panose="020B0604020202020204"/>
                      </a:endParaRPr>
                    </a:p>
                  </a:txBody>
                  <a:tcPr marR="64008" marT="59436" marB="32004" anchor="ctr">
                    <a:solidFill>
                      <a:srgbClr val="0066FF"/>
                    </a:solidFill>
                  </a:tcPr>
                </a:tc>
              </a:tr>
              <a:tr h="484632">
                <a:tc>
                  <a:txBody>
                    <a:bodyPr/>
                    <a:lstStyle/>
                    <a:p>
                      <a:pPr>
                        <a:spcAft>
                          <a:spcPts val="0"/>
                        </a:spcAft>
                        <a:defRPr sz="1500" b="0">
                          <a:solidFill>
                            <a:srgbClr val="17263A"/>
                          </a:solidFill>
                          <a:latin typeface="Arial" panose="020B0604020202020204"/>
                        </a:defRPr>
                      </a:pPr>
                      <a:r>
                        <a:rPr sz="1500" b="0">
                          <a:solidFill>
                            <a:srgbClr val="17263A"/>
                          </a:solidFill>
                          <a:latin typeface="Arial" panose="020B0604020202020204"/>
                        </a:rPr>
                        <a:t>easy_ham</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2551</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ham</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Обычная почта</a:t>
                      </a:r>
                      <a:endParaRPr sz="1500" b="0">
                        <a:solidFill>
                          <a:srgbClr val="17263A"/>
                        </a:solidFill>
                        <a:latin typeface="Arial" panose="020B0604020202020204"/>
                      </a:endParaRPr>
                    </a:p>
                  </a:txBody>
                  <a:tcPr marR="64008" marT="59436" marB="32004" anchor="ctr">
                    <a:solidFill>
                      <a:srgbClr val="F3F6FB"/>
                    </a:solidFill>
                  </a:tcPr>
                </a:tc>
              </a:tr>
              <a:tr h="484632">
                <a:tc>
                  <a:txBody>
                    <a:bodyPr/>
                    <a:lstStyle/>
                    <a:p>
                      <a:pPr>
                        <a:spcAft>
                          <a:spcPts val="0"/>
                        </a:spcAft>
                        <a:defRPr sz="1500" b="0">
                          <a:solidFill>
                            <a:srgbClr val="17263A"/>
                          </a:solidFill>
                          <a:latin typeface="Arial" panose="020B0604020202020204"/>
                        </a:defRPr>
                      </a:pPr>
                      <a:r>
                        <a:rPr sz="1500" b="0">
                          <a:solidFill>
                            <a:srgbClr val="17263A"/>
                          </a:solidFill>
                          <a:latin typeface="Arial" panose="020B0604020202020204"/>
                        </a:rPr>
                        <a:t>hard_ham</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250</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ham</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HTML и рекламоподобные выражения</a:t>
                      </a:r>
                      <a:endParaRPr sz="1500" b="0">
                        <a:solidFill>
                          <a:srgbClr val="17263A"/>
                        </a:solidFill>
                        <a:latin typeface="Arial" panose="020B0604020202020204"/>
                      </a:endParaRPr>
                    </a:p>
                  </a:txBody>
                  <a:tcPr marR="64008" marT="59436" marB="32004" anchor="ctr">
                    <a:solidFill>
                      <a:srgbClr val="FFFFFF"/>
                    </a:solidFill>
                  </a:tcPr>
                </a:tc>
              </a:tr>
              <a:tr h="484632">
                <a:tc>
                  <a:txBody>
                    <a:bodyPr/>
                    <a:lstStyle/>
                    <a:p>
                      <a:pPr>
                        <a:spcAft>
                          <a:spcPts val="0"/>
                        </a:spcAft>
                        <a:defRPr sz="1500" b="0">
                          <a:solidFill>
                            <a:srgbClr val="17263A"/>
                          </a:solidFill>
                          <a:latin typeface="Arial" panose="020B0604020202020204"/>
                        </a:defRPr>
                      </a:pPr>
                      <a:r>
                        <a:rPr sz="1500" b="0">
                          <a:solidFill>
                            <a:srgbClr val="17263A"/>
                          </a:solidFill>
                          <a:latin typeface="Arial" panose="020B0604020202020204"/>
                        </a:rPr>
                        <a:t>spam_2</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1396</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spam</a:t>
                      </a:r>
                      <a:endParaRPr sz="15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Нежелательная почта</a:t>
                      </a:r>
                      <a:endParaRPr sz="1500" b="0">
                        <a:solidFill>
                          <a:srgbClr val="17263A"/>
                        </a:solidFill>
                        <a:latin typeface="Arial" panose="020B0604020202020204"/>
                      </a:endParaRPr>
                    </a:p>
                  </a:txBody>
                  <a:tcPr marR="64008" marT="59436" marB="32004" anchor="ctr">
                    <a:solidFill>
                      <a:srgbClr val="F3F6FB"/>
                    </a:solidFill>
                  </a:tcPr>
                </a:tc>
              </a:tr>
              <a:tr h="484632">
                <a:tc>
                  <a:txBody>
                    <a:bodyPr/>
                    <a:lstStyle/>
                    <a:p>
                      <a:pPr>
                        <a:spcAft>
                          <a:spcPts val="0"/>
                        </a:spcAft>
                        <a:defRPr sz="1500" b="0">
                          <a:solidFill>
                            <a:srgbClr val="17263A"/>
                          </a:solidFill>
                          <a:latin typeface="Arial" panose="020B0604020202020204"/>
                        </a:defRPr>
                      </a:pPr>
                      <a:r>
                        <a:rPr sz="1500" b="0">
                          <a:solidFill>
                            <a:srgbClr val="17263A"/>
                          </a:solidFill>
                          <a:latin typeface="Arial" panose="020B0604020202020204"/>
                        </a:rPr>
                        <a:t>Внешний контроль</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1600</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ham / spam</a:t>
                      </a:r>
                      <a:endParaRPr sz="15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500" b="0">
                          <a:solidFill>
                            <a:srgbClr val="17263A"/>
                          </a:solidFill>
                          <a:latin typeface="Arial" panose="020B0604020202020204"/>
                        </a:defRPr>
                      </a:pPr>
                      <a:r>
                        <a:rPr sz="1500" b="0">
                          <a:solidFill>
                            <a:srgbClr val="17263A"/>
                          </a:solidFill>
                          <a:latin typeface="Arial" panose="020B0604020202020204"/>
                        </a:rPr>
                        <a:t>600 ham и 1000 spam</a:t>
                      </a:r>
                      <a:endParaRPr sz="1500" b="0">
                        <a:solidFill>
                          <a:srgbClr val="17263A"/>
                        </a:solidFill>
                        <a:latin typeface="Arial" panose="020B0604020202020204"/>
                      </a:endParaRPr>
                    </a:p>
                  </a:txBody>
                  <a:tcPr marR="64008" marT="59436" marB="32004" anchor="ctr">
                    <a:solidFill>
                      <a:srgbClr val="FFFFFF"/>
                    </a:solidFill>
                  </a:tcPr>
                </a:tc>
              </a:tr>
            </a:tbl>
          </a:graphicData>
        </a:graphic>
      </p:graphicFrame>
      <p:sp>
        <p:nvSpPr>
          <p:cNvPr id="8" name="TextBox 7"/>
          <p:cNvSpPr txBox="1"/>
          <p:nvPr/>
        </p:nvSpPr>
        <p:spPr>
          <a:xfrm>
            <a:off x="438912" y="3941063"/>
            <a:ext cx="8138160" cy="521207"/>
          </a:xfrm>
          <a:prstGeom prst="rect">
            <a:avLst/>
          </a:prstGeom>
          <a:noFill/>
        </p:spPr>
        <p:txBody>
          <a:bodyPr wrap="square" lIns="18288" tIns="18288" rIns="18288" bIns="18288">
            <a:spAutoFit/>
          </a:bodyPr>
          <a:lstStyle/>
          <a:p>
            <a:pPr algn="l">
              <a:spcAft>
                <a:spcPts val="500"/>
              </a:spcAft>
              <a:defRPr sz="1500" b="0">
                <a:solidFill>
                  <a:srgbClr val="17263A"/>
                </a:solidFill>
                <a:latin typeface="Arial" panose="020B0604020202020204"/>
              </a:defRPr>
            </a:pPr>
            <a:r>
              <a:rPr sz="1500" b="0">
                <a:solidFill>
                  <a:srgbClr val="17263A"/>
                </a:solidFill>
                <a:latin typeface="Arial" panose="020B0604020202020204"/>
              </a:rPr>
              <a:t>4197 исходных писем: 66,74% ham и 33,26% spam.</a:t>
            </a:r>
            <a:endParaRPr sz="1500" b="0">
              <a:solidFill>
                <a:srgbClr val="17263A"/>
              </a:solidFill>
              <a:latin typeface="Arial" panose="020B0604020202020204"/>
            </a:endParaRPr>
          </a:p>
          <a:p>
            <a:pPr algn="l">
              <a:spcAft>
                <a:spcPts val="500"/>
              </a:spcAft>
              <a:defRPr sz="1500" b="0">
                <a:solidFill>
                  <a:srgbClr val="17263A"/>
                </a:solidFill>
                <a:latin typeface="Arial" panose="020B0604020202020204"/>
              </a:defRPr>
            </a:pPr>
            <a:r>
              <a:rPr sz="1500" b="0">
                <a:solidFill>
                  <a:srgbClr val="17263A"/>
                </a:solidFill>
                <a:latin typeface="Arial" panose="020B0604020202020204"/>
              </a:rPr>
              <a:t>Три обучающих набора относятся к одному семейству SpamAssassin.</a:t>
            </a:r>
            <a:endParaRPr sz="1500" b="0">
              <a:solidFill>
                <a:srgbClr val="17263A"/>
              </a:solidFill>
              <a:latin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Подготовка данных: сначала исключаем утечку</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Предобработка</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04 / 23</a:t>
            </a:r>
          </a:p>
        </p:txBody>
      </p:sp>
      <p:sp>
        <p:nvSpPr>
          <p:cNvPr id="6" name="TextBox 5"/>
          <p:cNvSpPr txBox="1"/>
          <p:nvPr/>
        </p:nvSpPr>
        <p:spPr>
          <a:xfrm>
            <a:off x="438912" y="1005840"/>
            <a:ext cx="8211312" cy="914400"/>
          </a:xfrm>
          <a:prstGeom prst="rect">
            <a:avLst/>
          </a:prstGeom>
          <a:noFill/>
        </p:spPr>
        <p:txBody>
          <a:bodyPr wrap="square" lIns="18288" tIns="18288" rIns="18288" bIns="18288">
            <a:spAutoFit/>
          </a:bodyPr>
          <a:lstStyle/>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MIME и кодировки → тема и тело → видимый текст HTML</a:t>
            </a:r>
            <a:endParaRPr sz="1900" b="1">
              <a:solidFill>
                <a:srgbClr val="17263A"/>
              </a:solidFill>
              <a:latin typeface="Arial" panose="020B0604020202020204"/>
            </a:endParaRPr>
          </a:p>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Нормализация Unicode и пробелов → проверка идентичности</a:t>
            </a:r>
            <a:endParaRPr sz="1900" b="1">
              <a:solidFill>
                <a:srgbClr val="17263A"/>
              </a:solidFill>
              <a:latin typeface="Arial" panose="020B0604020202020204"/>
            </a:endParaRPr>
          </a:p>
        </p:txBody>
      </p:sp>
      <p:sp>
        <p:nvSpPr>
          <p:cNvPr id="7" name="Rounded Rectangle 6"/>
          <p:cNvSpPr/>
          <p:nvPr/>
        </p:nvSpPr>
        <p:spPr>
          <a:xfrm>
            <a:off x="411480" y="2075688"/>
            <a:ext cx="2587752" cy="1572768"/>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8" name="TextBox 7"/>
          <p:cNvSpPr txBox="1"/>
          <p:nvPr/>
        </p:nvSpPr>
        <p:spPr>
          <a:xfrm>
            <a:off x="557784" y="2194560"/>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Исходные письма</a:t>
            </a:r>
            <a:endParaRPr sz="1300" b="0">
              <a:solidFill>
                <a:srgbClr val="607087"/>
              </a:solidFill>
              <a:latin typeface="Arial" panose="020B0604020202020204"/>
            </a:endParaRPr>
          </a:p>
        </p:txBody>
      </p:sp>
      <p:sp>
        <p:nvSpPr>
          <p:cNvPr id="9" name="TextBox 8"/>
          <p:cNvSpPr txBox="1"/>
          <p:nvPr/>
        </p:nvSpPr>
        <p:spPr>
          <a:xfrm>
            <a:off x="557784" y="2560320"/>
            <a:ext cx="2295144" cy="475488"/>
          </a:xfrm>
          <a:prstGeom prst="rect">
            <a:avLst/>
          </a:prstGeom>
          <a:noFill/>
        </p:spPr>
        <p:txBody>
          <a:bodyPr wrap="square" lIns="18288" tIns="18288" rIns="18288" bIns="18288">
            <a:spAutoFit/>
          </a:bodyPr>
          <a:lstStyle/>
          <a:p>
            <a:pPr algn="l">
              <a:spcAft>
                <a:spcPts val="500"/>
              </a:spcAft>
              <a:defRPr sz="2900" b="1">
                <a:solidFill>
                  <a:srgbClr val="0066FF"/>
                </a:solidFill>
                <a:latin typeface="Arial" panose="020B0604020202020204"/>
              </a:defRPr>
            </a:pPr>
            <a:r>
              <a:rPr sz="2900" b="1">
                <a:solidFill>
                  <a:srgbClr val="0066FF"/>
                </a:solidFill>
                <a:latin typeface="Arial" panose="020B0604020202020204"/>
              </a:rPr>
              <a:t>4197</a:t>
            </a:r>
            <a:endParaRPr sz="2900" b="1">
              <a:solidFill>
                <a:srgbClr val="0066FF"/>
              </a:solidFill>
              <a:latin typeface="Arial" panose="020B0604020202020204"/>
            </a:endParaRPr>
          </a:p>
        </p:txBody>
      </p:sp>
      <p:sp>
        <p:nvSpPr>
          <p:cNvPr id="10" name="TextBox 9"/>
          <p:cNvSpPr txBox="1"/>
          <p:nvPr/>
        </p:nvSpPr>
        <p:spPr>
          <a:xfrm>
            <a:off x="557784" y="3108960"/>
            <a:ext cx="2295144" cy="475488"/>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После очистки — 3834</a:t>
            </a:r>
            <a:endParaRPr sz="1300" b="0">
              <a:solidFill>
                <a:srgbClr val="17263A"/>
              </a:solidFill>
              <a:latin typeface="Arial" panose="020B0604020202020204"/>
            </a:endParaRPr>
          </a:p>
        </p:txBody>
      </p:sp>
      <p:sp>
        <p:nvSpPr>
          <p:cNvPr id="11" name="Rounded Rectangle 10"/>
          <p:cNvSpPr/>
          <p:nvPr/>
        </p:nvSpPr>
        <p:spPr>
          <a:xfrm>
            <a:off x="3264408" y="2075688"/>
            <a:ext cx="2587752" cy="1572768"/>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2" name="TextBox 11"/>
          <p:cNvSpPr txBox="1"/>
          <p:nvPr/>
        </p:nvSpPr>
        <p:spPr>
          <a:xfrm>
            <a:off x="3410712" y="2194560"/>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Пересечения с контролем</a:t>
            </a:r>
            <a:endParaRPr sz="1300" b="0">
              <a:solidFill>
                <a:srgbClr val="607087"/>
              </a:solidFill>
              <a:latin typeface="Arial" panose="020B0604020202020204"/>
            </a:endParaRPr>
          </a:p>
        </p:txBody>
      </p:sp>
      <p:sp>
        <p:nvSpPr>
          <p:cNvPr id="13" name="TextBox 12"/>
          <p:cNvSpPr txBox="1"/>
          <p:nvPr/>
        </p:nvSpPr>
        <p:spPr>
          <a:xfrm>
            <a:off x="3410712" y="2560320"/>
            <a:ext cx="2295144" cy="475488"/>
          </a:xfrm>
          <a:prstGeom prst="rect">
            <a:avLst/>
          </a:prstGeom>
          <a:noFill/>
        </p:spPr>
        <p:txBody>
          <a:bodyPr wrap="square" lIns="18288" tIns="18288" rIns="18288" bIns="18288">
            <a:spAutoFit/>
          </a:bodyPr>
          <a:lstStyle/>
          <a:p>
            <a:pPr algn="l">
              <a:spcAft>
                <a:spcPts val="500"/>
              </a:spcAft>
              <a:defRPr sz="2900" b="1">
                <a:solidFill>
                  <a:srgbClr val="D43B68"/>
                </a:solidFill>
                <a:latin typeface="Arial" panose="020B0604020202020204"/>
              </a:defRPr>
            </a:pPr>
            <a:r>
              <a:rPr sz="2900" b="1">
                <a:solidFill>
                  <a:srgbClr val="D43B68"/>
                </a:solidFill>
                <a:latin typeface="Arial" panose="020B0604020202020204"/>
              </a:rPr>
              <a:t>956</a:t>
            </a:r>
            <a:endParaRPr sz="2900" b="1">
              <a:solidFill>
                <a:srgbClr val="D43B68"/>
              </a:solidFill>
              <a:latin typeface="Arial" panose="020B0604020202020204"/>
            </a:endParaRPr>
          </a:p>
        </p:txBody>
      </p:sp>
      <p:sp>
        <p:nvSpPr>
          <p:cNvPr id="14" name="TextBox 13"/>
          <p:cNvSpPr txBox="1"/>
          <p:nvPr/>
        </p:nvSpPr>
        <p:spPr>
          <a:xfrm>
            <a:off x="3410712" y="3108960"/>
            <a:ext cx="2295144" cy="475488"/>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Исключены до разбиения</a:t>
            </a:r>
            <a:endParaRPr sz="1300" b="0">
              <a:solidFill>
                <a:srgbClr val="17263A"/>
              </a:solidFill>
              <a:latin typeface="Arial" panose="020B0604020202020204"/>
            </a:endParaRPr>
          </a:p>
        </p:txBody>
      </p:sp>
      <p:sp>
        <p:nvSpPr>
          <p:cNvPr id="15" name="Rounded Rectangle 14"/>
          <p:cNvSpPr/>
          <p:nvPr/>
        </p:nvSpPr>
        <p:spPr>
          <a:xfrm>
            <a:off x="6117336" y="2075688"/>
            <a:ext cx="2587752" cy="1572768"/>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6" name="TextBox 15"/>
          <p:cNvSpPr txBox="1"/>
          <p:nvPr/>
        </p:nvSpPr>
        <p:spPr>
          <a:xfrm>
            <a:off x="6263640" y="2194560"/>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Готово для разбиения</a:t>
            </a:r>
            <a:endParaRPr sz="1300" b="0">
              <a:solidFill>
                <a:srgbClr val="607087"/>
              </a:solidFill>
              <a:latin typeface="Arial" panose="020B0604020202020204"/>
            </a:endParaRPr>
          </a:p>
        </p:txBody>
      </p:sp>
      <p:sp>
        <p:nvSpPr>
          <p:cNvPr id="17" name="TextBox 16"/>
          <p:cNvSpPr txBox="1"/>
          <p:nvPr/>
        </p:nvSpPr>
        <p:spPr>
          <a:xfrm>
            <a:off x="6263640" y="2560320"/>
            <a:ext cx="2295144" cy="475488"/>
          </a:xfrm>
          <a:prstGeom prst="rect">
            <a:avLst/>
          </a:prstGeom>
          <a:noFill/>
        </p:spPr>
        <p:txBody>
          <a:bodyPr wrap="square" lIns="18288" tIns="18288" rIns="18288" bIns="18288">
            <a:spAutoFit/>
          </a:bodyPr>
          <a:lstStyle/>
          <a:p>
            <a:pPr algn="l">
              <a:spcAft>
                <a:spcPts val="500"/>
              </a:spcAft>
              <a:defRPr sz="2900" b="1">
                <a:solidFill>
                  <a:srgbClr val="118C78"/>
                </a:solidFill>
                <a:latin typeface="Arial" panose="020B0604020202020204"/>
              </a:defRPr>
            </a:pPr>
            <a:r>
              <a:rPr sz="2900" b="1">
                <a:solidFill>
                  <a:srgbClr val="118C78"/>
                </a:solidFill>
                <a:latin typeface="Arial" panose="020B0604020202020204"/>
              </a:rPr>
              <a:t>2878</a:t>
            </a:r>
            <a:endParaRPr sz="2900" b="1">
              <a:solidFill>
                <a:srgbClr val="118C78"/>
              </a:solidFill>
              <a:latin typeface="Arial" panose="020B0604020202020204"/>
            </a:endParaRPr>
          </a:p>
        </p:txBody>
      </p:sp>
      <p:sp>
        <p:nvSpPr>
          <p:cNvPr id="18" name="TextBox 17"/>
          <p:cNvSpPr txBox="1"/>
          <p:nvPr/>
        </p:nvSpPr>
        <p:spPr>
          <a:xfrm>
            <a:off x="6263640" y="3108960"/>
            <a:ext cx="2295144" cy="475488"/>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Уникальные письма</a:t>
            </a:r>
            <a:endParaRPr sz="1300" b="0">
              <a:solidFill>
                <a:srgbClr val="17263A"/>
              </a:solidFill>
              <a:latin typeface="Arial" panose="020B0604020202020204"/>
            </a:endParaRPr>
          </a:p>
        </p:txBody>
      </p:sp>
      <p:sp>
        <p:nvSpPr>
          <p:cNvPr id="19" name="TextBox 18"/>
          <p:cNvSpPr txBox="1"/>
          <p:nvPr/>
        </p:nvSpPr>
        <p:spPr>
          <a:xfrm>
            <a:off x="438912" y="3822191"/>
            <a:ext cx="8193024" cy="612648"/>
          </a:xfrm>
          <a:prstGeom prst="rect">
            <a:avLst/>
          </a:prstGeom>
          <a:noFill/>
        </p:spPr>
        <p:txBody>
          <a:bodyPr wrap="square" lIns="18288" tIns="18288" rIns="18288" bIns="18288">
            <a:spAutoFit/>
          </a:bodyPr>
          <a:lstStyle/>
          <a:p>
            <a:pPr algn="l">
              <a:spcAft>
                <a:spcPts val="500"/>
              </a:spcAft>
              <a:defRPr sz="1500" b="0">
                <a:solidFill>
                  <a:srgbClr val="607087"/>
                </a:solidFill>
                <a:latin typeface="Arial" panose="020B0604020202020204"/>
              </a:defRPr>
            </a:pPr>
            <a:r>
              <a:rPr sz="1500" b="0">
                <a:solidFill>
                  <a:srgbClr val="607087"/>
                </a:solidFill>
                <a:latin typeface="Arial" panose="020B0604020202020204"/>
              </a:rPr>
              <a:t>В признаки не входят X-Spam-*, Received, отправитель и имя файла.</a:t>
            </a:r>
            <a:endParaRPr sz="1500" b="0">
              <a:solidFill>
                <a:srgbClr val="607087"/>
              </a:solidFill>
              <a:latin typeface="Arial" panose="020B0604020202020204"/>
            </a:endParaRPr>
          </a:p>
          <a:p>
            <a:pPr algn="l">
              <a:spcAft>
                <a:spcPts val="500"/>
              </a:spcAft>
              <a:defRPr sz="1500" b="0">
                <a:solidFill>
                  <a:srgbClr val="607087"/>
                </a:solidFill>
                <a:latin typeface="Arial" panose="020B0604020202020204"/>
              </a:defRPr>
            </a:pPr>
            <a:r>
              <a:rPr sz="1500" b="0">
                <a:solidFill>
                  <a:srgbClr val="607087"/>
                </a:solidFill>
                <a:latin typeface="Arial" panose="020B0604020202020204"/>
              </a:rPr>
              <a:t>Повторы проверены по байтам, тексту, телу и Message-ID.</a:t>
            </a:r>
            <a:endParaRPr sz="1500" b="0">
              <a:solidFill>
                <a:srgbClr val="607087"/>
              </a:solidFill>
              <a:latin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67360" y="-254"/>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EDA: отдельные признаки не заменяют классификатор</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tIns="18288" rIns="18288" bIns="18288">
            <a:spAutoFit/>
          </a:bodyPr>
          <a:lstStyle/>
          <a:p>
            <a:pPr algn="l">
              <a:spcAft>
                <a:spcPts val="500"/>
              </a:spcAft>
              <a:defRPr sz="1250" b="0">
                <a:solidFill>
                  <a:srgbClr val="607087"/>
                </a:solidFill>
                <a:latin typeface="Arial" panose="020B0604020202020204"/>
              </a:defRPr>
            </a:pPr>
            <a:r>
              <a:rPr sz="1250" b="0">
                <a:solidFill>
                  <a:srgbClr val="607087"/>
                </a:solidFill>
                <a:latin typeface="Arial" panose="020B0604020202020204"/>
              </a:rPr>
              <a:t>Подробное исследование выполнено только на обучающей части.</a:t>
            </a:r>
            <a:endParaRPr sz="1250" b="0">
              <a:solidFill>
                <a:srgbClr val="607087"/>
              </a:solidFill>
              <a:latin typeface="Arial" panose="020B0604020202020204"/>
            </a:endParaRPr>
          </a:p>
        </p:txBody>
      </p:sp>
      <p:sp>
        <p:nvSpPr>
          <p:cNvPr id="5" name="TextBox 4"/>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Исследование</a:t>
            </a:r>
            <a:endParaRPr sz="900" b="0">
              <a:solidFill>
                <a:srgbClr val="607087"/>
              </a:solidFill>
              <a:latin typeface="Arial" panose="020B0604020202020204"/>
            </a:endParaRPr>
          </a:p>
        </p:txBody>
      </p:sp>
      <p:sp>
        <p:nvSpPr>
          <p:cNvPr id="6"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05 / 23</a:t>
            </a:r>
          </a:p>
        </p:txBody>
      </p:sp>
      <p:graphicFrame>
        <p:nvGraphicFramePr>
          <p:cNvPr id="7" name="Chart 6"/>
          <p:cNvGraphicFramePr>
            <a:graphicFrameLocks noGrp="1"/>
          </p:cNvGraphicFramePr>
          <p:nvPr/>
        </p:nvGraphicFramePr>
        <p:xfrm>
          <a:off x="429768" y="1426464"/>
          <a:ext cx="4800600" cy="2523744"/>
        </p:xfrm>
        <a:graphic>
          <a:graphicData uri="http://schemas.openxmlformats.org/drawingml/2006/chart">
            <c:chart xmlns:c="http://schemas.openxmlformats.org/drawingml/2006/chart" xmlns:r="http://schemas.openxmlformats.org/officeDocument/2006/relationships" r:id="rId1"/>
          </a:graphicData>
        </a:graphic>
      </p:graphicFrame>
      <p:sp>
        <p:nvSpPr>
          <p:cNvPr id="8" name="Rounded Rectangle 7"/>
          <p:cNvSpPr/>
          <p:nvPr/>
        </p:nvSpPr>
        <p:spPr>
          <a:xfrm>
            <a:off x="5513832" y="1417320"/>
            <a:ext cx="3154680" cy="1051560"/>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Медиана числа ссылок</a:t>
            </a:r>
            <a:endParaRPr sz="1900" b="1">
              <a:solidFill>
                <a:srgbClr val="17263A"/>
              </a:solidFill>
              <a:latin typeface="Arial" panose="020B0604020202020204"/>
            </a:endParaRPr>
          </a:p>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ham: 2  •  spam: 4</a:t>
            </a:r>
            <a:endParaRPr sz="1900" b="1">
              <a:solidFill>
                <a:srgbClr val="17263A"/>
              </a:solidFill>
              <a:latin typeface="Arial" panose="020B0604020202020204"/>
            </a:endParaRPr>
          </a:p>
        </p:txBody>
      </p:sp>
      <p:sp>
        <p:nvSpPr>
          <p:cNvPr id="9" name="Rounded Rectangle 8"/>
          <p:cNvSpPr/>
          <p:nvPr/>
        </p:nvSpPr>
        <p:spPr>
          <a:xfrm>
            <a:off x="5513832" y="2688336"/>
            <a:ext cx="3154680" cy="1051560"/>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Медиана числа слов</a:t>
            </a:r>
            <a:endParaRPr sz="1900" b="1">
              <a:solidFill>
                <a:srgbClr val="17263A"/>
              </a:solidFill>
              <a:latin typeface="Arial" panose="020B0604020202020204"/>
            </a:endParaRPr>
          </a:p>
          <a:p>
            <a:pPr algn="l">
              <a:spcAft>
                <a:spcPts val="500"/>
              </a:spcAft>
              <a:defRPr sz="1900" b="1">
                <a:solidFill>
                  <a:srgbClr val="17263A"/>
                </a:solidFill>
                <a:latin typeface="Arial" panose="020B0604020202020204"/>
              </a:defRPr>
            </a:pPr>
            <a:r>
              <a:rPr sz="1900" b="1">
                <a:solidFill>
                  <a:srgbClr val="17263A"/>
                </a:solidFill>
                <a:latin typeface="Arial" panose="020B0604020202020204"/>
              </a:rPr>
              <a:t>ham: 141  •  spam: 161</a:t>
            </a:r>
            <a:endParaRPr sz="1900" b="1">
              <a:solidFill>
                <a:srgbClr val="17263A"/>
              </a:solidFill>
              <a:latin typeface="Arial" panose="020B0604020202020204"/>
            </a:endParaRPr>
          </a:p>
        </p:txBody>
      </p:sp>
      <p:sp>
        <p:nvSpPr>
          <p:cNvPr id="10" name="Rounded Rectangle 9"/>
          <p:cNvSpPr/>
          <p:nvPr/>
        </p:nvSpPr>
        <p:spPr>
          <a:xfrm>
            <a:off x="393192" y="4096512"/>
            <a:ext cx="8321040" cy="448056"/>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1" name="TextBox 10"/>
          <p:cNvSpPr txBox="1"/>
          <p:nvPr/>
        </p:nvSpPr>
        <p:spPr>
          <a:xfrm>
            <a:off x="530352" y="4178808"/>
            <a:ext cx="8037575" cy="329184"/>
          </a:xfrm>
          <a:prstGeom prst="rect">
            <a:avLst/>
          </a:prstGeom>
          <a:noFill/>
        </p:spPr>
        <p:txBody>
          <a:bodyPr wrap="square" lIns="18288" tIns="18288" rIns="18288" bIns="18288">
            <a:spAutoFit/>
          </a:bodyPr>
          <a:lstStyle/>
          <a:p>
            <a:pPr algn="l">
              <a:spcAft>
                <a:spcPts val="500"/>
              </a:spcAft>
              <a:defRPr sz="1320" b="1">
                <a:solidFill>
                  <a:srgbClr val="0066FF"/>
                </a:solidFill>
                <a:latin typeface="Arial" panose="020B0604020202020204"/>
              </a:defRPr>
            </a:pPr>
            <a:r>
              <a:rPr sz="1320" b="1">
                <a:solidFill>
                  <a:srgbClr val="0066FF"/>
                </a:solidFill>
                <a:latin typeface="Arial" panose="020B0604020202020204"/>
              </a:rPr>
              <a:t>Наличие HTML или ссылок само по себе не является основанием блокировать письмо.</a:t>
            </a:r>
            <a:endParaRPr sz="1320" b="1">
              <a:solidFill>
                <a:srgbClr val="0066FF"/>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Обучение, выбор порога и тест — разные этапы</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Валидация</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06 / 23</a:t>
            </a:r>
          </a:p>
        </p:txBody>
      </p:sp>
      <p:sp>
        <p:nvSpPr>
          <p:cNvPr id="6" name="Rounded Rectangle 5"/>
          <p:cNvSpPr/>
          <p:nvPr/>
        </p:nvSpPr>
        <p:spPr>
          <a:xfrm>
            <a:off x="411480" y="1197864"/>
            <a:ext cx="2587752" cy="1865376"/>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7" name="TextBox 6"/>
          <p:cNvSpPr txBox="1"/>
          <p:nvPr/>
        </p:nvSpPr>
        <p:spPr>
          <a:xfrm>
            <a:off x="557784" y="1316736"/>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Train — около 60%</a:t>
            </a:r>
            <a:endParaRPr sz="1300" b="0">
              <a:solidFill>
                <a:srgbClr val="607087"/>
              </a:solidFill>
              <a:latin typeface="Arial" panose="020B0604020202020204"/>
            </a:endParaRPr>
          </a:p>
        </p:txBody>
      </p:sp>
      <p:sp>
        <p:nvSpPr>
          <p:cNvPr id="8" name="TextBox 7"/>
          <p:cNvSpPr txBox="1"/>
          <p:nvPr/>
        </p:nvSpPr>
        <p:spPr>
          <a:xfrm>
            <a:off x="557784" y="1682496"/>
            <a:ext cx="2295144" cy="475488"/>
          </a:xfrm>
          <a:prstGeom prst="rect">
            <a:avLst/>
          </a:prstGeom>
          <a:noFill/>
        </p:spPr>
        <p:txBody>
          <a:bodyPr wrap="square" lIns="18288" tIns="18288" rIns="18288" bIns="18288">
            <a:spAutoFit/>
          </a:bodyPr>
          <a:lstStyle/>
          <a:p>
            <a:pPr algn="l">
              <a:spcAft>
                <a:spcPts val="500"/>
              </a:spcAft>
              <a:defRPr sz="2900" b="1">
                <a:solidFill>
                  <a:srgbClr val="0066FF"/>
                </a:solidFill>
                <a:latin typeface="Arial" panose="020B0604020202020204"/>
              </a:defRPr>
            </a:pPr>
            <a:r>
              <a:rPr sz="2900" b="1">
                <a:solidFill>
                  <a:srgbClr val="0066FF"/>
                </a:solidFill>
                <a:latin typeface="Arial" panose="020B0604020202020204"/>
              </a:rPr>
              <a:t>1726</a:t>
            </a:r>
            <a:endParaRPr sz="2900" b="1">
              <a:solidFill>
                <a:srgbClr val="0066FF"/>
              </a:solidFill>
              <a:latin typeface="Arial" panose="020B0604020202020204"/>
            </a:endParaRPr>
          </a:p>
        </p:txBody>
      </p:sp>
      <p:sp>
        <p:nvSpPr>
          <p:cNvPr id="9" name="TextBox 8"/>
          <p:cNvSpPr txBox="1"/>
          <p:nvPr/>
        </p:nvSpPr>
        <p:spPr>
          <a:xfrm>
            <a:off x="557784" y="2231136"/>
            <a:ext cx="2295144" cy="768096"/>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EDA, обучение</a:t>
            </a:r>
            <a:endParaRPr sz="1300" b="0">
              <a:solidFill>
                <a:srgbClr val="17263A"/>
              </a:solidFill>
              <a:latin typeface="Arial" panose="020B0604020202020204"/>
            </a:endParaRPr>
          </a:p>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и 5-fold CV</a:t>
            </a:r>
            <a:endParaRPr sz="1300" b="0">
              <a:solidFill>
                <a:srgbClr val="17263A"/>
              </a:solidFill>
              <a:latin typeface="Arial" panose="020B0604020202020204"/>
            </a:endParaRPr>
          </a:p>
        </p:txBody>
      </p:sp>
      <p:sp>
        <p:nvSpPr>
          <p:cNvPr id="10" name="Rounded Rectangle 9"/>
          <p:cNvSpPr/>
          <p:nvPr/>
        </p:nvSpPr>
        <p:spPr>
          <a:xfrm>
            <a:off x="3264408" y="1197864"/>
            <a:ext cx="2587752" cy="1865376"/>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1" name="TextBox 10"/>
          <p:cNvSpPr txBox="1"/>
          <p:nvPr/>
        </p:nvSpPr>
        <p:spPr>
          <a:xfrm>
            <a:off x="3410712" y="1316736"/>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Validation — около 20%</a:t>
            </a:r>
            <a:endParaRPr sz="1300" b="0">
              <a:solidFill>
                <a:srgbClr val="607087"/>
              </a:solidFill>
              <a:latin typeface="Arial" panose="020B0604020202020204"/>
            </a:endParaRPr>
          </a:p>
        </p:txBody>
      </p:sp>
      <p:sp>
        <p:nvSpPr>
          <p:cNvPr id="12" name="TextBox 11"/>
          <p:cNvSpPr txBox="1"/>
          <p:nvPr/>
        </p:nvSpPr>
        <p:spPr>
          <a:xfrm>
            <a:off x="3410712" y="1682496"/>
            <a:ext cx="2295144" cy="475488"/>
          </a:xfrm>
          <a:prstGeom prst="rect">
            <a:avLst/>
          </a:prstGeom>
          <a:noFill/>
        </p:spPr>
        <p:txBody>
          <a:bodyPr wrap="square" lIns="18288" tIns="18288" rIns="18288" bIns="18288">
            <a:spAutoFit/>
          </a:bodyPr>
          <a:lstStyle/>
          <a:p>
            <a:pPr algn="l">
              <a:spcAft>
                <a:spcPts val="500"/>
              </a:spcAft>
              <a:defRPr sz="2900" b="1">
                <a:solidFill>
                  <a:srgbClr val="118C78"/>
                </a:solidFill>
                <a:latin typeface="Arial" panose="020B0604020202020204"/>
              </a:defRPr>
            </a:pPr>
            <a:r>
              <a:rPr sz="2900" b="1">
                <a:solidFill>
                  <a:srgbClr val="118C78"/>
                </a:solidFill>
                <a:latin typeface="Arial" panose="020B0604020202020204"/>
              </a:rPr>
              <a:t>576</a:t>
            </a:r>
            <a:endParaRPr sz="2900" b="1">
              <a:solidFill>
                <a:srgbClr val="118C78"/>
              </a:solidFill>
              <a:latin typeface="Arial" panose="020B0604020202020204"/>
            </a:endParaRPr>
          </a:p>
        </p:txBody>
      </p:sp>
      <p:sp>
        <p:nvSpPr>
          <p:cNvPr id="13" name="TextBox 12"/>
          <p:cNvSpPr txBox="1"/>
          <p:nvPr/>
        </p:nvSpPr>
        <p:spPr>
          <a:xfrm>
            <a:off x="3410712" y="2231136"/>
            <a:ext cx="2295144" cy="768096"/>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Настройка порога</a:t>
            </a:r>
            <a:endParaRPr sz="1300" b="0">
              <a:solidFill>
                <a:srgbClr val="17263A"/>
              </a:solidFill>
              <a:latin typeface="Arial" panose="020B0604020202020204"/>
            </a:endParaRPr>
          </a:p>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выбранной модели</a:t>
            </a:r>
            <a:endParaRPr sz="1300" b="0">
              <a:solidFill>
                <a:srgbClr val="17263A"/>
              </a:solidFill>
              <a:latin typeface="Arial" panose="020B0604020202020204"/>
            </a:endParaRPr>
          </a:p>
        </p:txBody>
      </p:sp>
      <p:sp>
        <p:nvSpPr>
          <p:cNvPr id="14" name="Rounded Rectangle 13"/>
          <p:cNvSpPr/>
          <p:nvPr/>
        </p:nvSpPr>
        <p:spPr>
          <a:xfrm>
            <a:off x="6117336" y="1197864"/>
            <a:ext cx="2587752" cy="1865376"/>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5" name="TextBox 14"/>
          <p:cNvSpPr txBox="1"/>
          <p:nvPr/>
        </p:nvSpPr>
        <p:spPr>
          <a:xfrm>
            <a:off x="6263640" y="1316736"/>
            <a:ext cx="2295144" cy="320040"/>
          </a:xfrm>
          <a:prstGeom prst="rect">
            <a:avLst/>
          </a:prstGeom>
          <a:noFill/>
        </p:spPr>
        <p:txBody>
          <a:bodyPr wrap="square" lIns="18288" tIns="18288" rIns="18288" bIns="18288">
            <a:spAutoFit/>
          </a:bodyPr>
          <a:lstStyle/>
          <a:p>
            <a:pPr algn="l">
              <a:spcAft>
                <a:spcPts val="500"/>
              </a:spcAft>
              <a:defRPr sz="1300" b="0">
                <a:solidFill>
                  <a:srgbClr val="607087"/>
                </a:solidFill>
                <a:latin typeface="Arial" panose="020B0604020202020204"/>
              </a:defRPr>
            </a:pPr>
            <a:r>
              <a:rPr sz="1300" b="0">
                <a:solidFill>
                  <a:srgbClr val="607087"/>
                </a:solidFill>
                <a:latin typeface="Arial" panose="020B0604020202020204"/>
              </a:rPr>
              <a:t>Test — около 20%</a:t>
            </a:r>
            <a:endParaRPr sz="1300" b="0">
              <a:solidFill>
                <a:srgbClr val="607087"/>
              </a:solidFill>
              <a:latin typeface="Arial" panose="020B0604020202020204"/>
            </a:endParaRPr>
          </a:p>
        </p:txBody>
      </p:sp>
      <p:sp>
        <p:nvSpPr>
          <p:cNvPr id="16" name="TextBox 15"/>
          <p:cNvSpPr txBox="1"/>
          <p:nvPr/>
        </p:nvSpPr>
        <p:spPr>
          <a:xfrm>
            <a:off x="6263640" y="1682496"/>
            <a:ext cx="2295144" cy="475488"/>
          </a:xfrm>
          <a:prstGeom prst="rect">
            <a:avLst/>
          </a:prstGeom>
          <a:noFill/>
        </p:spPr>
        <p:txBody>
          <a:bodyPr wrap="square" lIns="18288" tIns="18288" rIns="18288" bIns="18288">
            <a:spAutoFit/>
          </a:bodyPr>
          <a:lstStyle/>
          <a:p>
            <a:pPr algn="l">
              <a:spcAft>
                <a:spcPts val="500"/>
              </a:spcAft>
              <a:defRPr sz="2900" b="1">
                <a:solidFill>
                  <a:srgbClr val="D43B68"/>
                </a:solidFill>
                <a:latin typeface="Arial" panose="020B0604020202020204"/>
              </a:defRPr>
            </a:pPr>
            <a:r>
              <a:rPr sz="2900" b="1">
                <a:solidFill>
                  <a:srgbClr val="D43B68"/>
                </a:solidFill>
                <a:latin typeface="Arial" panose="020B0604020202020204"/>
              </a:rPr>
              <a:t>576</a:t>
            </a:r>
            <a:endParaRPr sz="2900" b="1">
              <a:solidFill>
                <a:srgbClr val="D43B68"/>
              </a:solidFill>
              <a:latin typeface="Arial" panose="020B0604020202020204"/>
            </a:endParaRPr>
          </a:p>
        </p:txBody>
      </p:sp>
      <p:sp>
        <p:nvSpPr>
          <p:cNvPr id="17" name="TextBox 16"/>
          <p:cNvSpPr txBox="1"/>
          <p:nvPr/>
        </p:nvSpPr>
        <p:spPr>
          <a:xfrm>
            <a:off x="6263640" y="2231136"/>
            <a:ext cx="2295144" cy="768096"/>
          </a:xfrm>
          <a:prstGeom prst="rect">
            <a:avLst/>
          </a:prstGeom>
          <a:noFill/>
        </p:spPr>
        <p:txBody>
          <a:bodyPr wrap="square" lIns="18288" tIns="18288" rIns="18288" bIns="18288">
            <a:spAutoFit/>
          </a:bodyPr>
          <a:lstStyle/>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Финальная оценка</a:t>
            </a:r>
            <a:endParaRPr sz="1300" b="0">
              <a:solidFill>
                <a:srgbClr val="17263A"/>
              </a:solidFill>
              <a:latin typeface="Arial" panose="020B0604020202020204"/>
            </a:endParaRPr>
          </a:p>
          <a:p>
            <a:pPr algn="l">
              <a:spcAft>
                <a:spcPts val="500"/>
              </a:spcAft>
              <a:defRPr sz="1300" b="0">
                <a:solidFill>
                  <a:srgbClr val="17263A"/>
                </a:solidFill>
                <a:latin typeface="Arial" panose="020B0604020202020204"/>
              </a:defRPr>
            </a:pPr>
            <a:r>
              <a:rPr sz="1300" b="0">
                <a:solidFill>
                  <a:srgbClr val="17263A"/>
                </a:solidFill>
                <a:latin typeface="Arial" panose="020B0604020202020204"/>
              </a:rPr>
              <a:t>после фиксации решения</a:t>
            </a:r>
            <a:endParaRPr sz="1300" b="0">
              <a:solidFill>
                <a:srgbClr val="17263A"/>
              </a:solidFill>
              <a:latin typeface="Arial" panose="020B0604020202020204"/>
            </a:endParaRPr>
          </a:p>
        </p:txBody>
      </p:sp>
      <p:sp>
        <p:nvSpPr>
          <p:cNvPr id="18" name="TextBox 17"/>
          <p:cNvSpPr txBox="1"/>
          <p:nvPr/>
        </p:nvSpPr>
        <p:spPr>
          <a:xfrm>
            <a:off x="448056" y="3383280"/>
            <a:ext cx="8174736" cy="621792"/>
          </a:xfrm>
          <a:prstGeom prst="rect">
            <a:avLst/>
          </a:prstGeom>
          <a:noFill/>
        </p:spPr>
        <p:txBody>
          <a:bodyPr wrap="square" lIns="18288" tIns="18288" rIns="18288" bIns="18288">
            <a:spAutoFit/>
          </a:bodyPr>
          <a:lstStyle/>
          <a:p>
            <a:pPr algn="l">
              <a:spcAft>
                <a:spcPts val="500"/>
              </a:spcAft>
              <a:defRPr sz="1800" b="1">
                <a:solidFill>
                  <a:srgbClr val="17263A"/>
                </a:solidFill>
                <a:latin typeface="Arial" panose="020B0604020202020204"/>
              </a:defRPr>
            </a:pPr>
            <a:r>
              <a:rPr sz="1800" b="1">
                <a:solidFill>
                  <a:srgbClr val="17263A"/>
                </a:solidFill>
                <a:latin typeface="Arial" panose="020B0604020202020204"/>
              </a:rPr>
              <a:t>Стратификация по источнику сохраняет hard_ham.</a:t>
            </a:r>
            <a:endParaRPr sz="1800" b="1">
              <a:solidFill>
                <a:srgbClr val="17263A"/>
              </a:solidFill>
              <a:latin typeface="Arial" panose="020B0604020202020204"/>
            </a:endParaRPr>
          </a:p>
          <a:p>
            <a:pPr algn="l">
              <a:spcAft>
                <a:spcPts val="500"/>
              </a:spcAft>
              <a:defRPr sz="1800" b="1">
                <a:solidFill>
                  <a:srgbClr val="17263A"/>
                </a:solidFill>
                <a:latin typeface="Arial" panose="020B0604020202020204"/>
              </a:defRPr>
            </a:pPr>
            <a:r>
              <a:rPr sz="1800" b="1">
                <a:solidFill>
                  <a:srgbClr val="17263A"/>
                </a:solidFill>
                <a:latin typeface="Arial" panose="020B0604020202020204"/>
              </a:rPr>
              <a:t>TF-IDF заново обучается внутри каждого CV-фолда.</a:t>
            </a:r>
            <a:endParaRPr sz="1800" b="1">
              <a:solidFill>
                <a:srgbClr val="17263A"/>
              </a:solidFill>
              <a:latin typeface="Arial" panose="020B0604020202020204"/>
            </a:endParaRPr>
          </a:p>
        </p:txBody>
      </p:sp>
      <p:sp>
        <p:nvSpPr>
          <p:cNvPr id="19" name="Rounded Rectangle 18"/>
          <p:cNvSpPr/>
          <p:nvPr/>
        </p:nvSpPr>
        <p:spPr>
          <a:xfrm>
            <a:off x="393192" y="4160520"/>
            <a:ext cx="8321040" cy="393192"/>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20" name="TextBox 19"/>
          <p:cNvSpPr txBox="1"/>
          <p:nvPr/>
        </p:nvSpPr>
        <p:spPr>
          <a:xfrm>
            <a:off x="530352" y="4242816"/>
            <a:ext cx="8037575" cy="274320"/>
          </a:xfrm>
          <a:prstGeom prst="rect">
            <a:avLst/>
          </a:prstGeom>
          <a:noFill/>
        </p:spPr>
        <p:txBody>
          <a:bodyPr wrap="square" lIns="18288" tIns="18288" rIns="18288" bIns="18288">
            <a:spAutoFit/>
          </a:bodyPr>
          <a:lstStyle/>
          <a:p>
            <a:pPr algn="l">
              <a:spcAft>
                <a:spcPts val="500"/>
              </a:spcAft>
              <a:defRPr sz="1320" b="1">
                <a:solidFill>
                  <a:srgbClr val="0066FF"/>
                </a:solidFill>
                <a:latin typeface="Arial" panose="020B0604020202020204"/>
              </a:defRPr>
            </a:pPr>
            <a:r>
              <a:rPr sz="1320" b="1">
                <a:solidFill>
                  <a:srgbClr val="0066FF"/>
                </a:solidFill>
                <a:latin typeface="Arial" panose="020B0604020202020204"/>
              </a:rPr>
              <a:t>Внешние метрики не используются при выборе модели или порога.</a:t>
            </a:r>
            <a:endParaRPr sz="1320" b="1">
              <a:solidFill>
                <a:srgbClr val="0066FF"/>
              </a:solidFill>
              <a:latin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Архитектура: TF-IDF + ComplementNB</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Модель</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07 / 23</a:t>
            </a:r>
          </a:p>
        </p:txBody>
      </p:sp>
      <p:sp>
        <p:nvSpPr>
          <p:cNvPr id="6" name="Rounded Rectangle 5"/>
          <p:cNvSpPr/>
          <p:nvPr/>
        </p:nvSpPr>
        <p:spPr>
          <a:xfrm>
            <a:off x="402336" y="1197864"/>
            <a:ext cx="1508760" cy="102412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7" name="TextBox 6"/>
          <p:cNvSpPr txBox="1"/>
          <p:nvPr/>
        </p:nvSpPr>
        <p:spPr>
          <a:xfrm>
            <a:off x="493776" y="1344168"/>
            <a:ext cx="1325880" cy="338328"/>
          </a:xfrm>
          <a:prstGeom prst="rect">
            <a:avLst/>
          </a:prstGeom>
          <a:noFill/>
        </p:spPr>
        <p:txBody>
          <a:bodyPr wrap="square" lIns="18288" tIns="18288" rIns="18288" bIns="18288">
            <a:spAutoFit/>
          </a:bodyPr>
          <a:lstStyle/>
          <a:p>
            <a:pPr algn="ctr">
              <a:spcAft>
                <a:spcPts val="500"/>
              </a:spcAft>
              <a:defRPr sz="1500" b="1">
                <a:solidFill>
                  <a:srgbClr val="0066FF"/>
                </a:solidFill>
                <a:latin typeface="Arial" panose="020B0604020202020204"/>
              </a:defRPr>
            </a:pPr>
            <a:r>
              <a:rPr sz="1500" b="1">
                <a:solidFill>
                  <a:srgbClr val="0066FF"/>
                </a:solidFill>
                <a:latin typeface="Arial" panose="020B0604020202020204"/>
              </a:rPr>
              <a:t>Письмо</a:t>
            </a:r>
            <a:endParaRPr sz="1500" b="1">
              <a:solidFill>
                <a:srgbClr val="0066FF"/>
              </a:solidFill>
              <a:latin typeface="Arial" panose="020B0604020202020204"/>
            </a:endParaRPr>
          </a:p>
        </p:txBody>
      </p:sp>
      <p:sp>
        <p:nvSpPr>
          <p:cNvPr id="8" name="TextBox 7"/>
          <p:cNvSpPr txBox="1"/>
          <p:nvPr/>
        </p:nvSpPr>
        <p:spPr>
          <a:xfrm>
            <a:off x="466344" y="1783080"/>
            <a:ext cx="1380744" cy="274320"/>
          </a:xfrm>
          <a:prstGeom prst="rect">
            <a:avLst/>
          </a:prstGeom>
          <a:noFill/>
        </p:spPr>
        <p:txBody>
          <a:bodyPr wrap="square" lIns="18288" tIns="18288" rIns="18288" bIns="18288">
            <a:spAutoFit/>
          </a:bodyPr>
          <a:lstStyle/>
          <a:p>
            <a:pPr algn="ctr">
              <a:spcAft>
                <a:spcPts val="500"/>
              </a:spcAft>
              <a:defRPr sz="1070" b="0">
                <a:solidFill>
                  <a:srgbClr val="17263A"/>
                </a:solidFill>
                <a:latin typeface="Arial" panose="020B0604020202020204"/>
              </a:defRPr>
            </a:pPr>
            <a:r>
              <a:rPr sz="1070" b="0">
                <a:solidFill>
                  <a:srgbClr val="17263A"/>
                </a:solidFill>
                <a:latin typeface="Arial" panose="020B0604020202020204"/>
              </a:rPr>
              <a:t>Тема и тело</a:t>
            </a:r>
            <a:endParaRPr sz="1070" b="0">
              <a:solidFill>
                <a:srgbClr val="17263A"/>
              </a:solidFill>
              <a:latin typeface="Arial" panose="020B0604020202020204"/>
            </a:endParaRPr>
          </a:p>
        </p:txBody>
      </p:sp>
      <p:sp>
        <p:nvSpPr>
          <p:cNvPr id="9" name="TextBox 8"/>
          <p:cNvSpPr txBox="1"/>
          <p:nvPr/>
        </p:nvSpPr>
        <p:spPr>
          <a:xfrm>
            <a:off x="1911095" y="1508760"/>
            <a:ext cx="192024" cy="365760"/>
          </a:xfrm>
          <a:prstGeom prst="rect">
            <a:avLst/>
          </a:prstGeom>
          <a:noFill/>
        </p:spPr>
        <p:txBody>
          <a:bodyPr wrap="square" lIns="18288" tIns="18288" rIns="18288" bIns="18288">
            <a:spAutoFit/>
          </a:bodyPr>
          <a:lstStyle/>
          <a:p>
            <a:pPr algn="ctr">
              <a:spcAft>
                <a:spcPts val="500"/>
              </a:spcAft>
              <a:defRPr sz="1900" b="1">
                <a:solidFill>
                  <a:srgbClr val="0066FF"/>
                </a:solidFill>
                <a:latin typeface="Arial" panose="020B0604020202020204"/>
              </a:defRPr>
            </a:pPr>
            <a:r>
              <a:rPr sz="1900" b="1">
                <a:solidFill>
                  <a:srgbClr val="0066FF"/>
                </a:solidFill>
                <a:latin typeface="Arial" panose="020B0604020202020204"/>
              </a:rPr>
              <a:t>→</a:t>
            </a:r>
            <a:endParaRPr sz="1900" b="1">
              <a:solidFill>
                <a:srgbClr val="0066FF"/>
              </a:solidFill>
              <a:latin typeface="Arial" panose="020B0604020202020204"/>
            </a:endParaRPr>
          </a:p>
        </p:txBody>
      </p:sp>
      <p:sp>
        <p:nvSpPr>
          <p:cNvPr id="10" name="Rounded Rectangle 9"/>
          <p:cNvSpPr/>
          <p:nvPr/>
        </p:nvSpPr>
        <p:spPr>
          <a:xfrm>
            <a:off x="2103120" y="1197864"/>
            <a:ext cx="1508760" cy="102412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1" name="TextBox 10"/>
          <p:cNvSpPr txBox="1"/>
          <p:nvPr/>
        </p:nvSpPr>
        <p:spPr>
          <a:xfrm>
            <a:off x="2194560" y="1344168"/>
            <a:ext cx="1325880" cy="338328"/>
          </a:xfrm>
          <a:prstGeom prst="rect">
            <a:avLst/>
          </a:prstGeom>
          <a:noFill/>
        </p:spPr>
        <p:txBody>
          <a:bodyPr wrap="square" lIns="18288" tIns="18288" rIns="18288" bIns="18288">
            <a:spAutoFit/>
          </a:bodyPr>
          <a:lstStyle/>
          <a:p>
            <a:pPr algn="ctr">
              <a:spcAft>
                <a:spcPts val="500"/>
              </a:spcAft>
              <a:defRPr sz="1500" b="1">
                <a:solidFill>
                  <a:srgbClr val="0066FF"/>
                </a:solidFill>
                <a:latin typeface="Arial" panose="020B0604020202020204"/>
              </a:defRPr>
            </a:pPr>
            <a:r>
              <a:rPr sz="1500" b="1">
                <a:solidFill>
                  <a:srgbClr val="0066FF"/>
                </a:solidFill>
                <a:latin typeface="Arial" panose="020B0604020202020204"/>
              </a:rPr>
              <a:t>Парсер</a:t>
            </a:r>
            <a:endParaRPr sz="1500" b="1">
              <a:solidFill>
                <a:srgbClr val="0066FF"/>
              </a:solidFill>
              <a:latin typeface="Arial" panose="020B0604020202020204"/>
            </a:endParaRPr>
          </a:p>
        </p:txBody>
      </p:sp>
      <p:sp>
        <p:nvSpPr>
          <p:cNvPr id="12" name="TextBox 11"/>
          <p:cNvSpPr txBox="1"/>
          <p:nvPr/>
        </p:nvSpPr>
        <p:spPr>
          <a:xfrm>
            <a:off x="2167128" y="1783080"/>
            <a:ext cx="1380744" cy="274320"/>
          </a:xfrm>
          <a:prstGeom prst="rect">
            <a:avLst/>
          </a:prstGeom>
          <a:noFill/>
        </p:spPr>
        <p:txBody>
          <a:bodyPr wrap="square" lIns="18288" tIns="18288" rIns="18288" bIns="18288">
            <a:spAutoFit/>
          </a:bodyPr>
          <a:lstStyle/>
          <a:p>
            <a:pPr algn="ctr">
              <a:spcAft>
                <a:spcPts val="500"/>
              </a:spcAft>
              <a:defRPr sz="1070" b="0">
                <a:solidFill>
                  <a:srgbClr val="17263A"/>
                </a:solidFill>
                <a:latin typeface="Arial" panose="020B0604020202020204"/>
              </a:defRPr>
            </a:pPr>
            <a:r>
              <a:rPr sz="1070" b="0">
                <a:solidFill>
                  <a:srgbClr val="17263A"/>
                </a:solidFill>
                <a:latin typeface="Arial" panose="020B0604020202020204"/>
              </a:rPr>
              <a:t>MIME / HTML</a:t>
            </a:r>
            <a:endParaRPr sz="1070" b="0">
              <a:solidFill>
                <a:srgbClr val="17263A"/>
              </a:solidFill>
              <a:latin typeface="Arial" panose="020B0604020202020204"/>
            </a:endParaRPr>
          </a:p>
        </p:txBody>
      </p:sp>
      <p:sp>
        <p:nvSpPr>
          <p:cNvPr id="13" name="TextBox 12"/>
          <p:cNvSpPr txBox="1"/>
          <p:nvPr/>
        </p:nvSpPr>
        <p:spPr>
          <a:xfrm>
            <a:off x="3611880" y="1508760"/>
            <a:ext cx="192024" cy="365760"/>
          </a:xfrm>
          <a:prstGeom prst="rect">
            <a:avLst/>
          </a:prstGeom>
          <a:noFill/>
        </p:spPr>
        <p:txBody>
          <a:bodyPr wrap="square" lIns="18288" tIns="18288" rIns="18288" bIns="18288">
            <a:spAutoFit/>
          </a:bodyPr>
          <a:lstStyle/>
          <a:p>
            <a:pPr algn="ctr">
              <a:spcAft>
                <a:spcPts val="500"/>
              </a:spcAft>
              <a:defRPr sz="1900" b="1">
                <a:solidFill>
                  <a:srgbClr val="0066FF"/>
                </a:solidFill>
                <a:latin typeface="Arial" panose="020B0604020202020204"/>
              </a:defRPr>
            </a:pPr>
            <a:r>
              <a:rPr sz="1900" b="1">
                <a:solidFill>
                  <a:srgbClr val="0066FF"/>
                </a:solidFill>
                <a:latin typeface="Arial" panose="020B0604020202020204"/>
              </a:rPr>
              <a:t>→</a:t>
            </a:r>
            <a:endParaRPr sz="1900" b="1">
              <a:solidFill>
                <a:srgbClr val="0066FF"/>
              </a:solidFill>
              <a:latin typeface="Arial" panose="020B0604020202020204"/>
            </a:endParaRPr>
          </a:p>
        </p:txBody>
      </p:sp>
      <p:sp>
        <p:nvSpPr>
          <p:cNvPr id="14" name="Rounded Rectangle 13"/>
          <p:cNvSpPr/>
          <p:nvPr/>
        </p:nvSpPr>
        <p:spPr>
          <a:xfrm>
            <a:off x="3803904" y="1197864"/>
            <a:ext cx="1508760" cy="102412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5" name="TextBox 14"/>
          <p:cNvSpPr txBox="1"/>
          <p:nvPr/>
        </p:nvSpPr>
        <p:spPr>
          <a:xfrm>
            <a:off x="3895344" y="1344168"/>
            <a:ext cx="1325880" cy="338328"/>
          </a:xfrm>
          <a:prstGeom prst="rect">
            <a:avLst/>
          </a:prstGeom>
          <a:noFill/>
        </p:spPr>
        <p:txBody>
          <a:bodyPr wrap="square" lIns="18288" tIns="18288" rIns="18288" bIns="18288">
            <a:spAutoFit/>
          </a:bodyPr>
          <a:lstStyle/>
          <a:p>
            <a:pPr algn="ctr">
              <a:spcAft>
                <a:spcPts val="500"/>
              </a:spcAft>
              <a:defRPr sz="1500" b="1">
                <a:solidFill>
                  <a:srgbClr val="0066FF"/>
                </a:solidFill>
                <a:latin typeface="Arial" panose="020B0604020202020204"/>
              </a:defRPr>
            </a:pPr>
            <a:r>
              <a:rPr sz="1500" b="1">
                <a:solidFill>
                  <a:srgbClr val="0066FF"/>
                </a:solidFill>
                <a:latin typeface="Arial" panose="020B0604020202020204"/>
              </a:rPr>
              <a:t>TF-IDF</a:t>
            </a:r>
            <a:endParaRPr sz="1500" b="1">
              <a:solidFill>
                <a:srgbClr val="0066FF"/>
              </a:solidFill>
              <a:latin typeface="Arial" panose="020B0604020202020204"/>
            </a:endParaRPr>
          </a:p>
        </p:txBody>
      </p:sp>
      <p:sp>
        <p:nvSpPr>
          <p:cNvPr id="16" name="TextBox 15"/>
          <p:cNvSpPr txBox="1"/>
          <p:nvPr/>
        </p:nvSpPr>
        <p:spPr>
          <a:xfrm>
            <a:off x="3867912" y="1783080"/>
            <a:ext cx="1380744" cy="274320"/>
          </a:xfrm>
          <a:prstGeom prst="rect">
            <a:avLst/>
          </a:prstGeom>
          <a:noFill/>
        </p:spPr>
        <p:txBody>
          <a:bodyPr wrap="square" lIns="18288" tIns="18288" rIns="18288" bIns="18288">
            <a:spAutoFit/>
          </a:bodyPr>
          <a:lstStyle/>
          <a:p>
            <a:pPr algn="ctr">
              <a:spcAft>
                <a:spcPts val="500"/>
              </a:spcAft>
              <a:defRPr sz="1070" b="0">
                <a:solidFill>
                  <a:srgbClr val="17263A"/>
                </a:solidFill>
                <a:latin typeface="Arial" panose="020B0604020202020204"/>
              </a:defRPr>
            </a:pPr>
            <a:r>
              <a:rPr sz="1070" b="0">
                <a:solidFill>
                  <a:srgbClr val="17263A"/>
                </a:solidFill>
                <a:latin typeface="Arial" panose="020B0604020202020204"/>
              </a:rPr>
              <a:t>Слова и биграммы</a:t>
            </a:r>
            <a:endParaRPr sz="1070" b="0">
              <a:solidFill>
                <a:srgbClr val="17263A"/>
              </a:solidFill>
              <a:latin typeface="Arial" panose="020B0604020202020204"/>
            </a:endParaRPr>
          </a:p>
        </p:txBody>
      </p:sp>
      <p:sp>
        <p:nvSpPr>
          <p:cNvPr id="17" name="TextBox 16"/>
          <p:cNvSpPr txBox="1"/>
          <p:nvPr/>
        </p:nvSpPr>
        <p:spPr>
          <a:xfrm>
            <a:off x="5312664" y="1508760"/>
            <a:ext cx="192024" cy="365760"/>
          </a:xfrm>
          <a:prstGeom prst="rect">
            <a:avLst/>
          </a:prstGeom>
          <a:noFill/>
        </p:spPr>
        <p:txBody>
          <a:bodyPr wrap="square" lIns="18288" tIns="18288" rIns="18288" bIns="18288">
            <a:spAutoFit/>
          </a:bodyPr>
          <a:lstStyle/>
          <a:p>
            <a:pPr algn="ctr">
              <a:spcAft>
                <a:spcPts val="500"/>
              </a:spcAft>
              <a:defRPr sz="1900" b="1">
                <a:solidFill>
                  <a:srgbClr val="0066FF"/>
                </a:solidFill>
                <a:latin typeface="Arial" panose="020B0604020202020204"/>
              </a:defRPr>
            </a:pPr>
            <a:r>
              <a:rPr sz="1900" b="1">
                <a:solidFill>
                  <a:srgbClr val="0066FF"/>
                </a:solidFill>
                <a:latin typeface="Arial" panose="020B0604020202020204"/>
              </a:rPr>
              <a:t>→</a:t>
            </a:r>
            <a:endParaRPr sz="1900" b="1">
              <a:solidFill>
                <a:srgbClr val="0066FF"/>
              </a:solidFill>
              <a:latin typeface="Arial" panose="020B0604020202020204"/>
            </a:endParaRPr>
          </a:p>
        </p:txBody>
      </p:sp>
      <p:sp>
        <p:nvSpPr>
          <p:cNvPr id="18" name="Rounded Rectangle 17"/>
          <p:cNvSpPr/>
          <p:nvPr/>
        </p:nvSpPr>
        <p:spPr>
          <a:xfrm>
            <a:off x="5504688" y="1197864"/>
            <a:ext cx="1508760" cy="102412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9" name="TextBox 18"/>
          <p:cNvSpPr txBox="1"/>
          <p:nvPr/>
        </p:nvSpPr>
        <p:spPr>
          <a:xfrm>
            <a:off x="5596128" y="1344168"/>
            <a:ext cx="1325880" cy="338328"/>
          </a:xfrm>
          <a:prstGeom prst="rect">
            <a:avLst/>
          </a:prstGeom>
          <a:noFill/>
        </p:spPr>
        <p:txBody>
          <a:bodyPr wrap="square" lIns="18288" tIns="18288" rIns="18288" bIns="18288">
            <a:spAutoFit/>
          </a:bodyPr>
          <a:lstStyle/>
          <a:p>
            <a:pPr algn="ctr">
              <a:spcAft>
                <a:spcPts val="500"/>
              </a:spcAft>
              <a:defRPr sz="1500" b="1">
                <a:solidFill>
                  <a:srgbClr val="0066FF"/>
                </a:solidFill>
                <a:latin typeface="Arial" panose="020B0604020202020204"/>
              </a:defRPr>
            </a:pPr>
            <a:r>
              <a:rPr sz="1500" b="1">
                <a:solidFill>
                  <a:srgbClr val="0066FF"/>
                </a:solidFill>
                <a:latin typeface="Arial" panose="020B0604020202020204"/>
              </a:rPr>
              <a:t>ComplementNB</a:t>
            </a:r>
            <a:endParaRPr sz="1500" b="1">
              <a:solidFill>
                <a:srgbClr val="0066FF"/>
              </a:solidFill>
              <a:latin typeface="Arial" panose="020B0604020202020204"/>
            </a:endParaRPr>
          </a:p>
        </p:txBody>
      </p:sp>
      <p:sp>
        <p:nvSpPr>
          <p:cNvPr id="20" name="TextBox 19"/>
          <p:cNvSpPr txBox="1"/>
          <p:nvPr/>
        </p:nvSpPr>
        <p:spPr>
          <a:xfrm>
            <a:off x="5568696" y="1783080"/>
            <a:ext cx="1380744" cy="274320"/>
          </a:xfrm>
          <a:prstGeom prst="rect">
            <a:avLst/>
          </a:prstGeom>
          <a:noFill/>
        </p:spPr>
        <p:txBody>
          <a:bodyPr wrap="square" lIns="18288" tIns="18288" rIns="18288" bIns="18288">
            <a:spAutoFit/>
          </a:bodyPr>
          <a:lstStyle/>
          <a:p>
            <a:pPr algn="ctr">
              <a:spcAft>
                <a:spcPts val="500"/>
              </a:spcAft>
              <a:defRPr sz="1070" b="0">
                <a:solidFill>
                  <a:srgbClr val="17263A"/>
                </a:solidFill>
                <a:latin typeface="Arial" panose="020B0604020202020204"/>
              </a:defRPr>
            </a:pPr>
            <a:r>
              <a:rPr sz="1070" b="0">
                <a:solidFill>
                  <a:srgbClr val="17263A"/>
                </a:solidFill>
                <a:latin typeface="Arial" panose="020B0604020202020204"/>
              </a:rPr>
              <a:t>Оценка spam</a:t>
            </a:r>
            <a:endParaRPr sz="1070" b="0">
              <a:solidFill>
                <a:srgbClr val="17263A"/>
              </a:solidFill>
              <a:latin typeface="Arial" panose="020B0604020202020204"/>
            </a:endParaRPr>
          </a:p>
        </p:txBody>
      </p:sp>
      <p:sp>
        <p:nvSpPr>
          <p:cNvPr id="21" name="TextBox 20"/>
          <p:cNvSpPr txBox="1"/>
          <p:nvPr/>
        </p:nvSpPr>
        <p:spPr>
          <a:xfrm>
            <a:off x="7013448" y="1508760"/>
            <a:ext cx="192024" cy="365760"/>
          </a:xfrm>
          <a:prstGeom prst="rect">
            <a:avLst/>
          </a:prstGeom>
          <a:noFill/>
        </p:spPr>
        <p:txBody>
          <a:bodyPr wrap="square" lIns="18288" tIns="18288" rIns="18288" bIns="18288">
            <a:spAutoFit/>
          </a:bodyPr>
          <a:lstStyle/>
          <a:p>
            <a:pPr algn="ctr">
              <a:spcAft>
                <a:spcPts val="500"/>
              </a:spcAft>
              <a:defRPr sz="1900" b="1">
                <a:solidFill>
                  <a:srgbClr val="0066FF"/>
                </a:solidFill>
                <a:latin typeface="Arial" panose="020B0604020202020204"/>
              </a:defRPr>
            </a:pPr>
            <a:r>
              <a:rPr sz="1900" b="1">
                <a:solidFill>
                  <a:srgbClr val="0066FF"/>
                </a:solidFill>
                <a:latin typeface="Arial" panose="020B0604020202020204"/>
              </a:rPr>
              <a:t>→</a:t>
            </a:r>
            <a:endParaRPr sz="1900" b="1">
              <a:solidFill>
                <a:srgbClr val="0066FF"/>
              </a:solidFill>
              <a:latin typeface="Arial" panose="020B0604020202020204"/>
            </a:endParaRPr>
          </a:p>
        </p:txBody>
      </p:sp>
      <p:sp>
        <p:nvSpPr>
          <p:cNvPr id="22" name="Rounded Rectangle 21"/>
          <p:cNvSpPr/>
          <p:nvPr/>
        </p:nvSpPr>
        <p:spPr>
          <a:xfrm>
            <a:off x="7205472" y="1197864"/>
            <a:ext cx="1508760" cy="102412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23" name="TextBox 22"/>
          <p:cNvSpPr txBox="1"/>
          <p:nvPr/>
        </p:nvSpPr>
        <p:spPr>
          <a:xfrm>
            <a:off x="7296912" y="1344168"/>
            <a:ext cx="1325880" cy="338328"/>
          </a:xfrm>
          <a:prstGeom prst="rect">
            <a:avLst/>
          </a:prstGeom>
          <a:noFill/>
        </p:spPr>
        <p:txBody>
          <a:bodyPr wrap="square" lIns="18288" tIns="18288" rIns="18288" bIns="18288">
            <a:spAutoFit/>
          </a:bodyPr>
          <a:lstStyle/>
          <a:p>
            <a:pPr algn="ctr">
              <a:spcAft>
                <a:spcPts val="500"/>
              </a:spcAft>
              <a:defRPr sz="1500" b="1">
                <a:solidFill>
                  <a:srgbClr val="0066FF"/>
                </a:solidFill>
                <a:latin typeface="Arial" panose="020B0604020202020204"/>
              </a:defRPr>
            </a:pPr>
            <a:r>
              <a:rPr sz="1500" b="1">
                <a:solidFill>
                  <a:srgbClr val="0066FF"/>
                </a:solidFill>
                <a:latin typeface="Arial" panose="020B0604020202020204"/>
              </a:rPr>
              <a:t>Порог</a:t>
            </a:r>
            <a:endParaRPr sz="1500" b="1">
              <a:solidFill>
                <a:srgbClr val="0066FF"/>
              </a:solidFill>
              <a:latin typeface="Arial" panose="020B0604020202020204"/>
            </a:endParaRPr>
          </a:p>
        </p:txBody>
      </p:sp>
      <p:sp>
        <p:nvSpPr>
          <p:cNvPr id="24" name="TextBox 23"/>
          <p:cNvSpPr txBox="1"/>
          <p:nvPr/>
        </p:nvSpPr>
        <p:spPr>
          <a:xfrm>
            <a:off x="7269480" y="1783080"/>
            <a:ext cx="1380744" cy="274320"/>
          </a:xfrm>
          <a:prstGeom prst="rect">
            <a:avLst/>
          </a:prstGeom>
          <a:noFill/>
        </p:spPr>
        <p:txBody>
          <a:bodyPr wrap="square" lIns="18288" tIns="18288" rIns="18288" bIns="18288">
            <a:spAutoFit/>
          </a:bodyPr>
          <a:lstStyle/>
          <a:p>
            <a:pPr algn="ctr">
              <a:spcAft>
                <a:spcPts val="500"/>
              </a:spcAft>
              <a:defRPr sz="1070" b="0">
                <a:solidFill>
                  <a:srgbClr val="17263A"/>
                </a:solidFill>
                <a:latin typeface="Arial" panose="020B0604020202020204"/>
              </a:defRPr>
            </a:pPr>
            <a:r>
              <a:rPr sz="1070" b="0">
                <a:solidFill>
                  <a:srgbClr val="17263A"/>
                </a:solidFill>
                <a:latin typeface="Arial" panose="020B0604020202020204"/>
              </a:rPr>
              <a:t>ham / spam</a:t>
            </a:r>
            <a:endParaRPr sz="1070" b="0">
              <a:solidFill>
                <a:srgbClr val="17263A"/>
              </a:solidFill>
              <a:latin typeface="Arial" panose="020B0604020202020204"/>
            </a:endParaRPr>
          </a:p>
        </p:txBody>
      </p:sp>
      <p:graphicFrame>
        <p:nvGraphicFramePr>
          <p:cNvPr id="25" name="Table 24"/>
          <p:cNvGraphicFramePr>
            <a:graphicFrameLocks noGrp="1"/>
          </p:cNvGraphicFramePr>
          <p:nvPr/>
        </p:nvGraphicFramePr>
        <p:xfrm>
          <a:off x="393192" y="2578608"/>
          <a:ext cx="8321040" cy="1828800"/>
        </p:xfrm>
        <a:graphic>
          <a:graphicData uri="http://schemas.openxmlformats.org/drawingml/2006/table">
            <a:tbl>
              <a:tblPr firstRow="1" bandRow="1">
                <a:tableStyleId>{5C22544A-7EE6-4342-B048-85BDC9FD1C3A}</a:tableStyleId>
              </a:tblPr>
              <a:tblGrid>
                <a:gridCol w="2194560"/>
                <a:gridCol w="6126480"/>
              </a:tblGrid>
              <a:tr h="365760">
                <a:tc>
                  <a:txBody>
                    <a:bodyPr/>
                    <a:lstStyle/>
                    <a:p>
                      <a:pPr>
                        <a:spcAft>
                          <a:spcPts val="0"/>
                        </a:spcAft>
                        <a:defRPr sz="1400" b="1">
                          <a:solidFill>
                            <a:srgbClr val="FFFFFF"/>
                          </a:solidFill>
                          <a:latin typeface="Arial" panose="020B0604020202020204"/>
                        </a:defRPr>
                      </a:pPr>
                      <a:r>
                        <a:rPr sz="1400" b="1">
                          <a:solidFill>
                            <a:srgbClr val="FFFFFF"/>
                          </a:solidFill>
                          <a:latin typeface="Arial" panose="020B0604020202020204"/>
                        </a:rPr>
                        <a:t>Параметр</a:t>
                      </a:r>
                      <a:endParaRPr sz="140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400" b="1">
                          <a:solidFill>
                            <a:srgbClr val="FFFFFF"/>
                          </a:solidFill>
                          <a:latin typeface="Arial" panose="020B0604020202020204"/>
                        </a:defRPr>
                      </a:pPr>
                      <a:r>
                        <a:rPr sz="1400" b="1">
                          <a:solidFill>
                            <a:srgbClr val="FFFFFF"/>
                          </a:solidFill>
                          <a:latin typeface="Arial" panose="020B0604020202020204"/>
                        </a:rPr>
                        <a:t>Значение</a:t>
                      </a:r>
                      <a:endParaRPr sz="1400" b="1">
                        <a:solidFill>
                          <a:srgbClr val="FFFFFF"/>
                        </a:solidFill>
                        <a:latin typeface="Arial" panose="020B0604020202020204"/>
                      </a:endParaRPr>
                    </a:p>
                  </a:txBody>
                  <a:tcPr marR="64008" marT="59436" marB="32004" anchor="ctr">
                    <a:solidFill>
                      <a:srgbClr val="0066FF"/>
                    </a:solidFill>
                  </a:tcPr>
                </a:tc>
              </a:tr>
              <a:tr h="365760">
                <a:tc>
                  <a:txBody>
                    <a:bodyPr/>
                    <a:lstStyle/>
                    <a:p>
                      <a:pPr>
                        <a:spcAft>
                          <a:spcPts val="0"/>
                        </a:spcAft>
                        <a:defRPr sz="1400" b="0">
                          <a:solidFill>
                            <a:srgbClr val="17263A"/>
                          </a:solidFill>
                          <a:latin typeface="Arial" panose="020B0604020202020204"/>
                        </a:defRPr>
                      </a:pPr>
                      <a:r>
                        <a:rPr sz="1400" b="0">
                          <a:solidFill>
                            <a:srgbClr val="17263A"/>
                          </a:solidFill>
                          <a:latin typeface="Arial" panose="020B0604020202020204"/>
                        </a:rPr>
                        <a:t>Словарь</a:t>
                      </a:r>
                      <a:endParaRPr sz="14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400" b="0">
                          <a:solidFill>
                            <a:srgbClr val="17263A"/>
                          </a:solidFill>
                          <a:latin typeface="Arial" panose="020B0604020202020204"/>
                        </a:defRPr>
                      </a:pPr>
                      <a:r>
                        <a:rPr sz="1400" b="0">
                          <a:solidFill>
                            <a:srgbClr val="17263A"/>
                          </a:solidFill>
                          <a:latin typeface="Arial" panose="020B0604020202020204"/>
                        </a:rPr>
                        <a:t>До 30 000 признаков</a:t>
                      </a:r>
                      <a:endParaRPr sz="1400" b="0">
                        <a:solidFill>
                          <a:srgbClr val="17263A"/>
                        </a:solidFill>
                        <a:latin typeface="Arial" panose="020B0604020202020204"/>
                      </a:endParaRPr>
                    </a:p>
                  </a:txBody>
                  <a:tcPr marR="64008" marT="59436" marB="32004" anchor="ctr">
                    <a:solidFill>
                      <a:srgbClr val="F3F6FB"/>
                    </a:solidFill>
                  </a:tcPr>
                </a:tc>
              </a:tr>
              <a:tr h="365760">
                <a:tc>
                  <a:txBody>
                    <a:bodyPr/>
                    <a:lstStyle/>
                    <a:p>
                      <a:pPr>
                        <a:spcAft>
                          <a:spcPts val="0"/>
                        </a:spcAft>
                        <a:defRPr sz="1400" b="0">
                          <a:solidFill>
                            <a:srgbClr val="17263A"/>
                          </a:solidFill>
                          <a:latin typeface="Arial" panose="020B0604020202020204"/>
                        </a:defRPr>
                      </a:pPr>
                      <a:r>
                        <a:rPr sz="1400" b="0">
                          <a:solidFill>
                            <a:srgbClr val="17263A"/>
                          </a:solidFill>
                          <a:latin typeface="Arial" panose="020B0604020202020204"/>
                        </a:rPr>
                        <a:t>Частота слов</a:t>
                      </a:r>
                      <a:endParaRPr sz="14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400" b="0">
                          <a:solidFill>
                            <a:srgbClr val="17263A"/>
                          </a:solidFill>
                          <a:latin typeface="Arial" panose="020B0604020202020204"/>
                        </a:defRPr>
                      </a:pPr>
                      <a:r>
                        <a:rPr sz="1400" b="0">
                          <a:solidFill>
                            <a:srgbClr val="17263A"/>
                          </a:solidFill>
                          <a:latin typeface="Arial" panose="020B0604020202020204"/>
                        </a:rPr>
                        <a:t>sublinear_tf=True; min_df=2; max_df=0,995</a:t>
                      </a:r>
                      <a:endParaRPr sz="1400" b="0">
                        <a:solidFill>
                          <a:srgbClr val="17263A"/>
                        </a:solidFill>
                        <a:latin typeface="Arial" panose="020B0604020202020204"/>
                      </a:endParaRPr>
                    </a:p>
                  </a:txBody>
                  <a:tcPr marR="64008" marT="59436" marB="32004" anchor="ctr">
                    <a:solidFill>
                      <a:srgbClr val="FFFFFF"/>
                    </a:solidFill>
                  </a:tcPr>
                </a:tc>
              </a:tr>
              <a:tr h="365760">
                <a:tc>
                  <a:txBody>
                    <a:bodyPr/>
                    <a:lstStyle/>
                    <a:p>
                      <a:pPr>
                        <a:spcAft>
                          <a:spcPts val="0"/>
                        </a:spcAft>
                        <a:defRPr sz="1400" b="0">
                          <a:solidFill>
                            <a:srgbClr val="17263A"/>
                          </a:solidFill>
                          <a:latin typeface="Arial" panose="020B0604020202020204"/>
                        </a:defRPr>
                      </a:pPr>
                      <a:r>
                        <a:rPr sz="1400" b="0">
                          <a:solidFill>
                            <a:srgbClr val="17263A"/>
                          </a:solidFill>
                          <a:latin typeface="Arial" panose="020B0604020202020204"/>
                        </a:rPr>
                        <a:t>Классификатор</a:t>
                      </a:r>
                      <a:endParaRPr sz="140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400" b="0">
                          <a:solidFill>
                            <a:srgbClr val="17263A"/>
                          </a:solidFill>
                          <a:latin typeface="Arial" panose="020B0604020202020204"/>
                        </a:defRPr>
                      </a:pPr>
                      <a:r>
                        <a:rPr sz="1400" b="0">
                          <a:solidFill>
                            <a:srgbClr val="17263A"/>
                          </a:solidFill>
                          <a:latin typeface="Arial" panose="020B0604020202020204"/>
                        </a:rPr>
                        <a:t>ComplementNB; alpha=1,0</a:t>
                      </a:r>
                      <a:endParaRPr sz="1400" b="0">
                        <a:solidFill>
                          <a:srgbClr val="17263A"/>
                        </a:solidFill>
                        <a:latin typeface="Arial" panose="020B0604020202020204"/>
                      </a:endParaRPr>
                    </a:p>
                  </a:txBody>
                  <a:tcPr marR="64008" marT="59436" marB="32004" anchor="ctr">
                    <a:solidFill>
                      <a:srgbClr val="F3F6FB"/>
                    </a:solidFill>
                  </a:tcPr>
                </a:tc>
              </a:tr>
              <a:tr h="365760">
                <a:tc>
                  <a:txBody>
                    <a:bodyPr/>
                    <a:lstStyle/>
                    <a:p>
                      <a:pPr>
                        <a:spcAft>
                          <a:spcPts val="0"/>
                        </a:spcAft>
                        <a:defRPr sz="1400" b="0">
                          <a:solidFill>
                            <a:srgbClr val="17263A"/>
                          </a:solidFill>
                          <a:latin typeface="Arial" panose="020B0604020202020204"/>
                        </a:defRPr>
                      </a:pPr>
                      <a:r>
                        <a:rPr sz="1400" b="0">
                          <a:solidFill>
                            <a:srgbClr val="17263A"/>
                          </a:solidFill>
                          <a:latin typeface="Arial" panose="020B0604020202020204"/>
                        </a:rPr>
                        <a:t>Порог сервиса</a:t>
                      </a:r>
                      <a:endParaRPr sz="140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400" b="0">
                          <a:solidFill>
                            <a:srgbClr val="17263A"/>
                          </a:solidFill>
                          <a:latin typeface="Arial" panose="020B0604020202020204"/>
                        </a:defRPr>
                      </a:pPr>
                      <a:r>
                        <a:rPr sz="1400" b="0">
                          <a:solidFill>
                            <a:srgbClr val="17263A"/>
                          </a:solidFill>
                          <a:latin typeface="Arial" panose="020B0604020202020204"/>
                        </a:rPr>
                        <a:t>0,862981</a:t>
                      </a:r>
                      <a:endParaRPr sz="1400" b="0">
                        <a:solidFill>
                          <a:srgbClr val="17263A"/>
                        </a:solidFill>
                        <a:latin typeface="Arial" panose="020B0604020202020204"/>
                      </a:endParaRPr>
                    </a:p>
                  </a:txBody>
                  <a:tcPr marR="64008" marT="59436" marB="32004"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32131"/>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Кандидаты: четыре подхода, шесть конфигураций</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Сравнение моделей</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08 / 23</a:t>
            </a:r>
          </a:p>
        </p:txBody>
      </p:sp>
      <p:sp>
        <p:nvSpPr>
          <p:cNvPr id="6" name="Rounded Rectangle 5"/>
          <p:cNvSpPr/>
          <p:nvPr/>
        </p:nvSpPr>
        <p:spPr>
          <a:xfrm>
            <a:off x="411480" y="1060704"/>
            <a:ext cx="3986784" cy="1536192"/>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7" name="TextBox 6"/>
          <p:cNvSpPr txBox="1"/>
          <p:nvPr/>
        </p:nvSpPr>
        <p:spPr>
          <a:xfrm>
            <a:off x="548640" y="1179576"/>
            <a:ext cx="3694176" cy="292608"/>
          </a:xfrm>
          <a:prstGeom prst="rect">
            <a:avLst/>
          </a:prstGeom>
          <a:noFill/>
        </p:spPr>
        <p:txBody>
          <a:bodyPr wrap="square" lIns="18288" tIns="18288" rIns="18288" bIns="18288">
            <a:spAutoFit/>
          </a:bodyPr>
          <a:lstStyle/>
          <a:p>
            <a:pPr algn="l">
              <a:spcAft>
                <a:spcPts val="500"/>
              </a:spcAft>
              <a:defRPr sz="1800" b="1">
                <a:solidFill>
                  <a:srgbClr val="607087"/>
                </a:solidFill>
                <a:latin typeface="Arial" panose="020B0604020202020204"/>
              </a:defRPr>
            </a:pPr>
            <a:r>
              <a:rPr sz="1800" b="1">
                <a:solidFill>
                  <a:srgbClr val="607087"/>
                </a:solidFill>
                <a:latin typeface="Arial" panose="020B0604020202020204"/>
              </a:rPr>
              <a:t>DummyClassifier</a:t>
            </a:r>
            <a:endParaRPr sz="1800" b="1">
              <a:solidFill>
                <a:srgbClr val="607087"/>
              </a:solidFill>
              <a:latin typeface="Arial" panose="020B0604020202020204"/>
            </a:endParaRPr>
          </a:p>
        </p:txBody>
      </p:sp>
      <p:sp>
        <p:nvSpPr>
          <p:cNvPr id="8" name="TextBox 7"/>
          <p:cNvSpPr txBox="1"/>
          <p:nvPr/>
        </p:nvSpPr>
        <p:spPr>
          <a:xfrm>
            <a:off x="548640" y="1591055"/>
            <a:ext cx="3694176" cy="914400"/>
          </a:xfrm>
          <a:prstGeom prst="rect">
            <a:avLst/>
          </a:prstGeom>
          <a:noFill/>
        </p:spPr>
        <p:txBody>
          <a:bodyPr wrap="square" lIns="18288" tIns="18288" rIns="18288" bIns="18288">
            <a:spAutoFit/>
          </a:bodyPr>
          <a:lstStyle/>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Всегда ham</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Нулевые FP, но Recall = 0</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Ориентир для проверки смысла метрик</a:t>
            </a:r>
            <a:endParaRPr sz="1420" b="0">
              <a:solidFill>
                <a:srgbClr val="17263A"/>
              </a:solidFill>
              <a:latin typeface="Arial" panose="020B0604020202020204"/>
            </a:endParaRPr>
          </a:p>
        </p:txBody>
      </p:sp>
      <p:sp>
        <p:nvSpPr>
          <p:cNvPr id="9" name="Rounded Rectangle 8"/>
          <p:cNvSpPr/>
          <p:nvPr/>
        </p:nvSpPr>
        <p:spPr>
          <a:xfrm>
            <a:off x="4709160" y="1060704"/>
            <a:ext cx="3986784" cy="1536192"/>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0" name="TextBox 9"/>
          <p:cNvSpPr txBox="1"/>
          <p:nvPr/>
        </p:nvSpPr>
        <p:spPr>
          <a:xfrm>
            <a:off x="4846320" y="1179576"/>
            <a:ext cx="3694176" cy="292608"/>
          </a:xfrm>
          <a:prstGeom prst="rect">
            <a:avLst/>
          </a:prstGeom>
          <a:noFill/>
        </p:spPr>
        <p:txBody>
          <a:bodyPr wrap="square" lIns="18288" tIns="18288" rIns="18288" bIns="18288">
            <a:spAutoFit/>
          </a:bodyPr>
          <a:lstStyle/>
          <a:p>
            <a:pPr algn="l">
              <a:spcAft>
                <a:spcPts val="500"/>
              </a:spcAft>
              <a:defRPr sz="1800" b="1">
                <a:solidFill>
                  <a:srgbClr val="0066FF"/>
                </a:solidFill>
                <a:latin typeface="Arial" panose="020B0604020202020204"/>
              </a:defRPr>
            </a:pPr>
            <a:r>
              <a:rPr sz="1800" b="1">
                <a:solidFill>
                  <a:srgbClr val="0066FF"/>
                </a:solidFill>
                <a:latin typeface="Arial" panose="020B0604020202020204"/>
              </a:rPr>
              <a:t>ComplementNB</a:t>
            </a:r>
            <a:endParaRPr sz="1800" b="1">
              <a:solidFill>
                <a:srgbClr val="0066FF"/>
              </a:solidFill>
              <a:latin typeface="Arial" panose="020B0604020202020204"/>
            </a:endParaRPr>
          </a:p>
        </p:txBody>
      </p:sp>
      <p:sp>
        <p:nvSpPr>
          <p:cNvPr id="11" name="TextBox 10"/>
          <p:cNvSpPr txBox="1"/>
          <p:nvPr/>
        </p:nvSpPr>
        <p:spPr>
          <a:xfrm>
            <a:off x="4846320" y="1591055"/>
            <a:ext cx="3694176" cy="914400"/>
          </a:xfrm>
          <a:prstGeom prst="rect">
            <a:avLst/>
          </a:prstGeom>
          <a:noFill/>
        </p:spPr>
        <p:txBody>
          <a:bodyPr wrap="square" lIns="18288" tIns="18288" rIns="18288" bIns="18288">
            <a:spAutoFit/>
          </a:bodyPr>
          <a:lstStyle/>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alpha = 0,5 и 1,0</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Быстрый текстовый классификатор</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Сглаживание редких признаков</a:t>
            </a:r>
            <a:endParaRPr sz="1420" b="0">
              <a:solidFill>
                <a:srgbClr val="17263A"/>
              </a:solidFill>
              <a:latin typeface="Arial" panose="020B0604020202020204"/>
            </a:endParaRPr>
          </a:p>
        </p:txBody>
      </p:sp>
      <p:sp>
        <p:nvSpPr>
          <p:cNvPr id="12" name="Rounded Rectangle 11"/>
          <p:cNvSpPr/>
          <p:nvPr/>
        </p:nvSpPr>
        <p:spPr>
          <a:xfrm>
            <a:off x="411480" y="2788920"/>
            <a:ext cx="3986784" cy="1536192"/>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3" name="TextBox 12"/>
          <p:cNvSpPr txBox="1"/>
          <p:nvPr/>
        </p:nvSpPr>
        <p:spPr>
          <a:xfrm>
            <a:off x="548640" y="2907791"/>
            <a:ext cx="3694176" cy="292608"/>
          </a:xfrm>
          <a:prstGeom prst="rect">
            <a:avLst/>
          </a:prstGeom>
          <a:noFill/>
        </p:spPr>
        <p:txBody>
          <a:bodyPr wrap="square" lIns="18288" tIns="18288" rIns="18288" bIns="18288">
            <a:spAutoFit/>
          </a:bodyPr>
          <a:lstStyle/>
          <a:p>
            <a:pPr algn="l">
              <a:spcAft>
                <a:spcPts val="500"/>
              </a:spcAft>
              <a:defRPr sz="1800" b="1">
                <a:solidFill>
                  <a:srgbClr val="118C78"/>
                </a:solidFill>
                <a:latin typeface="Arial" panose="020B0604020202020204"/>
              </a:defRPr>
            </a:pPr>
            <a:r>
              <a:rPr sz="1800" b="1">
                <a:solidFill>
                  <a:srgbClr val="118C78"/>
                </a:solidFill>
                <a:latin typeface="Arial" panose="020B0604020202020204"/>
              </a:rPr>
              <a:t>LogisticRegression</a:t>
            </a:r>
            <a:endParaRPr sz="1800" b="1">
              <a:solidFill>
                <a:srgbClr val="118C78"/>
              </a:solidFill>
              <a:latin typeface="Arial" panose="020B0604020202020204"/>
            </a:endParaRPr>
          </a:p>
        </p:txBody>
      </p:sp>
      <p:sp>
        <p:nvSpPr>
          <p:cNvPr id="14" name="TextBox 13"/>
          <p:cNvSpPr txBox="1"/>
          <p:nvPr/>
        </p:nvSpPr>
        <p:spPr>
          <a:xfrm>
            <a:off x="548640" y="3319272"/>
            <a:ext cx="3694176" cy="914400"/>
          </a:xfrm>
          <a:prstGeom prst="rect">
            <a:avLst/>
          </a:prstGeom>
          <a:noFill/>
        </p:spPr>
        <p:txBody>
          <a:bodyPr wrap="square" lIns="18288" tIns="18288" rIns="18288" bIns="18288">
            <a:spAutoFit/>
          </a:bodyPr>
          <a:lstStyle/>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C = 0,5 и 2,0</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Меньший C — сильнее регуляризация</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Вес ham вдвое выше веса spam</a:t>
            </a:r>
            <a:endParaRPr sz="1420" b="0">
              <a:solidFill>
                <a:srgbClr val="17263A"/>
              </a:solidFill>
              <a:latin typeface="Arial" panose="020B0604020202020204"/>
            </a:endParaRPr>
          </a:p>
        </p:txBody>
      </p:sp>
      <p:sp>
        <p:nvSpPr>
          <p:cNvPr id="15" name="Rounded Rectangle 14"/>
          <p:cNvSpPr/>
          <p:nvPr/>
        </p:nvSpPr>
        <p:spPr>
          <a:xfrm>
            <a:off x="4709160" y="2788920"/>
            <a:ext cx="3986784" cy="1536192"/>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6" name="TextBox 15"/>
          <p:cNvSpPr txBox="1"/>
          <p:nvPr/>
        </p:nvSpPr>
        <p:spPr>
          <a:xfrm>
            <a:off x="4846320" y="2907791"/>
            <a:ext cx="3694176" cy="292608"/>
          </a:xfrm>
          <a:prstGeom prst="rect">
            <a:avLst/>
          </a:prstGeom>
          <a:noFill/>
        </p:spPr>
        <p:txBody>
          <a:bodyPr wrap="square" lIns="18288" tIns="18288" rIns="18288" bIns="18288">
            <a:spAutoFit/>
          </a:bodyPr>
          <a:lstStyle/>
          <a:p>
            <a:pPr algn="l">
              <a:spcAft>
                <a:spcPts val="500"/>
              </a:spcAft>
              <a:defRPr sz="1800" b="1">
                <a:solidFill>
                  <a:srgbClr val="D43B68"/>
                </a:solidFill>
                <a:latin typeface="Arial" panose="020B0604020202020204"/>
              </a:defRPr>
            </a:pPr>
            <a:r>
              <a:rPr sz="1800" b="1">
                <a:solidFill>
                  <a:srgbClr val="D43B68"/>
                </a:solidFill>
                <a:latin typeface="Arial" panose="020B0604020202020204"/>
              </a:rPr>
              <a:t>LinearSVC</a:t>
            </a:r>
            <a:endParaRPr sz="1800" b="1">
              <a:solidFill>
                <a:srgbClr val="D43B68"/>
              </a:solidFill>
              <a:latin typeface="Arial" panose="020B0604020202020204"/>
            </a:endParaRPr>
          </a:p>
        </p:txBody>
      </p:sp>
      <p:sp>
        <p:nvSpPr>
          <p:cNvPr id="17" name="TextBox 16"/>
          <p:cNvSpPr txBox="1"/>
          <p:nvPr/>
        </p:nvSpPr>
        <p:spPr>
          <a:xfrm>
            <a:off x="4846320" y="3319272"/>
            <a:ext cx="3694176" cy="914400"/>
          </a:xfrm>
          <a:prstGeom prst="rect">
            <a:avLst/>
          </a:prstGeom>
          <a:noFill/>
        </p:spPr>
        <p:txBody>
          <a:bodyPr wrap="square" lIns="18288" tIns="18288" rIns="18288" bIns="18288">
            <a:spAutoFit/>
          </a:bodyPr>
          <a:lstStyle/>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C = 1,0; вес ham = 2</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Разделяющая граница с зазором</a:t>
            </a:r>
            <a:endParaRPr sz="1420" b="0">
              <a:solidFill>
                <a:srgbClr val="17263A"/>
              </a:solidFill>
              <a:latin typeface="Arial" panose="020B0604020202020204"/>
            </a:endParaRPr>
          </a:p>
          <a:p>
            <a:pPr algn="l">
              <a:spcAft>
                <a:spcPts val="500"/>
              </a:spcAft>
              <a:defRPr sz="1420" b="0">
                <a:solidFill>
                  <a:srgbClr val="17263A"/>
                </a:solidFill>
                <a:latin typeface="Arial" panose="020B0604020202020204"/>
              </a:defRPr>
            </a:pPr>
            <a:r>
              <a:rPr sz="1420" b="0">
                <a:solidFill>
                  <a:srgbClr val="17263A"/>
                </a:solidFill>
                <a:latin typeface="Arial" panose="020B0604020202020204"/>
              </a:rPr>
              <a:t>Выход — margin, не вероятность</a:t>
            </a:r>
            <a:endParaRPr sz="1420" b="0">
              <a:solidFill>
                <a:srgbClr val="17263A"/>
              </a:solidFill>
              <a:latin typeface="Arial" panose="020B0604020202020204"/>
            </a:endParaRPr>
          </a:p>
        </p:txBody>
      </p:sp>
      <p:sp>
        <p:nvSpPr>
          <p:cNvPr id="18" name="Text Box 17"/>
          <p:cNvSpPr txBox="1"/>
          <p:nvPr/>
        </p:nvSpPr>
        <p:spPr>
          <a:xfrm>
            <a:off x="3202940" y="-59055"/>
            <a:ext cx="3048000" cy="306705"/>
          </a:xfrm>
          <a:prstGeom prst="rect">
            <a:avLst/>
          </a:prstGeom>
          <a:noFill/>
        </p:spPr>
        <p:txBody>
          <a:bodyPr wrap="square" rtlCol="0">
            <a:spAutoFit/>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84175" y="-254"/>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Кросс-валидация: качество при стандартных порогах</a:t>
            </a:r>
            <a:endParaRPr sz="2600" b="1">
              <a:solidFill>
                <a:srgbClr val="17263A"/>
              </a:solidFill>
              <a:latin typeface="Arial" panose="020B0604020202020204"/>
            </a:endParaRP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tIns="18288" rIns="18288" bIns="18288">
            <a:spAutoFit/>
          </a:bodyPr>
          <a:lstStyle/>
          <a:p>
            <a:pPr algn="l">
              <a:spcAft>
                <a:spcPts val="500"/>
              </a:spcAft>
              <a:defRPr sz="1250" b="0">
                <a:solidFill>
                  <a:srgbClr val="607087"/>
                </a:solidFill>
                <a:latin typeface="Arial" panose="020B0604020202020204"/>
              </a:defRPr>
            </a:pPr>
            <a:r>
              <a:rPr sz="1250" b="0">
                <a:solidFill>
                  <a:srgbClr val="607087"/>
                </a:solidFill>
                <a:latin typeface="Arial" panose="020B0604020202020204"/>
              </a:rPr>
              <a:t>Средние значения по 5 фолдам внутри train. Порог NB/LR — 0,5; SVC — 0.</a:t>
            </a:r>
            <a:endParaRPr sz="1250" b="0">
              <a:solidFill>
                <a:srgbClr val="607087"/>
              </a:solidFill>
              <a:latin typeface="Arial" panose="020B0604020202020204"/>
            </a:endParaRPr>
          </a:p>
        </p:txBody>
      </p:sp>
      <p:sp>
        <p:nvSpPr>
          <p:cNvPr id="5" name="TextBox 4"/>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CV</a:t>
            </a:r>
            <a:endParaRPr sz="900" b="0">
              <a:solidFill>
                <a:srgbClr val="607087"/>
              </a:solidFill>
              <a:latin typeface="Arial" panose="020B0604020202020204"/>
            </a:endParaRPr>
          </a:p>
        </p:txBody>
      </p:sp>
      <p:sp>
        <p:nvSpPr>
          <p:cNvPr id="6"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09 / 23</a:t>
            </a:r>
          </a:p>
        </p:txBody>
      </p:sp>
      <p:graphicFrame>
        <p:nvGraphicFramePr>
          <p:cNvPr id="7" name="Table 6"/>
          <p:cNvGraphicFramePr>
            <a:graphicFrameLocks noGrp="1"/>
          </p:cNvGraphicFramePr>
          <p:nvPr/>
        </p:nvGraphicFramePr>
        <p:xfrm>
          <a:off x="393192" y="1316736"/>
          <a:ext cx="8321040" cy="2624328"/>
        </p:xfrm>
        <a:graphic>
          <a:graphicData uri="http://schemas.openxmlformats.org/drawingml/2006/table">
            <a:tbl>
              <a:tblPr firstRow="1" bandRow="1">
                <a:tableStyleId>{5C22544A-7EE6-4342-B048-85BDC9FD1C3A}</a:tableStyleId>
              </a:tblPr>
              <a:tblGrid>
                <a:gridCol w="2788920"/>
                <a:gridCol w="1188720"/>
                <a:gridCol w="1143000"/>
                <a:gridCol w="960120"/>
                <a:gridCol w="960120"/>
                <a:gridCol w="1280160"/>
              </a:tblGrid>
              <a:tr h="374904">
                <a:tc>
                  <a:txBody>
                    <a:bodyPr/>
                    <a:lstStyle/>
                    <a:p>
                      <a:pPr>
                        <a:spcAft>
                          <a:spcPts val="0"/>
                        </a:spcAft>
                        <a:defRPr sz="1280" b="1">
                          <a:solidFill>
                            <a:srgbClr val="FFFFFF"/>
                          </a:solidFill>
                          <a:latin typeface="Arial" panose="020B0604020202020204"/>
                        </a:defRPr>
                      </a:pPr>
                      <a:r>
                        <a:rPr sz="1280" b="1">
                          <a:solidFill>
                            <a:srgbClr val="FFFFFF"/>
                          </a:solidFill>
                          <a:latin typeface="Arial" panose="020B0604020202020204"/>
                        </a:rPr>
                        <a:t>Модель</a:t>
                      </a:r>
                      <a:endParaRPr sz="128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280" b="1">
                          <a:solidFill>
                            <a:srgbClr val="FFFFFF"/>
                          </a:solidFill>
                          <a:latin typeface="Arial" panose="020B0604020202020204"/>
                        </a:defRPr>
                      </a:pPr>
                      <a:r>
                        <a:rPr sz="1280" b="1">
                          <a:solidFill>
                            <a:srgbClr val="FFFFFF"/>
                          </a:solidFill>
                          <a:latin typeface="Arial" panose="020B0604020202020204"/>
                        </a:rPr>
                        <a:t>Precision</a:t>
                      </a:r>
                      <a:endParaRPr sz="128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280" b="1">
                          <a:solidFill>
                            <a:srgbClr val="FFFFFF"/>
                          </a:solidFill>
                          <a:latin typeface="Arial" panose="020B0604020202020204"/>
                        </a:defRPr>
                      </a:pPr>
                      <a:r>
                        <a:rPr sz="1280" b="1">
                          <a:solidFill>
                            <a:srgbClr val="FFFFFF"/>
                          </a:solidFill>
                          <a:latin typeface="Arial" panose="020B0604020202020204"/>
                        </a:rPr>
                        <a:t>Recall</a:t>
                      </a:r>
                      <a:endParaRPr sz="128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280" b="1">
                          <a:solidFill>
                            <a:srgbClr val="FFFFFF"/>
                          </a:solidFill>
                          <a:latin typeface="Arial" panose="020B0604020202020204"/>
                        </a:defRPr>
                      </a:pPr>
                      <a:r>
                        <a:rPr sz="1280" b="1">
                          <a:solidFill>
                            <a:srgbClr val="FFFFFF"/>
                          </a:solidFill>
                          <a:latin typeface="Arial" panose="020B0604020202020204"/>
                        </a:rPr>
                        <a:t>F1</a:t>
                      </a:r>
                      <a:endParaRPr sz="128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280" b="1">
                          <a:solidFill>
                            <a:srgbClr val="FFFFFF"/>
                          </a:solidFill>
                          <a:latin typeface="Arial" panose="020B0604020202020204"/>
                        </a:defRPr>
                      </a:pPr>
                      <a:r>
                        <a:rPr sz="1280" b="1">
                          <a:solidFill>
                            <a:srgbClr val="FFFFFF"/>
                          </a:solidFill>
                          <a:latin typeface="Arial" panose="020B0604020202020204"/>
                        </a:rPr>
                        <a:t>F0.5</a:t>
                      </a:r>
                      <a:endParaRPr sz="1280" b="1">
                        <a:solidFill>
                          <a:srgbClr val="FFFFFF"/>
                        </a:solidFill>
                        <a:latin typeface="Arial" panose="020B0604020202020204"/>
                      </a:endParaRPr>
                    </a:p>
                  </a:txBody>
                  <a:tcPr marR="64008" marT="59436" marB="32004" anchor="ctr">
                    <a:solidFill>
                      <a:srgbClr val="0066FF"/>
                    </a:solidFill>
                  </a:tcPr>
                </a:tc>
                <a:tc>
                  <a:txBody>
                    <a:bodyPr/>
                    <a:lstStyle/>
                    <a:p>
                      <a:pPr algn="ctr">
                        <a:spcAft>
                          <a:spcPts val="0"/>
                        </a:spcAft>
                        <a:defRPr sz="1280" b="1">
                          <a:solidFill>
                            <a:srgbClr val="FFFFFF"/>
                          </a:solidFill>
                          <a:latin typeface="Arial" panose="020B0604020202020204"/>
                        </a:defRPr>
                      </a:pPr>
                      <a:r>
                        <a:rPr sz="1280" b="1">
                          <a:solidFill>
                            <a:srgbClr val="FFFFFF"/>
                          </a:solidFill>
                          <a:latin typeface="Arial" panose="020B0604020202020204"/>
                        </a:rPr>
                        <a:t>FPR</a:t>
                      </a:r>
                      <a:endParaRPr sz="1280" b="1">
                        <a:solidFill>
                          <a:srgbClr val="FFFFFF"/>
                        </a:solidFill>
                        <a:latin typeface="Arial" panose="020B0604020202020204"/>
                      </a:endParaRPr>
                    </a:p>
                  </a:txBody>
                  <a:tcPr marR="64008" marT="59436" marB="32004" anchor="ctr">
                    <a:solidFill>
                      <a:srgbClr val="0066FF"/>
                    </a:solidFill>
                  </a:tcPr>
                </a:tc>
              </a:tr>
              <a:tr h="374904">
                <a:tc>
                  <a:txBody>
                    <a:bodyPr/>
                    <a:lstStyle/>
                    <a:p>
                      <a:pPr>
                        <a:spcAft>
                          <a:spcPts val="0"/>
                        </a:spcAft>
                        <a:defRPr sz="1280" b="1">
                          <a:solidFill>
                            <a:srgbClr val="17263A"/>
                          </a:solidFill>
                          <a:latin typeface="Arial" panose="020B0604020202020204"/>
                        </a:defRPr>
                      </a:pPr>
                      <a:r>
                        <a:rPr sz="1280" b="1">
                          <a:solidFill>
                            <a:srgbClr val="17263A"/>
                          </a:solidFill>
                          <a:latin typeface="Arial" panose="020B0604020202020204"/>
                        </a:rPr>
                        <a:t>ComplementNB, α=1,0</a:t>
                      </a:r>
                      <a:endParaRPr sz="1280" b="1">
                        <a:solidFill>
                          <a:srgbClr val="17263A"/>
                        </a:solidFill>
                        <a:latin typeface="Arial" panose="020B0604020202020204"/>
                      </a:endParaRPr>
                    </a:p>
                  </a:txBody>
                  <a:tcPr marR="64008" marT="59436" marB="32004" anchor="ctr">
                    <a:solidFill>
                      <a:srgbClr val="E9F6F0"/>
                    </a:solidFill>
                  </a:tcPr>
                </a:tc>
                <a:tc>
                  <a:txBody>
                    <a:bodyPr/>
                    <a:lstStyle/>
                    <a:p>
                      <a:pPr algn="ctr">
                        <a:spcAft>
                          <a:spcPts val="0"/>
                        </a:spcAft>
                        <a:defRPr sz="1280" b="1">
                          <a:solidFill>
                            <a:srgbClr val="17263A"/>
                          </a:solidFill>
                          <a:latin typeface="Arial" panose="020B0604020202020204"/>
                        </a:defRPr>
                      </a:pPr>
                      <a:r>
                        <a:rPr sz="1280" b="1">
                          <a:solidFill>
                            <a:srgbClr val="17263A"/>
                          </a:solidFill>
                          <a:latin typeface="Arial" panose="020B0604020202020204"/>
                        </a:rPr>
                        <a:t>99,75%</a:t>
                      </a:r>
                      <a:endParaRPr sz="1280" b="1">
                        <a:solidFill>
                          <a:srgbClr val="17263A"/>
                        </a:solidFill>
                        <a:latin typeface="Arial" panose="020B0604020202020204"/>
                      </a:endParaRPr>
                    </a:p>
                  </a:txBody>
                  <a:tcPr marR="64008" marT="59436" marB="32004" anchor="ctr">
                    <a:solidFill>
                      <a:srgbClr val="E9F6F0"/>
                    </a:solidFill>
                  </a:tcPr>
                </a:tc>
                <a:tc>
                  <a:txBody>
                    <a:bodyPr/>
                    <a:lstStyle/>
                    <a:p>
                      <a:pPr algn="ctr">
                        <a:spcAft>
                          <a:spcPts val="0"/>
                        </a:spcAft>
                        <a:defRPr sz="1280" b="1">
                          <a:solidFill>
                            <a:srgbClr val="17263A"/>
                          </a:solidFill>
                          <a:latin typeface="Arial" panose="020B0604020202020204"/>
                        </a:defRPr>
                      </a:pPr>
                      <a:r>
                        <a:rPr sz="1280" b="1">
                          <a:solidFill>
                            <a:srgbClr val="17263A"/>
                          </a:solidFill>
                          <a:latin typeface="Arial" panose="020B0604020202020204"/>
                        </a:rPr>
                        <a:t>85,20%</a:t>
                      </a:r>
                      <a:endParaRPr sz="1280" b="1">
                        <a:solidFill>
                          <a:srgbClr val="17263A"/>
                        </a:solidFill>
                        <a:latin typeface="Arial" panose="020B0604020202020204"/>
                      </a:endParaRPr>
                    </a:p>
                  </a:txBody>
                  <a:tcPr marR="64008" marT="59436" marB="32004" anchor="ctr">
                    <a:solidFill>
                      <a:srgbClr val="E9F6F0"/>
                    </a:solidFill>
                  </a:tcPr>
                </a:tc>
                <a:tc>
                  <a:txBody>
                    <a:bodyPr/>
                    <a:lstStyle/>
                    <a:p>
                      <a:pPr algn="ctr">
                        <a:spcAft>
                          <a:spcPts val="0"/>
                        </a:spcAft>
                        <a:defRPr sz="1280" b="1">
                          <a:solidFill>
                            <a:srgbClr val="17263A"/>
                          </a:solidFill>
                          <a:latin typeface="Arial" panose="020B0604020202020204"/>
                        </a:defRPr>
                      </a:pPr>
                      <a:r>
                        <a:rPr sz="1280" b="1">
                          <a:solidFill>
                            <a:srgbClr val="17263A"/>
                          </a:solidFill>
                          <a:latin typeface="Arial" panose="020B0604020202020204"/>
                        </a:rPr>
                        <a:t>0,9188</a:t>
                      </a:r>
                      <a:endParaRPr sz="1280" b="1">
                        <a:solidFill>
                          <a:srgbClr val="17263A"/>
                        </a:solidFill>
                        <a:latin typeface="Arial" panose="020B0604020202020204"/>
                      </a:endParaRPr>
                    </a:p>
                  </a:txBody>
                  <a:tcPr marR="64008" marT="59436" marB="32004" anchor="ctr">
                    <a:solidFill>
                      <a:srgbClr val="E9F6F0"/>
                    </a:solidFill>
                  </a:tcPr>
                </a:tc>
                <a:tc>
                  <a:txBody>
                    <a:bodyPr/>
                    <a:lstStyle/>
                    <a:p>
                      <a:pPr algn="ctr">
                        <a:spcAft>
                          <a:spcPts val="0"/>
                        </a:spcAft>
                        <a:defRPr sz="1280" b="1">
                          <a:solidFill>
                            <a:srgbClr val="17263A"/>
                          </a:solidFill>
                          <a:latin typeface="Arial" panose="020B0604020202020204"/>
                        </a:defRPr>
                      </a:pPr>
                      <a:r>
                        <a:rPr sz="1280" b="1">
                          <a:solidFill>
                            <a:srgbClr val="17263A"/>
                          </a:solidFill>
                          <a:latin typeface="Arial" panose="020B0604020202020204"/>
                        </a:rPr>
                        <a:t>0,9644</a:t>
                      </a:r>
                      <a:endParaRPr sz="1280" b="1">
                        <a:solidFill>
                          <a:srgbClr val="17263A"/>
                        </a:solidFill>
                        <a:latin typeface="Arial" panose="020B0604020202020204"/>
                      </a:endParaRPr>
                    </a:p>
                  </a:txBody>
                  <a:tcPr marR="64008" marT="59436" marB="32004" anchor="ctr">
                    <a:solidFill>
                      <a:srgbClr val="E9F6F0"/>
                    </a:solidFill>
                  </a:tcPr>
                </a:tc>
                <a:tc>
                  <a:txBody>
                    <a:bodyPr/>
                    <a:lstStyle/>
                    <a:p>
                      <a:pPr algn="ctr">
                        <a:spcAft>
                          <a:spcPts val="0"/>
                        </a:spcAft>
                        <a:defRPr sz="1280" b="1">
                          <a:solidFill>
                            <a:srgbClr val="17263A"/>
                          </a:solidFill>
                          <a:latin typeface="Arial" panose="020B0604020202020204"/>
                        </a:defRPr>
                      </a:pPr>
                      <a:r>
                        <a:rPr sz="1280" b="1">
                          <a:solidFill>
                            <a:srgbClr val="17263A"/>
                          </a:solidFill>
                          <a:latin typeface="Arial" panose="020B0604020202020204"/>
                        </a:rPr>
                        <a:t>0,081%</a:t>
                      </a:r>
                      <a:endParaRPr sz="1280" b="1">
                        <a:solidFill>
                          <a:srgbClr val="17263A"/>
                        </a:solidFill>
                        <a:latin typeface="Arial" panose="020B0604020202020204"/>
                      </a:endParaRPr>
                    </a:p>
                  </a:txBody>
                  <a:tcPr marR="64008" marT="59436" marB="32004" anchor="ctr">
                    <a:solidFill>
                      <a:srgbClr val="E9F6F0"/>
                    </a:solidFill>
                  </a:tcPr>
                </a:tc>
              </a:tr>
              <a:tr h="374904">
                <a:tc>
                  <a:txBody>
                    <a:bodyPr/>
                    <a:lstStyle/>
                    <a:p>
                      <a:pPr>
                        <a:spcAft>
                          <a:spcPts val="0"/>
                        </a:spcAft>
                        <a:defRPr sz="1280" b="0">
                          <a:solidFill>
                            <a:srgbClr val="17263A"/>
                          </a:solidFill>
                          <a:latin typeface="Arial" panose="020B0604020202020204"/>
                        </a:defRPr>
                      </a:pPr>
                      <a:r>
                        <a:rPr sz="1280" b="0">
                          <a:solidFill>
                            <a:srgbClr val="17263A"/>
                          </a:solidFill>
                          <a:latin typeface="Arial" panose="020B0604020202020204"/>
                        </a:rPr>
                        <a:t>LogReg, C=2,0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99,00%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82,36%</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0,8989</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0,9513</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0,324%</a:t>
                      </a:r>
                      <a:endParaRPr sz="1280" b="0">
                        <a:solidFill>
                          <a:srgbClr val="17263A"/>
                        </a:solidFill>
                        <a:latin typeface="Arial" panose="020B0604020202020204"/>
                      </a:endParaRPr>
                    </a:p>
                  </a:txBody>
                  <a:tcPr marR="64008" marT="59436" marB="32004" anchor="ctr">
                    <a:solidFill>
                      <a:srgbClr val="FFFFFF"/>
                    </a:solidFill>
                  </a:tcPr>
                </a:tc>
              </a:tr>
              <a:tr h="374904">
                <a:tc>
                  <a:txBody>
                    <a:bodyPr/>
                    <a:lstStyle/>
                    <a:p>
                      <a:pPr>
                        <a:spcAft>
                          <a:spcPts val="0"/>
                        </a:spcAft>
                        <a:defRPr sz="1280" b="0">
                          <a:solidFill>
                            <a:srgbClr val="17263A"/>
                          </a:solidFill>
                          <a:latin typeface="Arial" panose="020B0604020202020204"/>
                        </a:defRPr>
                      </a:pPr>
                      <a:r>
                        <a:rPr sz="1280" b="0">
                          <a:solidFill>
                            <a:srgbClr val="17263A"/>
                          </a:solidFill>
                          <a:latin typeface="Arial" panose="020B0604020202020204"/>
                        </a:rPr>
                        <a:t>LogReg, C=0,5</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100,00%</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56,40%</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0,7208</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0,8657</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0,000%</a:t>
                      </a:r>
                      <a:endParaRPr sz="1280" b="0">
                        <a:solidFill>
                          <a:srgbClr val="17263A"/>
                        </a:solidFill>
                        <a:latin typeface="Arial" panose="020B0604020202020204"/>
                      </a:endParaRPr>
                    </a:p>
                  </a:txBody>
                  <a:tcPr marR="64008" marT="59436" marB="32004" anchor="ctr">
                    <a:solidFill>
                      <a:srgbClr val="F3F6FB"/>
                    </a:solidFill>
                  </a:tcPr>
                </a:tc>
              </a:tr>
              <a:tr h="374904">
                <a:tc>
                  <a:txBody>
                    <a:bodyPr/>
                    <a:lstStyle/>
                    <a:p>
                      <a:pPr>
                        <a:spcAft>
                          <a:spcPts val="0"/>
                        </a:spcAft>
                        <a:defRPr sz="1280" b="0">
                          <a:solidFill>
                            <a:srgbClr val="17263A"/>
                          </a:solidFill>
                          <a:latin typeface="Arial" panose="020B0604020202020204"/>
                        </a:defRPr>
                      </a:pPr>
                      <a:r>
                        <a:rPr sz="1280" b="0">
                          <a:solidFill>
                            <a:srgbClr val="17263A"/>
                          </a:solidFill>
                          <a:latin typeface="Arial" panose="020B0604020202020204"/>
                        </a:rPr>
                        <a:t>LinearSVC, C=1,0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98,09%</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93,93%</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0,9594</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0,9722</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0,729%</a:t>
                      </a:r>
                      <a:endParaRPr sz="1280" b="0">
                        <a:solidFill>
                          <a:srgbClr val="17263A"/>
                        </a:solidFill>
                        <a:latin typeface="Arial" panose="020B0604020202020204"/>
                      </a:endParaRPr>
                    </a:p>
                  </a:txBody>
                  <a:tcPr marR="64008" marT="59436" marB="32004" anchor="ctr">
                    <a:solidFill>
                      <a:srgbClr val="FFFFFF"/>
                    </a:solidFill>
                  </a:tcPr>
                </a:tc>
              </a:tr>
              <a:tr h="374904">
                <a:tc>
                  <a:txBody>
                    <a:bodyPr/>
                    <a:lstStyle/>
                    <a:p>
                      <a:pPr>
                        <a:spcAft>
                          <a:spcPts val="0"/>
                        </a:spcAft>
                        <a:defRPr sz="1280" b="0">
                          <a:solidFill>
                            <a:srgbClr val="17263A"/>
                          </a:solidFill>
                          <a:latin typeface="Arial" panose="020B0604020202020204"/>
                        </a:defRPr>
                      </a:pPr>
                      <a:r>
                        <a:rPr sz="1280" b="0">
                          <a:solidFill>
                            <a:srgbClr val="17263A"/>
                          </a:solidFill>
                          <a:latin typeface="Arial" panose="020B0604020202020204"/>
                        </a:rPr>
                        <a:t>ComplementNB, α=0,5</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98,11%</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93,11%</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0,9551</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0,9705</a:t>
                      </a:r>
                      <a:endParaRPr sz="1280" b="0">
                        <a:solidFill>
                          <a:srgbClr val="17263A"/>
                        </a:solidFill>
                        <a:latin typeface="Arial" panose="020B0604020202020204"/>
                      </a:endParaRPr>
                    </a:p>
                  </a:txBody>
                  <a:tcPr marR="64008" marT="59436" marB="32004" anchor="ctr">
                    <a:solidFill>
                      <a:srgbClr val="F3F6FB"/>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0,729%</a:t>
                      </a:r>
                      <a:endParaRPr sz="1280" b="0">
                        <a:solidFill>
                          <a:srgbClr val="17263A"/>
                        </a:solidFill>
                        <a:latin typeface="Arial" panose="020B0604020202020204"/>
                      </a:endParaRPr>
                    </a:p>
                  </a:txBody>
                  <a:tcPr marR="64008" marT="59436" marB="32004" anchor="ctr">
                    <a:solidFill>
                      <a:srgbClr val="F3F6FB"/>
                    </a:solidFill>
                  </a:tcPr>
                </a:tc>
              </a:tr>
              <a:tr h="374904">
                <a:tc>
                  <a:txBody>
                    <a:bodyPr/>
                    <a:lstStyle/>
                    <a:p>
                      <a:pPr>
                        <a:spcAft>
                          <a:spcPts val="0"/>
                        </a:spcAft>
                        <a:defRPr sz="1280" b="0">
                          <a:solidFill>
                            <a:srgbClr val="17263A"/>
                          </a:solidFill>
                          <a:latin typeface="Arial" panose="020B0604020202020204"/>
                        </a:defRPr>
                      </a:pPr>
                      <a:r>
                        <a:rPr sz="1280" b="0">
                          <a:solidFill>
                            <a:srgbClr val="17263A"/>
                          </a:solidFill>
                          <a:latin typeface="Arial" panose="020B0604020202020204"/>
                        </a:rPr>
                        <a:t>Dummy: всегда ham</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0,00%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0,0000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0,0000</a:t>
                      </a:r>
                      <a:endParaRPr sz="1280" b="0">
                        <a:solidFill>
                          <a:srgbClr val="17263A"/>
                        </a:solidFill>
                        <a:latin typeface="Arial" panose="020B0604020202020204"/>
                      </a:endParaRPr>
                    </a:p>
                  </a:txBody>
                  <a:tcPr marR="64008" marT="59436" marB="32004" anchor="ctr">
                    <a:solidFill>
                      <a:srgbClr val="FFFFFF"/>
                    </a:solidFill>
                  </a:tcPr>
                </a:tc>
                <a:tc>
                  <a:txBody>
                    <a:bodyPr/>
                    <a:lstStyle/>
                    <a:p>
                      <a:pPr algn="ctr">
                        <a:spcAft>
                          <a:spcPts val="0"/>
                        </a:spcAft>
                        <a:defRPr sz="1280" b="0">
                          <a:solidFill>
                            <a:srgbClr val="17263A"/>
                          </a:solidFill>
                          <a:latin typeface="Arial" panose="020B0604020202020204"/>
                        </a:defRPr>
                      </a:pPr>
                      <a:r>
                        <a:rPr sz="1280" b="0">
                          <a:solidFill>
                            <a:srgbClr val="17263A"/>
                          </a:solidFill>
                          <a:latin typeface="Arial" panose="020B0604020202020204"/>
                        </a:rPr>
                        <a:t>0,000%</a:t>
                      </a:r>
                      <a:endParaRPr sz="1280" b="0">
                        <a:solidFill>
                          <a:srgbClr val="17263A"/>
                        </a:solidFill>
                        <a:latin typeface="Arial" panose="020B0604020202020204"/>
                      </a:endParaRPr>
                    </a:p>
                  </a:txBody>
                  <a:tcPr marR="64008" marT="59436" marB="32004" anchor="ctr">
                    <a:solidFill>
                      <a:srgbClr val="FFFFFF"/>
                    </a:solidFill>
                  </a:tcPr>
                </a:tc>
              </a:tr>
            </a:tbl>
          </a:graphicData>
        </a:graphic>
      </p:graphicFrame>
      <p:sp>
        <p:nvSpPr>
          <p:cNvPr id="8" name="TextBox 7"/>
          <p:cNvSpPr txBox="1"/>
          <p:nvPr/>
        </p:nvSpPr>
        <p:spPr>
          <a:xfrm>
            <a:off x="448056" y="4096512"/>
            <a:ext cx="8211312" cy="411480"/>
          </a:xfrm>
          <a:prstGeom prst="rect">
            <a:avLst/>
          </a:prstGeom>
          <a:noFill/>
        </p:spPr>
        <p:txBody>
          <a:bodyPr wrap="square" lIns="18288" tIns="18288" rIns="18288" bIns="18288">
            <a:spAutoFit/>
          </a:bodyPr>
          <a:lstStyle/>
          <a:p>
            <a:pPr algn="l">
              <a:spcAft>
                <a:spcPts val="500"/>
              </a:spcAft>
              <a:defRPr sz="1350" b="1">
                <a:solidFill>
                  <a:srgbClr val="17263A"/>
                </a:solidFill>
                <a:latin typeface="Arial" panose="020B0604020202020204"/>
              </a:defRPr>
            </a:pPr>
            <a:r>
              <a:rPr sz="1350" b="1">
                <a:solidFill>
                  <a:srgbClr val="17263A"/>
                </a:solidFill>
                <a:latin typeface="Arial" panose="020B0604020202020204"/>
              </a:rPr>
              <a:t>LinearSVC показал лучший F1. ComplementNB α=1,0 выбран по ограничениям на Precision и FPR.</a:t>
            </a:r>
            <a:endParaRPr sz="1350" b="1">
              <a:solidFill>
                <a:srgbClr val="17263A"/>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22936"/>
            <a:ext cx="8339327" cy="521207"/>
          </a:xfrm>
          <a:prstGeom prst="rect">
            <a:avLst/>
          </a:prstGeom>
          <a:noFill/>
        </p:spPr>
        <p:txBody>
          <a:bodyPr wrap="square" lIns="18288" tIns="18288" rIns="18288" bIns="18288">
            <a:spAutoFit/>
          </a:bodyPr>
          <a:lstStyle/>
          <a:p>
            <a:pPr algn="l">
              <a:spcAft>
                <a:spcPts val="500"/>
              </a:spcAft>
              <a:defRPr sz="2600" b="1">
                <a:solidFill>
                  <a:srgbClr val="17263A"/>
                </a:solidFill>
                <a:latin typeface="Arial" panose="020B0604020202020204"/>
              </a:defRPr>
            </a:pPr>
            <a:r>
              <a:rPr sz="2600" b="1">
                <a:solidFill>
                  <a:srgbClr val="17263A"/>
                </a:solidFill>
                <a:latin typeface="Arial" panose="020B0604020202020204"/>
              </a:rPr>
              <a:t>Почему выбран ComplementNB, хотя F1 у SVC выше</a:t>
            </a:r>
            <a:endParaRPr sz="2600" b="1">
              <a:solidFill>
                <a:srgbClr val="17263A"/>
              </a:solidFill>
              <a:latin typeface="Arial" panose="020B0604020202020204"/>
            </a:endParaRPr>
          </a:p>
        </p:txBody>
      </p:sp>
      <p:sp>
        <p:nvSpPr>
          <p:cNvPr id="3" name="Rectangle 2"/>
          <p:cNvSpPr/>
          <p:nvPr/>
        </p:nvSpPr>
        <p:spPr>
          <a:xfrm>
            <a:off x="374523" y="98729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tIns="18288" rIns="18288" bIns="18288">
            <a:spAutoFit/>
          </a:bodyPr>
          <a:lstStyle/>
          <a:p>
            <a:pPr algn="l">
              <a:spcAft>
                <a:spcPts val="500"/>
              </a:spcAft>
              <a:defRPr sz="900" b="0">
                <a:solidFill>
                  <a:srgbClr val="607087"/>
                </a:solidFill>
                <a:latin typeface="Arial" panose="020B0604020202020204"/>
              </a:defRPr>
            </a:pPr>
            <a:r>
              <a:rPr sz="900" b="0">
                <a:solidFill>
                  <a:srgbClr val="607087"/>
                </a:solidFill>
                <a:latin typeface="Arial" panose="020B0604020202020204"/>
              </a:rPr>
              <a:t>МКБ251  •  Городилова И. С.  •  Выбор</a:t>
            </a:r>
            <a:endParaRPr sz="900" b="0">
              <a:solidFill>
                <a:srgbClr val="607087"/>
              </a:solidFill>
              <a:latin typeface="Arial" panose="020B0604020202020204"/>
            </a:endParaRPr>
          </a:p>
        </p:txBody>
      </p:sp>
      <p:sp>
        <p:nvSpPr>
          <p:cNvPr id="5" name="slide_pager"/>
          <p:cNvSpPr txBox="1"/>
          <p:nvPr/>
        </p:nvSpPr>
        <p:spPr>
          <a:xfrm>
            <a:off x="8275320" y="4791456"/>
            <a:ext cx="438912" cy="219456"/>
          </a:xfrm>
          <a:prstGeom prst="rect">
            <a:avLst/>
          </a:prstGeom>
          <a:noFill/>
        </p:spPr>
        <p:txBody>
          <a:bodyPr wrap="square" lIns="18288" tIns="18288" rIns="18288" bIns="18288">
            <a:spAutoFit/>
          </a:bodyPr>
          <a:lstStyle/>
          <a:p>
            <a:pPr algn="r">
              <a:spcAft>
                <a:spcPts val="500"/>
              </a:spcAft>
              <a:defRPr sz="900" b="0">
                <a:solidFill>
                  <a:srgbClr val="607087"/>
                </a:solidFill>
                <a:latin typeface="Arial" panose="020B0604020202020204"/>
              </a:defRPr>
            </a:pPr>
            <a:r>
              <a:t>10 / 23</a:t>
            </a:r>
          </a:p>
        </p:txBody>
      </p:sp>
      <p:sp>
        <p:nvSpPr>
          <p:cNvPr id="6" name="TextBox 5"/>
          <p:cNvSpPr txBox="1"/>
          <p:nvPr/>
        </p:nvSpPr>
        <p:spPr>
          <a:xfrm>
            <a:off x="438912" y="1069848"/>
            <a:ext cx="8174736" cy="731520"/>
          </a:xfrm>
          <a:prstGeom prst="rect">
            <a:avLst/>
          </a:prstGeom>
          <a:noFill/>
        </p:spPr>
        <p:txBody>
          <a:bodyPr wrap="square" lIns="18288" tIns="18288" rIns="18288" bIns="18288">
            <a:spAutoFit/>
          </a:bodyPr>
          <a:lstStyle/>
          <a:p>
            <a:pPr algn="l">
              <a:spcAft>
                <a:spcPts val="500"/>
              </a:spcAft>
              <a:defRPr sz="2300" b="1">
                <a:solidFill>
                  <a:srgbClr val="0066FF"/>
                </a:solidFill>
                <a:latin typeface="Arial" panose="020B0604020202020204"/>
              </a:defRPr>
            </a:pPr>
            <a:r>
              <a:rPr sz="2300" b="1">
                <a:solidFill>
                  <a:srgbClr val="0066FF"/>
                </a:solidFill>
                <a:latin typeface="Arial" panose="020B0604020202020204"/>
              </a:rPr>
              <a:t>Сначала ограничения:</a:t>
            </a:r>
            <a:endParaRPr sz="2300" b="1">
              <a:solidFill>
                <a:srgbClr val="0066FF"/>
              </a:solidFill>
              <a:latin typeface="Arial" panose="020B0604020202020204"/>
            </a:endParaRPr>
          </a:p>
          <a:p>
            <a:pPr algn="l">
              <a:spcAft>
                <a:spcPts val="500"/>
              </a:spcAft>
              <a:defRPr sz="2300" b="1">
                <a:solidFill>
                  <a:srgbClr val="0066FF"/>
                </a:solidFill>
                <a:latin typeface="Arial" panose="020B0604020202020204"/>
              </a:defRPr>
            </a:pPr>
            <a:r>
              <a:rPr sz="2300" b="1">
                <a:solidFill>
                  <a:srgbClr val="0066FF"/>
                </a:solidFill>
                <a:latin typeface="Arial" panose="020B0604020202020204"/>
              </a:rPr>
              <a:t>средний Precision ≥ 99% и FPR ≤ 1%</a:t>
            </a:r>
            <a:endParaRPr sz="2300" b="1">
              <a:solidFill>
                <a:srgbClr val="0066FF"/>
              </a:solidFill>
              <a:latin typeface="Arial" panose="020B0604020202020204"/>
            </a:endParaRPr>
          </a:p>
        </p:txBody>
      </p:sp>
      <p:sp>
        <p:nvSpPr>
          <p:cNvPr id="7" name="TextBox 6"/>
          <p:cNvSpPr txBox="1"/>
          <p:nvPr/>
        </p:nvSpPr>
        <p:spPr>
          <a:xfrm>
            <a:off x="438912" y="2066543"/>
            <a:ext cx="8174736" cy="694944"/>
          </a:xfrm>
          <a:prstGeom prst="rect">
            <a:avLst/>
          </a:prstGeom>
          <a:noFill/>
        </p:spPr>
        <p:txBody>
          <a:bodyPr wrap="square" lIns="18288" tIns="18288" rIns="18288" bIns="18288">
            <a:spAutoFit/>
          </a:bodyPr>
          <a:lstStyle/>
          <a:p>
            <a:pPr algn="l">
              <a:spcAft>
                <a:spcPts val="500"/>
              </a:spcAft>
              <a:defRPr sz="2100" b="1">
                <a:solidFill>
                  <a:srgbClr val="17263A"/>
                </a:solidFill>
                <a:latin typeface="Arial" panose="020B0604020202020204"/>
              </a:defRPr>
            </a:pPr>
            <a:r>
              <a:rPr sz="2100" b="1">
                <a:solidFill>
                  <a:srgbClr val="17263A"/>
                </a:solidFill>
                <a:latin typeface="Arial" panose="020B0604020202020204"/>
              </a:rPr>
              <a:t>Затем — максимальный средний F0.5</a:t>
            </a:r>
            <a:endParaRPr sz="2100" b="1">
              <a:solidFill>
                <a:srgbClr val="17263A"/>
              </a:solidFill>
              <a:latin typeface="Arial" panose="020B0604020202020204"/>
            </a:endParaRPr>
          </a:p>
          <a:p>
            <a:pPr algn="l">
              <a:spcAft>
                <a:spcPts val="500"/>
              </a:spcAft>
              <a:defRPr sz="2100" b="1">
                <a:solidFill>
                  <a:srgbClr val="17263A"/>
                </a:solidFill>
                <a:latin typeface="Arial" panose="020B0604020202020204"/>
              </a:defRPr>
            </a:pPr>
            <a:r>
              <a:rPr sz="2100" b="1">
                <a:solidFill>
                  <a:srgbClr val="17263A"/>
                </a:solidFill>
                <a:latin typeface="Arial" panose="020B0604020202020204"/>
              </a:rPr>
              <a:t>среди допустимых кандидатов.</a:t>
            </a:r>
            <a:endParaRPr sz="2100" b="1">
              <a:solidFill>
                <a:srgbClr val="17263A"/>
              </a:solidFill>
              <a:latin typeface="Arial" panose="020B0604020202020204"/>
            </a:endParaRPr>
          </a:p>
        </p:txBody>
      </p:sp>
      <p:sp>
        <p:nvSpPr>
          <p:cNvPr id="8" name="TextBox 7"/>
          <p:cNvSpPr txBox="1"/>
          <p:nvPr/>
        </p:nvSpPr>
        <p:spPr>
          <a:xfrm>
            <a:off x="438912" y="3081528"/>
            <a:ext cx="8174736" cy="530352"/>
          </a:xfrm>
          <a:prstGeom prst="rect">
            <a:avLst/>
          </a:prstGeom>
          <a:noFill/>
        </p:spPr>
        <p:txBody>
          <a:bodyPr wrap="square" lIns="18288" tIns="18288" rIns="18288" bIns="18288">
            <a:spAutoFit/>
          </a:bodyPr>
          <a:lstStyle/>
          <a:p>
            <a:pPr algn="l">
              <a:spcAft>
                <a:spcPts val="500"/>
              </a:spcAft>
              <a:defRPr sz="1700" b="1">
                <a:solidFill>
                  <a:srgbClr val="118C78"/>
                </a:solidFill>
                <a:latin typeface="Arial" panose="020B0604020202020204"/>
              </a:defRPr>
            </a:pPr>
            <a:r>
              <a:rPr sz="1700" b="1">
                <a:solidFill>
                  <a:srgbClr val="118C78"/>
                </a:solidFill>
                <a:latin typeface="Arial" panose="020B0604020202020204"/>
              </a:rPr>
              <a:t>Победитель: ComplementNB, alpha = 1,0</a:t>
            </a:r>
            <a:endParaRPr sz="1700" b="1">
              <a:solidFill>
                <a:srgbClr val="118C78"/>
              </a:solidFill>
              <a:latin typeface="Arial" panose="020B0604020202020204"/>
            </a:endParaRPr>
          </a:p>
          <a:p>
            <a:pPr algn="l">
              <a:spcAft>
                <a:spcPts val="500"/>
              </a:spcAft>
              <a:defRPr sz="1700" b="1">
                <a:solidFill>
                  <a:srgbClr val="118C78"/>
                </a:solidFill>
                <a:latin typeface="Arial" panose="020B0604020202020204"/>
              </a:defRPr>
            </a:pPr>
            <a:r>
              <a:rPr sz="1700" b="1">
                <a:solidFill>
                  <a:srgbClr val="118C78"/>
                </a:solidFill>
                <a:latin typeface="Arial" panose="020B0604020202020204"/>
              </a:rPr>
              <a:t>F0.5 = 0,9644; повышенный приоритет Precision.</a:t>
            </a:r>
            <a:endParaRPr sz="1700" b="1">
              <a:solidFill>
                <a:srgbClr val="118C78"/>
              </a:solidFill>
              <a:latin typeface="Arial" panose="020B0604020202020204"/>
            </a:endParaRPr>
          </a:p>
        </p:txBody>
      </p:sp>
      <p:sp>
        <p:nvSpPr>
          <p:cNvPr id="9" name="Rounded Rectangle 8"/>
          <p:cNvSpPr/>
          <p:nvPr/>
        </p:nvSpPr>
        <p:spPr>
          <a:xfrm>
            <a:off x="393192" y="4078224"/>
            <a:ext cx="8321040" cy="484632"/>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500"/>
              </a:spcAft>
              <a:defRPr sz="1800" b="0">
                <a:solidFill>
                  <a:srgbClr val="17263A"/>
                </a:solidFill>
                <a:latin typeface="Arial" panose="020B0604020202020204"/>
              </a:defRPr>
            </a:pPr>
          </a:p>
        </p:txBody>
      </p:sp>
      <p:sp>
        <p:nvSpPr>
          <p:cNvPr id="10" name="TextBox 9"/>
          <p:cNvSpPr txBox="1"/>
          <p:nvPr/>
        </p:nvSpPr>
        <p:spPr>
          <a:xfrm>
            <a:off x="530352" y="4160520"/>
            <a:ext cx="8037575" cy="365760"/>
          </a:xfrm>
          <a:prstGeom prst="rect">
            <a:avLst/>
          </a:prstGeom>
          <a:noFill/>
        </p:spPr>
        <p:txBody>
          <a:bodyPr wrap="square" lIns="18288" tIns="18288" rIns="18288" bIns="18288">
            <a:spAutoFit/>
          </a:bodyPr>
          <a:lstStyle/>
          <a:p>
            <a:pPr algn="l">
              <a:spcAft>
                <a:spcPts val="500"/>
              </a:spcAft>
              <a:defRPr sz="1320" b="1">
                <a:solidFill>
                  <a:srgbClr val="0066FF"/>
                </a:solidFill>
                <a:latin typeface="Arial" panose="020B0604020202020204"/>
              </a:defRPr>
            </a:pPr>
            <a:r>
              <a:rPr sz="1320" b="1">
                <a:solidFill>
                  <a:srgbClr val="0066FF"/>
                </a:solidFill>
                <a:latin typeface="Arial" panose="020B0604020202020204"/>
              </a:rPr>
              <a:t>Порог отдельно настроен только победителю. Такой же анализ для всех моделей — следующий шаг.</a:t>
            </a:r>
            <a:endParaRPr sz="1320" b="1">
              <a:solidFill>
                <a:srgbClr val="0066FF"/>
              </a:solidFill>
              <a:latin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41" name="Google Shape;341;p42"/>
          <p:cNvGrpSpPr/>
          <p:nvPr/>
        </p:nvGrpSpPr>
        <p:grpSpPr bwMode="auto">
          <a:xfrm>
            <a:off x="8549243" y="4536459"/>
            <a:ext cx="258577" cy="265368"/>
            <a:chOff x="238125" y="2432825"/>
            <a:chExt cx="779549" cy="781875"/>
          </a:xfrm>
        </p:grpSpPr>
        <p:sp>
          <p:nvSpPr>
            <p:cNvPr id="342" name="Google Shape;342;p42"/>
            <p:cNvSpPr/>
            <p:nvPr/>
          </p:nvSpPr>
          <p:spPr bwMode="auto">
            <a:xfrm>
              <a:off x="238125" y="2842375"/>
              <a:ext cx="372325" cy="372325"/>
            </a:xfrm>
            <a:custGeom>
              <a:avLst/>
              <a:gdLst/>
              <a:ahLst/>
              <a:cxnLst/>
              <a:rect l="l" t="t" r="r" b="b"/>
              <a:pathLst>
                <a:path w="14893" h="14893" extrusionOk="0">
                  <a:moveTo>
                    <a:pt x="8005" y="0"/>
                  </a:moveTo>
                  <a:cubicBezTo>
                    <a:pt x="7819" y="0"/>
                    <a:pt x="7632" y="0"/>
                    <a:pt x="7446" y="0"/>
                  </a:cubicBezTo>
                  <a:cubicBezTo>
                    <a:pt x="3351" y="0"/>
                    <a:pt x="0" y="3258"/>
                    <a:pt x="0" y="7446"/>
                  </a:cubicBezTo>
                  <a:cubicBezTo>
                    <a:pt x="0" y="11542"/>
                    <a:pt x="3351" y="14892"/>
                    <a:pt x="7446" y="14892"/>
                  </a:cubicBezTo>
                  <a:cubicBezTo>
                    <a:pt x="11542" y="14892"/>
                    <a:pt x="14893" y="11542"/>
                    <a:pt x="14893" y="7446"/>
                  </a:cubicBezTo>
                  <a:cubicBezTo>
                    <a:pt x="14893" y="7074"/>
                    <a:pt x="14799" y="6795"/>
                    <a:pt x="14799" y="6515"/>
                  </a:cubicBezTo>
                  <a:cubicBezTo>
                    <a:pt x="11262" y="6236"/>
                    <a:pt x="8470" y="3444"/>
                    <a:pt x="8005" y="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43" name="Google Shape;343;p42"/>
            <p:cNvSpPr/>
            <p:nvPr/>
          </p:nvSpPr>
          <p:spPr bwMode="auto">
            <a:xfrm>
              <a:off x="238125" y="2432825"/>
              <a:ext cx="372325" cy="372325"/>
            </a:xfrm>
            <a:custGeom>
              <a:avLst/>
              <a:gdLst/>
              <a:ahLst/>
              <a:cxnLst/>
              <a:rect l="l" t="t" r="r" b="b"/>
              <a:pathLst>
                <a:path w="14893" h="14893" extrusionOk="0">
                  <a:moveTo>
                    <a:pt x="14893" y="7447"/>
                  </a:moveTo>
                  <a:cubicBezTo>
                    <a:pt x="14893" y="3351"/>
                    <a:pt x="11542" y="0"/>
                    <a:pt x="7446" y="0"/>
                  </a:cubicBezTo>
                  <a:cubicBezTo>
                    <a:pt x="3351" y="0"/>
                    <a:pt x="0" y="3351"/>
                    <a:pt x="0" y="7447"/>
                  </a:cubicBezTo>
                  <a:cubicBezTo>
                    <a:pt x="0" y="11542"/>
                    <a:pt x="3351" y="14893"/>
                    <a:pt x="7446" y="14893"/>
                  </a:cubicBezTo>
                  <a:cubicBezTo>
                    <a:pt x="7632" y="14893"/>
                    <a:pt x="7819" y="14893"/>
                    <a:pt x="8005" y="14893"/>
                  </a:cubicBezTo>
                  <a:cubicBezTo>
                    <a:pt x="8284" y="11170"/>
                    <a:pt x="11169" y="8284"/>
                    <a:pt x="14799" y="8005"/>
                  </a:cubicBezTo>
                  <a:cubicBezTo>
                    <a:pt x="14799" y="7819"/>
                    <a:pt x="14893" y="7633"/>
                    <a:pt x="14893" y="7447"/>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44" name="Google Shape;344;p42"/>
            <p:cNvSpPr/>
            <p:nvPr/>
          </p:nvSpPr>
          <p:spPr bwMode="auto">
            <a:xfrm>
              <a:off x="645325" y="2432825"/>
              <a:ext cx="372350" cy="372325"/>
            </a:xfrm>
            <a:custGeom>
              <a:avLst/>
              <a:gdLst/>
              <a:ahLst/>
              <a:cxnLst/>
              <a:rect l="l" t="t" r="r" b="b"/>
              <a:pathLst>
                <a:path w="14894" h="14893" extrusionOk="0">
                  <a:moveTo>
                    <a:pt x="6516" y="14800"/>
                  </a:moveTo>
                  <a:cubicBezTo>
                    <a:pt x="6795" y="14893"/>
                    <a:pt x="7075" y="14893"/>
                    <a:pt x="7447" y="14893"/>
                  </a:cubicBezTo>
                  <a:cubicBezTo>
                    <a:pt x="11542" y="14893"/>
                    <a:pt x="14893" y="11542"/>
                    <a:pt x="14893" y="7447"/>
                  </a:cubicBezTo>
                  <a:cubicBezTo>
                    <a:pt x="14893" y="3351"/>
                    <a:pt x="11542" y="0"/>
                    <a:pt x="7447" y="0"/>
                  </a:cubicBezTo>
                  <a:cubicBezTo>
                    <a:pt x="3351" y="0"/>
                    <a:pt x="1" y="3351"/>
                    <a:pt x="1" y="7447"/>
                  </a:cubicBezTo>
                  <a:cubicBezTo>
                    <a:pt x="1" y="7633"/>
                    <a:pt x="1" y="7819"/>
                    <a:pt x="1" y="8005"/>
                  </a:cubicBezTo>
                  <a:cubicBezTo>
                    <a:pt x="3538" y="8470"/>
                    <a:pt x="6237" y="11263"/>
                    <a:pt x="6516" y="14800"/>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sp>
          <p:nvSpPr>
            <p:cNvPr id="345" name="Google Shape;345;p42"/>
            <p:cNvSpPr/>
            <p:nvPr/>
          </p:nvSpPr>
          <p:spPr bwMode="auto">
            <a:xfrm>
              <a:off x="645325" y="2842375"/>
              <a:ext cx="372350" cy="372325"/>
            </a:xfrm>
            <a:custGeom>
              <a:avLst/>
              <a:gdLst/>
              <a:ahLst/>
              <a:cxnLst/>
              <a:rect l="l" t="t" r="r" b="b"/>
              <a:pathLst>
                <a:path w="14894" h="14893" extrusionOk="0">
                  <a:moveTo>
                    <a:pt x="94" y="6422"/>
                  </a:moveTo>
                  <a:cubicBezTo>
                    <a:pt x="1" y="6795"/>
                    <a:pt x="1" y="7074"/>
                    <a:pt x="1" y="7446"/>
                  </a:cubicBezTo>
                  <a:cubicBezTo>
                    <a:pt x="1" y="11542"/>
                    <a:pt x="3351" y="14892"/>
                    <a:pt x="7447" y="14892"/>
                  </a:cubicBezTo>
                  <a:cubicBezTo>
                    <a:pt x="11542" y="14892"/>
                    <a:pt x="14893" y="11542"/>
                    <a:pt x="14893" y="7446"/>
                  </a:cubicBezTo>
                  <a:cubicBezTo>
                    <a:pt x="14893" y="3258"/>
                    <a:pt x="11542" y="0"/>
                    <a:pt x="7447" y="0"/>
                  </a:cubicBezTo>
                  <a:cubicBezTo>
                    <a:pt x="7075" y="0"/>
                    <a:pt x="6795" y="0"/>
                    <a:pt x="6423" y="0"/>
                  </a:cubicBezTo>
                  <a:cubicBezTo>
                    <a:pt x="6051" y="3351"/>
                    <a:pt x="3351" y="6050"/>
                    <a:pt x="94" y="6422"/>
                  </a:cubicBezTo>
                  <a:close/>
                </a:path>
              </a:pathLst>
            </a:custGeom>
            <a:solidFill>
              <a:srgbClr val="F3F4F7"/>
            </a:solidFill>
            <a:ln>
              <a:noFill/>
            </a:ln>
          </p:spPr>
          <p:txBody>
            <a:bodyPr spcFirstLastPara="1" wrap="square" lIns="45725" tIns="45725" rIns="45725" bIns="45725" anchor="ctr" anchorCtr="0">
              <a:noAutofit/>
            </a:bodyPr>
            <a:lstStyle/>
            <a:p>
              <a:pPr marL="0" marR="0" lvl="0" indent="0" algn="l">
                <a:lnSpc>
                  <a:spcPct val="100000"/>
                </a:lnSpc>
                <a:spcBef>
                  <a:spcPts val="0"/>
                </a:spcBef>
                <a:spcAft>
                  <a:spcPts val="0"/>
                </a:spcAft>
                <a:buClr>
                  <a:srgbClr val="000000"/>
                </a:buClr>
                <a:buSzPts val="700"/>
                <a:buFont typeface="Arial" panose="020B0604020202020204"/>
                <a:buNone/>
                <a:defRPr/>
              </a:pPr>
              <a:endParaRPr sz="700" b="0" i="0" u="none" strike="noStrike" cap="none">
                <a:solidFill>
                  <a:srgbClr val="000000"/>
                </a:solidFill>
                <a:latin typeface="Arial" panose="020B0604020202020204"/>
                <a:ea typeface="Arial" panose="020B0604020202020204"/>
                <a:cs typeface="Arial" panose="020B0604020202020204"/>
              </a:endParaRPr>
            </a:p>
          </p:txBody>
        </p:sp>
      </p:grpSp>
      <p:sp>
        <p:nvSpPr>
          <p:cNvPr id="346" name="Google Shape;346;p42"/>
          <p:cNvSpPr txBox="1"/>
          <p:nvPr/>
        </p:nvSpPr>
        <p:spPr bwMode="auto">
          <a:xfrm>
            <a:off x="319074" y="294016"/>
            <a:ext cx="8566500" cy="1623300"/>
          </a:xfrm>
          <a:prstGeom prst="rect">
            <a:avLst/>
          </a:prstGeom>
          <a:noFill/>
          <a:ln>
            <a:noFill/>
          </a:ln>
        </p:spPr>
        <p:txBody>
          <a:bodyPr spcFirstLastPara="1" wrap="square" lIns="0" tIns="0" rIns="0" bIns="0" anchor="t" anchorCtr="0">
            <a:spAutoFit/>
          </a:bodyPr>
          <a:lstStyle/>
          <a:p>
            <a:pPr marL="0" marR="0" lvl="0" indent="0" algn="l">
              <a:lnSpc>
                <a:spcPct val="80000"/>
              </a:lnSpc>
              <a:spcBef>
                <a:spcPts val="0"/>
              </a:spcBef>
              <a:spcAft>
                <a:spcPts val="0"/>
              </a:spcAft>
              <a:buClr>
                <a:schemeClr val="dk1"/>
              </a:buClr>
              <a:buSzPts val="4800"/>
              <a:buFont typeface="Arial" panose="020B0604020202020204"/>
              <a:buNone/>
              <a:defRPr/>
            </a:pPr>
            <a:r>
              <a:rPr lang="en-US" sz="4800" b="1">
                <a:solidFill>
                  <a:schemeClr val="lt1"/>
                </a:solidFill>
                <a:latin typeface="Proxima Nova"/>
                <a:ea typeface="Proxima Nova"/>
                <a:cs typeface="Proxima Nova"/>
              </a:rPr>
              <a:t>Спасибо за внимание!</a:t>
            </a:r>
            <a:endParaRPr sz="4800" b="1">
              <a:solidFill>
                <a:schemeClr val="lt1"/>
              </a:solidFill>
              <a:latin typeface="Proxima Nova"/>
              <a:ea typeface="Proxima Nova"/>
              <a:cs typeface="Proxima Nova"/>
            </a:endParaRPr>
          </a:p>
          <a:p>
            <a:pPr marL="0" marR="0" lvl="0" indent="0" algn="l">
              <a:lnSpc>
                <a:spcPct val="80000"/>
              </a:lnSpc>
              <a:spcBef>
                <a:spcPts val="0"/>
              </a:spcBef>
              <a:spcAft>
                <a:spcPts val="0"/>
              </a:spcAft>
              <a:buClr>
                <a:schemeClr val="dk1"/>
              </a:buClr>
              <a:buSzPts val="4800"/>
              <a:buFont typeface="Arial" panose="020B0604020202020204"/>
              <a:buNone/>
              <a:defRPr/>
            </a:pPr>
            <a:endParaRPr sz="4800" b="1">
              <a:solidFill>
                <a:schemeClr val="lt1"/>
              </a:solidFill>
              <a:latin typeface="Proxima Nova"/>
              <a:ea typeface="Proxima Nova"/>
              <a:cs typeface="Proxima Nova"/>
            </a:endParaRPr>
          </a:p>
          <a:p>
            <a:pPr marL="38100" marR="0" lvl="0" indent="0" algn="l">
              <a:lnSpc>
                <a:spcPct val="80000"/>
              </a:lnSpc>
              <a:spcBef>
                <a:spcPts val="2000"/>
              </a:spcBef>
              <a:spcAft>
                <a:spcPts val="0"/>
              </a:spcAft>
              <a:buClr>
                <a:schemeClr val="dk1"/>
              </a:buClr>
              <a:buSzPts val="600"/>
              <a:buFont typeface="Arial" panose="020B0604020202020204"/>
              <a:buNone/>
              <a:defRPr/>
            </a:pPr>
            <a:endParaRPr sz="1500" b="0" i="0" u="none" strike="noStrike" cap="none">
              <a:solidFill>
                <a:schemeClr val="lt1"/>
              </a:solidFill>
              <a:latin typeface="Proxima Nova"/>
              <a:ea typeface="Proxima Nova"/>
              <a:cs typeface="Proxima Nova"/>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Строгий порог: меньше FP ценой полноты</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rIns="18288" tIns="18288" bIns="18288">
            <a:spAutoFit/>
          </a:bodyPr>
          <a:lstStyle/>
          <a:p>
            <a:pPr algn="l">
              <a:spcAft>
                <a:spcPts val="500"/>
              </a:spcAft>
              <a:defRPr sz="1250" b="0">
                <a:solidFill>
                  <a:srgbClr val="607087"/>
                </a:solidFill>
                <a:latin typeface="Arial"/>
              </a:defRPr>
            </a:pPr>
            <a:r>
              <a:rPr sz="1250" b="0">
                <a:solidFill>
                  <a:srgbClr val="607087"/>
                </a:solidFill>
                <a:latin typeface="Arial"/>
              </a:rPr>
              <a:t>Порог подбирался только на validation; модель после этого не переобучалась.</a:t>
            </a:r>
          </a:p>
        </p:txBody>
      </p:sp>
      <p:sp>
        <p:nvSpPr>
          <p:cNvPr id="5" name="TextBox 4"/>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Порог</a:t>
            </a:r>
          </a:p>
        </p:txBody>
      </p:sp>
      <p:sp>
        <p:nvSpPr>
          <p:cNvPr id="6"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12 / 23</a:t>
            </a:r>
          </a:p>
        </p:txBody>
      </p:sp>
      <p:graphicFrame>
        <p:nvGraphicFramePr>
          <p:cNvPr id="7" name="Table 6"/>
          <p:cNvGraphicFramePr>
            <a:graphicFrameLocks noGrp="1"/>
          </p:cNvGraphicFramePr>
          <p:nvPr/>
        </p:nvGraphicFramePr>
        <p:xfrm>
          <a:off x="393192" y="1426464"/>
          <a:ext cx="8321039" cy="1673352"/>
        </p:xfrm>
        <a:graphic>
          <a:graphicData uri="http://schemas.openxmlformats.org/drawingml/2006/table">
            <a:tbl>
              <a:tblPr firstRow="1" bandRow="1">
                <a:tableStyleId>{5C22544A-7EE6-4342-B048-85BDC9FD1C3A}</a:tableStyleId>
              </a:tblPr>
              <a:tblGrid>
                <a:gridCol w="1499722"/>
                <a:gridCol w="1789991"/>
                <a:gridCol w="1789991"/>
                <a:gridCol w="1789991"/>
                <a:gridCol w="1451344"/>
              </a:tblGrid>
              <a:tr h="557784">
                <a:tc>
                  <a:txBody>
                    <a:bodyPr/>
                    <a:lstStyle/>
                    <a:p>
                      <a:pPr>
                        <a:spcAft>
                          <a:spcPts val="0"/>
                        </a:spcAft>
                        <a:defRPr sz="1700" b="1">
                          <a:solidFill>
                            <a:srgbClr val="FFFFFF"/>
                          </a:solidFill>
                          <a:latin typeface="Arial"/>
                        </a:defRPr>
                      </a:pPr>
                      <a:r>
                        <a:rPr sz="1700" b="1">
                          <a:solidFill>
                            <a:srgbClr val="FFFFFF"/>
                          </a:solidFill>
                          <a:latin typeface="Arial"/>
                        </a:rPr>
                        <a:t>Порог</a:t>
                      </a:r>
                    </a:p>
                  </a:txBody>
                  <a:tcPr marL="91440" marR="64008" marT="59436" marB="32004" anchor="ctr">
                    <a:solidFill>
                      <a:srgbClr val="0066FF"/>
                    </a:solidFill>
                  </a:tcPr>
                </a:tc>
                <a:tc>
                  <a:txBody>
                    <a:bodyPr/>
                    <a:lstStyle/>
                    <a:p>
                      <a:pPr algn="ctr">
                        <a:spcAft>
                          <a:spcPts val="0"/>
                        </a:spcAft>
                        <a:defRPr sz="1700" b="1">
                          <a:solidFill>
                            <a:srgbClr val="FFFFFF"/>
                          </a:solidFill>
                          <a:latin typeface="Arial"/>
                        </a:defRPr>
                      </a:pPr>
                      <a:r>
                        <a:rPr sz="1700" b="1">
                          <a:solidFill>
                            <a:srgbClr val="FFFFFF"/>
                          </a:solidFill>
                          <a:latin typeface="Arial"/>
                        </a:rPr>
                        <a:t>Precision</a:t>
                      </a:r>
                    </a:p>
                  </a:txBody>
                  <a:tcPr marL="91440" marR="64008" marT="59436" marB="32004" anchor="ctr">
                    <a:solidFill>
                      <a:srgbClr val="0066FF"/>
                    </a:solidFill>
                  </a:tcPr>
                </a:tc>
                <a:tc>
                  <a:txBody>
                    <a:bodyPr/>
                    <a:lstStyle/>
                    <a:p>
                      <a:pPr algn="ctr">
                        <a:spcAft>
                          <a:spcPts val="0"/>
                        </a:spcAft>
                        <a:defRPr sz="1700" b="1">
                          <a:solidFill>
                            <a:srgbClr val="FFFFFF"/>
                          </a:solidFill>
                          <a:latin typeface="Arial"/>
                        </a:defRPr>
                      </a:pPr>
                      <a:r>
                        <a:rPr sz="1700" b="1">
                          <a:solidFill>
                            <a:srgbClr val="FFFFFF"/>
                          </a:solidFill>
                          <a:latin typeface="Arial"/>
                        </a:rPr>
                        <a:t>Recall</a:t>
                      </a:r>
                    </a:p>
                  </a:txBody>
                  <a:tcPr marL="91440" marR="64008" marT="59436" marB="32004" anchor="ctr">
                    <a:solidFill>
                      <a:srgbClr val="0066FF"/>
                    </a:solidFill>
                  </a:tcPr>
                </a:tc>
                <a:tc>
                  <a:txBody>
                    <a:bodyPr/>
                    <a:lstStyle/>
                    <a:p>
                      <a:pPr algn="ctr">
                        <a:spcAft>
                          <a:spcPts val="0"/>
                        </a:spcAft>
                        <a:defRPr sz="1700" b="1">
                          <a:solidFill>
                            <a:srgbClr val="FFFFFF"/>
                          </a:solidFill>
                          <a:latin typeface="Arial"/>
                        </a:defRPr>
                      </a:pPr>
                      <a:r>
                        <a:rPr sz="1700" b="1">
                          <a:solidFill>
                            <a:srgbClr val="FFFFFF"/>
                          </a:solidFill>
                          <a:latin typeface="Arial"/>
                        </a:rPr>
                        <a:t>F1</a:t>
                      </a:r>
                    </a:p>
                  </a:txBody>
                  <a:tcPr marL="91440" marR="64008" marT="59436" marB="32004" anchor="ctr">
                    <a:solidFill>
                      <a:srgbClr val="0066FF"/>
                    </a:solidFill>
                  </a:tcPr>
                </a:tc>
                <a:tc>
                  <a:txBody>
                    <a:bodyPr/>
                    <a:lstStyle/>
                    <a:p>
                      <a:pPr algn="ctr">
                        <a:spcAft>
                          <a:spcPts val="0"/>
                        </a:spcAft>
                        <a:defRPr sz="1700" b="1">
                          <a:solidFill>
                            <a:srgbClr val="FFFFFF"/>
                          </a:solidFill>
                          <a:latin typeface="Arial"/>
                        </a:defRPr>
                      </a:pPr>
                      <a:r>
                        <a:rPr sz="1700" b="1">
                          <a:solidFill>
                            <a:srgbClr val="FFFFFF"/>
                          </a:solidFill>
                          <a:latin typeface="Arial"/>
                        </a:rPr>
                        <a:t>FP</a:t>
                      </a:r>
                    </a:p>
                  </a:txBody>
                  <a:tcPr marL="91440" marR="64008" marT="59436" marB="32004" anchor="ctr">
                    <a:solidFill>
                      <a:srgbClr val="0066FF"/>
                    </a:solidFill>
                  </a:tcPr>
                </a:tc>
              </a:tr>
              <a:tr h="557784">
                <a:tc>
                  <a:txBody>
                    <a:bodyPr/>
                    <a:lstStyle/>
                    <a:p>
                      <a:pPr>
                        <a:spcAft>
                          <a:spcPts val="0"/>
                        </a:spcAft>
                        <a:defRPr sz="1700" b="0">
                          <a:solidFill>
                            <a:srgbClr val="17263A"/>
                          </a:solidFill>
                          <a:latin typeface="Arial"/>
                        </a:defRPr>
                      </a:pPr>
                      <a:r>
                        <a:rPr sz="1700" b="0">
                          <a:solidFill>
                            <a:srgbClr val="17263A"/>
                          </a:solidFill>
                          <a:latin typeface="Arial"/>
                        </a:rPr>
                        <a:t>0,5</a:t>
                      </a:r>
                    </a:p>
                  </a:txBody>
                  <a:tcPr marL="91440" marR="64008" marT="59436" marB="32004" anchor="ctr">
                    <a:solidFill>
                      <a:srgbClr val="F3F6FB"/>
                    </a:solidFill>
                  </a:tcPr>
                </a:tc>
                <a:tc>
                  <a:txBody>
                    <a:bodyPr/>
                    <a:lstStyle/>
                    <a:p>
                      <a:pPr algn="ctr">
                        <a:spcAft>
                          <a:spcPts val="0"/>
                        </a:spcAft>
                        <a:defRPr sz="1700" b="0">
                          <a:solidFill>
                            <a:srgbClr val="17263A"/>
                          </a:solidFill>
                          <a:latin typeface="Arial"/>
                        </a:defRPr>
                      </a:pPr>
                      <a:r>
                        <a:rPr sz="1700" b="0">
                          <a:solidFill>
                            <a:srgbClr val="17263A"/>
                          </a:solidFill>
                          <a:latin typeface="Arial"/>
                        </a:rPr>
                        <a:t>97,90%</a:t>
                      </a:r>
                    </a:p>
                  </a:txBody>
                  <a:tcPr marL="91440" marR="64008" marT="59436" marB="32004" anchor="ctr">
                    <a:solidFill>
                      <a:srgbClr val="F3F6FB"/>
                    </a:solidFill>
                  </a:tcPr>
                </a:tc>
                <a:tc>
                  <a:txBody>
                    <a:bodyPr/>
                    <a:lstStyle/>
                    <a:p>
                      <a:pPr algn="ctr">
                        <a:spcAft>
                          <a:spcPts val="0"/>
                        </a:spcAft>
                        <a:defRPr sz="1700" b="0">
                          <a:solidFill>
                            <a:srgbClr val="17263A"/>
                          </a:solidFill>
                          <a:latin typeface="Arial"/>
                        </a:defRPr>
                      </a:pPr>
                      <a:r>
                        <a:rPr sz="1700" b="0">
                          <a:solidFill>
                            <a:srgbClr val="17263A"/>
                          </a:solidFill>
                          <a:latin typeface="Arial"/>
                        </a:rPr>
                        <a:t>85,37%</a:t>
                      </a:r>
                    </a:p>
                  </a:txBody>
                  <a:tcPr marL="91440" marR="64008" marT="59436" marB="32004" anchor="ctr">
                    <a:solidFill>
                      <a:srgbClr val="F3F6FB"/>
                    </a:solidFill>
                  </a:tcPr>
                </a:tc>
                <a:tc>
                  <a:txBody>
                    <a:bodyPr/>
                    <a:lstStyle/>
                    <a:p>
                      <a:pPr algn="ctr">
                        <a:spcAft>
                          <a:spcPts val="0"/>
                        </a:spcAft>
                        <a:defRPr sz="1700" b="0">
                          <a:solidFill>
                            <a:srgbClr val="17263A"/>
                          </a:solidFill>
                          <a:latin typeface="Arial"/>
                        </a:defRPr>
                      </a:pPr>
                      <a:r>
                        <a:rPr sz="1700" b="0">
                          <a:solidFill>
                            <a:srgbClr val="17263A"/>
                          </a:solidFill>
                          <a:latin typeface="Arial"/>
                        </a:rPr>
                        <a:t>0,9121</a:t>
                      </a:r>
                    </a:p>
                  </a:txBody>
                  <a:tcPr marL="91440" marR="64008" marT="59436" marB="32004" anchor="ctr">
                    <a:solidFill>
                      <a:srgbClr val="F3F6FB"/>
                    </a:solidFill>
                  </a:tcPr>
                </a:tc>
                <a:tc>
                  <a:txBody>
                    <a:bodyPr/>
                    <a:lstStyle/>
                    <a:p>
                      <a:pPr algn="ctr">
                        <a:spcAft>
                          <a:spcPts val="0"/>
                        </a:spcAft>
                        <a:defRPr sz="1700" b="0">
                          <a:solidFill>
                            <a:srgbClr val="17263A"/>
                          </a:solidFill>
                          <a:latin typeface="Arial"/>
                        </a:defRPr>
                      </a:pPr>
                      <a:r>
                        <a:rPr sz="1700" b="0">
                          <a:solidFill>
                            <a:srgbClr val="17263A"/>
                          </a:solidFill>
                          <a:latin typeface="Arial"/>
                        </a:rPr>
                        <a:t>3</a:t>
                      </a:r>
                    </a:p>
                  </a:txBody>
                  <a:tcPr marL="91440" marR="64008" marT="59436" marB="32004" anchor="ctr">
                    <a:solidFill>
                      <a:srgbClr val="F3F6FB"/>
                    </a:solidFill>
                  </a:tcPr>
                </a:tc>
              </a:tr>
              <a:tr h="557784">
                <a:tc>
                  <a:txBody>
                    <a:bodyPr/>
                    <a:lstStyle/>
                    <a:p>
                      <a:pPr>
                        <a:spcAft>
                          <a:spcPts val="0"/>
                        </a:spcAft>
                        <a:defRPr sz="1700" b="1">
                          <a:solidFill>
                            <a:srgbClr val="17263A"/>
                          </a:solidFill>
                          <a:latin typeface="Arial"/>
                        </a:defRPr>
                      </a:pPr>
                      <a:r>
                        <a:rPr sz="1700" b="1">
                          <a:solidFill>
                            <a:srgbClr val="17263A"/>
                          </a:solidFill>
                          <a:latin typeface="Arial"/>
                        </a:rPr>
                        <a:t>0,862981</a:t>
                      </a:r>
                    </a:p>
                  </a:txBody>
                  <a:tcPr marL="91440" marR="64008" marT="59436" marB="32004" anchor="ctr">
                    <a:solidFill>
                      <a:srgbClr val="E9F6F0"/>
                    </a:solidFill>
                  </a:tcPr>
                </a:tc>
                <a:tc>
                  <a:txBody>
                    <a:bodyPr/>
                    <a:lstStyle/>
                    <a:p>
                      <a:pPr algn="ctr">
                        <a:spcAft>
                          <a:spcPts val="0"/>
                        </a:spcAft>
                        <a:defRPr sz="1700" b="1">
                          <a:solidFill>
                            <a:srgbClr val="17263A"/>
                          </a:solidFill>
                          <a:latin typeface="Arial"/>
                        </a:defRPr>
                      </a:pPr>
                      <a:r>
                        <a:rPr sz="1700" b="1">
                          <a:solidFill>
                            <a:srgbClr val="17263A"/>
                          </a:solidFill>
                          <a:latin typeface="Arial"/>
                        </a:rPr>
                        <a:t>100%</a:t>
                      </a:r>
                    </a:p>
                  </a:txBody>
                  <a:tcPr marL="91440" marR="64008" marT="59436" marB="32004" anchor="ctr">
                    <a:solidFill>
                      <a:srgbClr val="E9F6F0"/>
                    </a:solidFill>
                  </a:tcPr>
                </a:tc>
                <a:tc>
                  <a:txBody>
                    <a:bodyPr/>
                    <a:lstStyle/>
                    <a:p>
                      <a:pPr algn="ctr">
                        <a:spcAft>
                          <a:spcPts val="0"/>
                        </a:spcAft>
                        <a:defRPr sz="1700" b="1">
                          <a:solidFill>
                            <a:srgbClr val="17263A"/>
                          </a:solidFill>
                          <a:latin typeface="Arial"/>
                        </a:defRPr>
                      </a:pPr>
                      <a:r>
                        <a:rPr sz="1700" b="1">
                          <a:solidFill>
                            <a:srgbClr val="17263A"/>
                          </a:solidFill>
                          <a:latin typeface="Arial"/>
                        </a:rPr>
                        <a:t>61,59%</a:t>
                      </a:r>
                    </a:p>
                  </a:txBody>
                  <a:tcPr marL="91440" marR="64008" marT="59436" marB="32004" anchor="ctr">
                    <a:solidFill>
                      <a:srgbClr val="E9F6F0"/>
                    </a:solidFill>
                  </a:tcPr>
                </a:tc>
                <a:tc>
                  <a:txBody>
                    <a:bodyPr/>
                    <a:lstStyle/>
                    <a:p>
                      <a:pPr algn="ctr">
                        <a:spcAft>
                          <a:spcPts val="0"/>
                        </a:spcAft>
                        <a:defRPr sz="1700" b="1">
                          <a:solidFill>
                            <a:srgbClr val="17263A"/>
                          </a:solidFill>
                          <a:latin typeface="Arial"/>
                        </a:defRPr>
                      </a:pPr>
                      <a:r>
                        <a:rPr sz="1700" b="1">
                          <a:solidFill>
                            <a:srgbClr val="17263A"/>
                          </a:solidFill>
                          <a:latin typeface="Arial"/>
                        </a:rPr>
                        <a:t>0,7623</a:t>
                      </a:r>
                    </a:p>
                  </a:txBody>
                  <a:tcPr marL="91440" marR="64008" marT="59436" marB="32004" anchor="ctr">
                    <a:solidFill>
                      <a:srgbClr val="E9F6F0"/>
                    </a:solidFill>
                  </a:tcPr>
                </a:tc>
                <a:tc>
                  <a:txBody>
                    <a:bodyPr/>
                    <a:lstStyle/>
                    <a:p>
                      <a:pPr algn="ctr">
                        <a:spcAft>
                          <a:spcPts val="0"/>
                        </a:spcAft>
                        <a:defRPr sz="1700" b="1">
                          <a:solidFill>
                            <a:srgbClr val="17263A"/>
                          </a:solidFill>
                          <a:latin typeface="Arial"/>
                        </a:defRPr>
                      </a:pPr>
                      <a:r>
                        <a:rPr sz="1700" b="1">
                          <a:solidFill>
                            <a:srgbClr val="17263A"/>
                          </a:solidFill>
                          <a:latin typeface="Arial"/>
                        </a:rPr>
                        <a:t>0</a:t>
                      </a:r>
                    </a:p>
                  </a:txBody>
                  <a:tcPr marL="91440" marR="64008" marT="59436" marB="32004" anchor="ctr">
                    <a:solidFill>
                      <a:srgbClr val="E9F6F0"/>
                    </a:solidFill>
                  </a:tcPr>
                </a:tc>
              </a:tr>
            </a:tbl>
          </a:graphicData>
        </a:graphic>
      </p:graphicFrame>
      <p:sp>
        <p:nvSpPr>
          <p:cNvPr id="8" name="TextBox 7"/>
          <p:cNvSpPr txBox="1"/>
          <p:nvPr/>
        </p:nvSpPr>
        <p:spPr>
          <a:xfrm>
            <a:off x="457200" y="3401568"/>
            <a:ext cx="8174736" cy="667512"/>
          </a:xfrm>
          <a:prstGeom prst="rect">
            <a:avLst/>
          </a:prstGeom>
          <a:noFill/>
        </p:spPr>
        <p:txBody>
          <a:bodyPr wrap="square" lIns="18288" rIns="18288" tIns="18288" bIns="18288">
            <a:spAutoFit/>
          </a:bodyPr>
          <a:lstStyle/>
          <a:p>
            <a:pPr algn="l">
              <a:spcAft>
                <a:spcPts val="500"/>
              </a:spcAft>
              <a:defRPr sz="1800" b="1">
                <a:solidFill>
                  <a:srgbClr val="17263A"/>
                </a:solidFill>
                <a:latin typeface="Arial"/>
              </a:defRPr>
            </a:pPr>
            <a:r>
              <a:rPr sz="1800" b="1">
                <a:solidFill>
                  <a:srgbClr val="17263A"/>
                </a:solidFill>
                <a:latin typeface="Arial"/>
              </a:rPr>
              <a:t>Среди порогов с Precision ≥ 99%, FPR ≤ 1% и TP &gt; 0:</a:t>
            </a:r>
          </a:p>
          <a:p>
            <a:pPr algn="l">
              <a:spcAft>
                <a:spcPts val="500"/>
              </a:spcAft>
              <a:defRPr sz="1800" b="1">
                <a:solidFill>
                  <a:srgbClr val="17263A"/>
                </a:solidFill>
                <a:latin typeface="Arial"/>
              </a:defRPr>
            </a:pPr>
            <a:r>
              <a:rPr sz="1800" b="1">
                <a:solidFill>
                  <a:srgbClr val="17263A"/>
                </a:solidFill>
                <a:latin typeface="Arial"/>
              </a:rPr>
              <a:t>сначала минимум FP, затем максимум Recall.</a:t>
            </a:r>
          </a:p>
        </p:txBody>
      </p:sp>
      <p:sp>
        <p:nvSpPr>
          <p:cNvPr id="9" name="TextBox 8"/>
          <p:cNvSpPr txBox="1"/>
          <p:nvPr/>
        </p:nvSpPr>
        <p:spPr>
          <a:xfrm>
            <a:off x="448056" y="4315968"/>
            <a:ext cx="8183879" cy="246888"/>
          </a:xfrm>
          <a:prstGeom prst="rect">
            <a:avLst/>
          </a:prstGeom>
          <a:noFill/>
        </p:spPr>
        <p:txBody>
          <a:bodyPr wrap="square" lIns="18288" rIns="18288" tIns="18288" bIns="18288">
            <a:spAutoFit/>
          </a:bodyPr>
          <a:lstStyle/>
          <a:p>
            <a:pPr algn="l">
              <a:spcAft>
                <a:spcPts val="500"/>
              </a:spcAft>
              <a:defRPr sz="1180" b="0">
                <a:solidFill>
                  <a:srgbClr val="607087"/>
                </a:solidFill>
                <a:latin typeface="Arial"/>
              </a:defRPr>
            </a:pPr>
            <a:r>
              <a:rPr sz="1180" b="0">
                <a:solidFill>
                  <a:srgbClr val="607087"/>
                </a:solidFill>
                <a:latin typeface="Arial"/>
              </a:rPr>
              <a:t>Числа 99% и 1% — выбранные требования эксперимента, а не гарантии эксплуатации.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Тестирование: показываем обе политики</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rIns="18288" tIns="18288" bIns="18288">
            <a:spAutoFit/>
          </a:bodyPr>
          <a:lstStyle/>
          <a:p>
            <a:pPr algn="l">
              <a:spcAft>
                <a:spcPts val="500"/>
              </a:spcAft>
              <a:defRPr sz="1250" b="0">
                <a:solidFill>
                  <a:srgbClr val="607087"/>
                </a:solidFill>
                <a:latin typeface="Arial"/>
              </a:defRPr>
            </a:pPr>
            <a:r>
              <a:rPr sz="1250" b="0">
                <a:solidFill>
                  <a:srgbClr val="607087"/>
                </a:solidFill>
                <a:latin typeface="Arial"/>
              </a:rPr>
              <a:t>Внешний контроль — полный набор из задания, все 1600 писем.</a:t>
            </a:r>
          </a:p>
        </p:txBody>
      </p:sp>
      <p:sp>
        <p:nvSpPr>
          <p:cNvPr id="5" name="TextBox 4"/>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Результаты</a:t>
            </a:r>
          </a:p>
        </p:txBody>
      </p:sp>
      <p:sp>
        <p:nvSpPr>
          <p:cNvPr id="6"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13 / 23</a:t>
            </a:r>
          </a:p>
        </p:txBody>
      </p:sp>
      <p:graphicFrame>
        <p:nvGraphicFramePr>
          <p:cNvPr id="7" name="Table 6"/>
          <p:cNvGraphicFramePr>
            <a:graphicFrameLocks noGrp="1"/>
          </p:cNvGraphicFramePr>
          <p:nvPr/>
        </p:nvGraphicFramePr>
        <p:xfrm>
          <a:off x="393192" y="1380744"/>
          <a:ext cx="8321040" cy="2423160"/>
        </p:xfrm>
        <a:graphic>
          <a:graphicData uri="http://schemas.openxmlformats.org/drawingml/2006/table">
            <a:tbl>
              <a:tblPr firstRow="1" bandRow="1">
                <a:tableStyleId>{5C22544A-7EE6-4342-B048-85BDC9FD1C3A}</a:tableStyleId>
              </a:tblPr>
              <a:tblGrid>
                <a:gridCol w="2880360"/>
                <a:gridCol w="1371600"/>
                <a:gridCol w="1371600"/>
                <a:gridCol w="1188720"/>
                <a:gridCol w="731520"/>
                <a:gridCol w="777240"/>
              </a:tblGrid>
              <a:tr h="484632">
                <a:tc>
                  <a:txBody>
                    <a:bodyPr/>
                    <a:lstStyle/>
                    <a:p>
                      <a:pPr>
                        <a:spcAft>
                          <a:spcPts val="0"/>
                        </a:spcAft>
                        <a:defRPr sz="1370" b="1">
                          <a:solidFill>
                            <a:srgbClr val="FFFFFF"/>
                          </a:solidFill>
                          <a:latin typeface="Arial"/>
                        </a:defRPr>
                      </a:pPr>
                      <a:r>
                        <a:rPr sz="1370" b="1">
                          <a:solidFill>
                            <a:srgbClr val="FFFFFF"/>
                          </a:solidFill>
                          <a:latin typeface="Arial"/>
                        </a:rPr>
                        <a:t>Выборка / порог</a:t>
                      </a:r>
                    </a:p>
                  </a:txBody>
                  <a:tcPr marL="91440" marR="64008" marT="59436" marB="32004" anchor="ctr">
                    <a:solidFill>
                      <a:srgbClr val="0066FF"/>
                    </a:solidFill>
                  </a:tcPr>
                </a:tc>
                <a:tc>
                  <a:txBody>
                    <a:bodyPr/>
                    <a:lstStyle/>
                    <a:p>
                      <a:pPr algn="ctr">
                        <a:spcAft>
                          <a:spcPts val="0"/>
                        </a:spcAft>
                        <a:defRPr sz="1370" b="1">
                          <a:solidFill>
                            <a:srgbClr val="FFFFFF"/>
                          </a:solidFill>
                          <a:latin typeface="Arial"/>
                        </a:defRPr>
                      </a:pPr>
                      <a:r>
                        <a:rPr sz="1370" b="1">
                          <a:solidFill>
                            <a:srgbClr val="FFFFFF"/>
                          </a:solidFill>
                          <a:latin typeface="Arial"/>
                        </a:rPr>
                        <a:t>Precision</a:t>
                      </a:r>
                    </a:p>
                  </a:txBody>
                  <a:tcPr marL="91440" marR="64008" marT="59436" marB="32004" anchor="ctr">
                    <a:solidFill>
                      <a:srgbClr val="0066FF"/>
                    </a:solidFill>
                  </a:tcPr>
                </a:tc>
                <a:tc>
                  <a:txBody>
                    <a:bodyPr/>
                    <a:lstStyle/>
                    <a:p>
                      <a:pPr algn="ctr">
                        <a:spcAft>
                          <a:spcPts val="0"/>
                        </a:spcAft>
                        <a:defRPr sz="1370" b="1">
                          <a:solidFill>
                            <a:srgbClr val="FFFFFF"/>
                          </a:solidFill>
                          <a:latin typeface="Arial"/>
                        </a:defRPr>
                      </a:pPr>
                      <a:r>
                        <a:rPr sz="1370" b="1">
                          <a:solidFill>
                            <a:srgbClr val="FFFFFF"/>
                          </a:solidFill>
                          <a:latin typeface="Arial"/>
                        </a:rPr>
                        <a:t>Recall</a:t>
                      </a:r>
                    </a:p>
                  </a:txBody>
                  <a:tcPr marL="91440" marR="64008" marT="59436" marB="32004" anchor="ctr">
                    <a:solidFill>
                      <a:srgbClr val="0066FF"/>
                    </a:solidFill>
                  </a:tcPr>
                </a:tc>
                <a:tc>
                  <a:txBody>
                    <a:bodyPr/>
                    <a:lstStyle/>
                    <a:p>
                      <a:pPr algn="ctr">
                        <a:spcAft>
                          <a:spcPts val="0"/>
                        </a:spcAft>
                        <a:defRPr sz="1370" b="1">
                          <a:solidFill>
                            <a:srgbClr val="FFFFFF"/>
                          </a:solidFill>
                          <a:latin typeface="Arial"/>
                        </a:defRPr>
                      </a:pPr>
                      <a:r>
                        <a:rPr sz="1370" b="1">
                          <a:solidFill>
                            <a:srgbClr val="FFFFFF"/>
                          </a:solidFill>
                          <a:latin typeface="Arial"/>
                        </a:rPr>
                        <a:t>F1</a:t>
                      </a:r>
                    </a:p>
                  </a:txBody>
                  <a:tcPr marL="91440" marR="64008" marT="59436" marB="32004" anchor="ctr">
                    <a:solidFill>
                      <a:srgbClr val="0066FF"/>
                    </a:solidFill>
                  </a:tcPr>
                </a:tc>
                <a:tc>
                  <a:txBody>
                    <a:bodyPr/>
                    <a:lstStyle/>
                    <a:p>
                      <a:pPr algn="ctr">
                        <a:spcAft>
                          <a:spcPts val="0"/>
                        </a:spcAft>
                        <a:defRPr sz="1370" b="1">
                          <a:solidFill>
                            <a:srgbClr val="FFFFFF"/>
                          </a:solidFill>
                          <a:latin typeface="Arial"/>
                        </a:defRPr>
                      </a:pPr>
                      <a:r>
                        <a:rPr sz="1370" b="1">
                          <a:solidFill>
                            <a:srgbClr val="FFFFFF"/>
                          </a:solidFill>
                          <a:latin typeface="Arial"/>
                        </a:rPr>
                        <a:t>FP</a:t>
                      </a:r>
                    </a:p>
                  </a:txBody>
                  <a:tcPr marL="91440" marR="64008" marT="59436" marB="32004" anchor="ctr">
                    <a:solidFill>
                      <a:srgbClr val="0066FF"/>
                    </a:solidFill>
                  </a:tcPr>
                </a:tc>
                <a:tc>
                  <a:txBody>
                    <a:bodyPr/>
                    <a:lstStyle/>
                    <a:p>
                      <a:pPr algn="ctr">
                        <a:spcAft>
                          <a:spcPts val="0"/>
                        </a:spcAft>
                        <a:defRPr sz="1370" b="1">
                          <a:solidFill>
                            <a:srgbClr val="FFFFFF"/>
                          </a:solidFill>
                          <a:latin typeface="Arial"/>
                        </a:defRPr>
                      </a:pPr>
                      <a:r>
                        <a:rPr sz="1370" b="1">
                          <a:solidFill>
                            <a:srgbClr val="FFFFFF"/>
                          </a:solidFill>
                          <a:latin typeface="Arial"/>
                        </a:rPr>
                        <a:t>FN</a:t>
                      </a:r>
                    </a:p>
                  </a:txBody>
                  <a:tcPr marL="91440" marR="64008" marT="59436" marB="32004" anchor="ctr">
                    <a:solidFill>
                      <a:srgbClr val="0066FF"/>
                    </a:solidFill>
                  </a:tcPr>
                </a:tc>
              </a:tr>
              <a:tr h="484632">
                <a:tc>
                  <a:txBody>
                    <a:bodyPr/>
                    <a:lstStyle/>
                    <a:p>
                      <a:pPr>
                        <a:spcAft>
                          <a:spcPts val="0"/>
                        </a:spcAft>
                        <a:defRPr sz="1370" b="0">
                          <a:solidFill>
                            <a:srgbClr val="17263A"/>
                          </a:solidFill>
                          <a:latin typeface="Arial"/>
                        </a:defRPr>
                      </a:pPr>
                      <a:r>
                        <a:rPr sz="1370" b="0">
                          <a:solidFill>
                            <a:srgbClr val="17263A"/>
                          </a:solidFill>
                          <a:latin typeface="Arial"/>
                        </a:rPr>
                        <a:t>Внутренний • 0,5</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97,96%</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87,80%</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0,9260</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3</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20</a:t>
                      </a:r>
                    </a:p>
                  </a:txBody>
                  <a:tcPr marL="91440" marR="64008" marT="59436" marB="32004" anchor="ctr">
                    <a:solidFill>
                      <a:srgbClr val="F3F6FB"/>
                    </a:solidFill>
                  </a:tcPr>
                </a:tc>
              </a:tr>
              <a:tr h="484632">
                <a:tc>
                  <a:txBody>
                    <a:bodyPr/>
                    <a:lstStyle/>
                    <a:p>
                      <a:pPr>
                        <a:spcAft>
                          <a:spcPts val="0"/>
                        </a:spcAft>
                        <a:defRPr sz="1370" b="1">
                          <a:solidFill>
                            <a:srgbClr val="17263A"/>
                          </a:solidFill>
                          <a:latin typeface="Arial"/>
                        </a:defRPr>
                      </a:pPr>
                      <a:r>
                        <a:rPr sz="1370" b="1">
                          <a:solidFill>
                            <a:srgbClr val="17263A"/>
                          </a:solidFill>
                          <a:latin typeface="Arial"/>
                        </a:rPr>
                        <a:t>Внутренний • 0,863</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100,00%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62,80%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0,7715</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61</a:t>
                      </a:r>
                    </a:p>
                  </a:txBody>
                  <a:tcPr marL="91440" marR="64008" marT="59436" marB="32004" anchor="ctr">
                    <a:solidFill>
                      <a:srgbClr val="E9F6F0"/>
                    </a:solidFill>
                  </a:tcPr>
                </a:tc>
              </a:tr>
              <a:tr h="484632">
                <a:tc>
                  <a:txBody>
                    <a:bodyPr/>
                    <a:lstStyle/>
                    <a:p>
                      <a:pPr>
                        <a:spcAft>
                          <a:spcPts val="0"/>
                        </a:spcAft>
                        <a:defRPr sz="1370" b="0">
                          <a:solidFill>
                            <a:srgbClr val="17263A"/>
                          </a:solidFill>
                          <a:latin typeface="Arial"/>
                        </a:defRPr>
                      </a:pPr>
                      <a:r>
                        <a:rPr sz="1370" b="0">
                          <a:solidFill>
                            <a:srgbClr val="17263A"/>
                          </a:solidFill>
                          <a:latin typeface="Arial"/>
                        </a:rPr>
                        <a:t>Внешний • 0,5</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99,63%</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81,20%</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0,8948</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3</a:t>
                      </a:r>
                    </a:p>
                  </a:txBody>
                  <a:tcPr marL="91440" marR="64008" marT="59436" marB="32004" anchor="ctr">
                    <a:solidFill>
                      <a:srgbClr val="F3F6FB"/>
                    </a:solidFill>
                  </a:tcPr>
                </a:tc>
                <a:tc>
                  <a:txBody>
                    <a:bodyPr/>
                    <a:lstStyle/>
                    <a:p>
                      <a:pPr algn="ctr">
                        <a:spcAft>
                          <a:spcPts val="0"/>
                        </a:spcAft>
                        <a:defRPr sz="1370" b="0">
                          <a:solidFill>
                            <a:srgbClr val="17263A"/>
                          </a:solidFill>
                          <a:latin typeface="Arial"/>
                        </a:defRPr>
                      </a:pPr>
                      <a:r>
                        <a:rPr sz="1370" b="0">
                          <a:solidFill>
                            <a:srgbClr val="17263A"/>
                          </a:solidFill>
                          <a:latin typeface="Arial"/>
                        </a:rPr>
                        <a:t>188</a:t>
                      </a:r>
                    </a:p>
                  </a:txBody>
                  <a:tcPr marL="91440" marR="64008" marT="59436" marB="32004" anchor="ctr">
                    <a:solidFill>
                      <a:srgbClr val="F3F6FB"/>
                    </a:solidFill>
                  </a:tcPr>
                </a:tc>
              </a:tr>
              <a:tr h="484632">
                <a:tc>
                  <a:txBody>
                    <a:bodyPr/>
                    <a:lstStyle/>
                    <a:p>
                      <a:pPr>
                        <a:spcAft>
                          <a:spcPts val="0"/>
                        </a:spcAft>
                        <a:defRPr sz="1370" b="1">
                          <a:solidFill>
                            <a:srgbClr val="17263A"/>
                          </a:solidFill>
                          <a:latin typeface="Arial"/>
                        </a:defRPr>
                      </a:pPr>
                      <a:r>
                        <a:rPr sz="1370" b="1">
                          <a:solidFill>
                            <a:srgbClr val="17263A"/>
                          </a:solidFill>
                          <a:latin typeface="Arial"/>
                        </a:rPr>
                        <a:t>Внешний • 0,863</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100,00%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39,10%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0,5622</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0</a:t>
                      </a:r>
                    </a:p>
                  </a:txBody>
                  <a:tcPr marL="91440" marR="64008" marT="59436" marB="32004" anchor="ctr">
                    <a:solidFill>
                      <a:srgbClr val="E9F6F0"/>
                    </a:solidFill>
                  </a:tcPr>
                </a:tc>
                <a:tc>
                  <a:txBody>
                    <a:bodyPr/>
                    <a:lstStyle/>
                    <a:p>
                      <a:pPr algn="ctr">
                        <a:spcAft>
                          <a:spcPts val="0"/>
                        </a:spcAft>
                        <a:defRPr sz="1370" b="1">
                          <a:solidFill>
                            <a:srgbClr val="17263A"/>
                          </a:solidFill>
                          <a:latin typeface="Arial"/>
                        </a:defRPr>
                      </a:pPr>
                      <a:r>
                        <a:rPr sz="1370" b="1">
                          <a:solidFill>
                            <a:srgbClr val="17263A"/>
                          </a:solidFill>
                          <a:latin typeface="Arial"/>
                        </a:rPr>
                        <a:t>609</a:t>
                      </a:r>
                    </a:p>
                  </a:txBody>
                  <a:tcPr marL="91440" marR="64008" marT="59436" marB="32004" anchor="ctr">
                    <a:solidFill>
                      <a:srgbClr val="E9F6F0"/>
                    </a:solidFill>
                  </a:tcPr>
                </a:tc>
              </a:tr>
            </a:tbl>
          </a:graphicData>
        </a:graphic>
      </p:graphicFrame>
      <p:sp>
        <p:nvSpPr>
          <p:cNvPr id="8" name="Rounded Rectangle 7"/>
          <p:cNvSpPr/>
          <p:nvPr/>
        </p:nvSpPr>
        <p:spPr>
          <a:xfrm>
            <a:off x="393192" y="4096512"/>
            <a:ext cx="8321040" cy="475488"/>
          </a:xfrm>
          <a:prstGeom prst="roundRect">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9" name="TextBox 8"/>
          <p:cNvSpPr txBox="1"/>
          <p:nvPr/>
        </p:nvSpPr>
        <p:spPr>
          <a:xfrm>
            <a:off x="530352" y="4178808"/>
            <a:ext cx="8037575" cy="356616"/>
          </a:xfrm>
          <a:prstGeom prst="rect">
            <a:avLst/>
          </a:prstGeom>
          <a:noFill/>
        </p:spPr>
        <p:txBody>
          <a:bodyPr wrap="square" lIns="18288" rIns="18288" tIns="18288" bIns="18288">
            <a:spAutoFit/>
          </a:bodyPr>
          <a:lstStyle/>
          <a:p>
            <a:pPr algn="l">
              <a:spcAft>
                <a:spcPts val="500"/>
              </a:spcAft>
              <a:defRPr sz="1320" b="1">
                <a:solidFill>
                  <a:srgbClr val="D43B68"/>
                </a:solidFill>
                <a:latin typeface="Arial"/>
              </a:defRPr>
            </a:pPr>
            <a:r>
              <a:rPr sz="1320" b="1">
                <a:solidFill>
                  <a:srgbClr val="D43B68"/>
                </a:solidFill>
                <a:latin typeface="Arial"/>
              </a:rPr>
              <a:t>На внешнем контроле: 3 → 0 FP, но Recall 81,2% → 39,1%.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Внешний контроль: что означают 0 FP</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Анализ ошибок</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14 / 23</a:t>
            </a:r>
          </a:p>
        </p:txBody>
      </p:sp>
      <p:sp>
        <p:nvSpPr>
          <p:cNvPr id="6" name="TextBox 5"/>
          <p:cNvSpPr txBox="1"/>
          <p:nvPr/>
        </p:nvSpPr>
        <p:spPr>
          <a:xfrm>
            <a:off x="502920" y="1024128"/>
            <a:ext cx="4754880" cy="320040"/>
          </a:xfrm>
          <a:prstGeom prst="rect">
            <a:avLst/>
          </a:prstGeom>
          <a:noFill/>
        </p:spPr>
        <p:txBody>
          <a:bodyPr wrap="square" lIns="18288" rIns="18288" tIns="18288" bIns="18288">
            <a:spAutoFit/>
          </a:bodyPr>
          <a:lstStyle/>
          <a:p>
            <a:pPr algn="l">
              <a:spcAft>
                <a:spcPts val="500"/>
              </a:spcAft>
              <a:defRPr sz="1500" b="0">
                <a:solidFill>
                  <a:srgbClr val="607087"/>
                </a:solidFill>
                <a:latin typeface="Arial"/>
              </a:defRPr>
            </a:pPr>
            <a:r>
              <a:rPr sz="1500" b="0">
                <a:solidFill>
                  <a:srgbClr val="607087"/>
                </a:solidFill>
                <a:latin typeface="Arial"/>
              </a:rPr>
              <a:t>Предсказание →</a:t>
            </a:r>
          </a:p>
        </p:txBody>
      </p:sp>
      <p:sp>
        <p:nvSpPr>
          <p:cNvPr id="7" name="TextBox 6"/>
          <p:cNvSpPr txBox="1"/>
          <p:nvPr/>
        </p:nvSpPr>
        <p:spPr>
          <a:xfrm>
            <a:off x="1316736" y="1389888"/>
            <a:ext cx="1581912" cy="274320"/>
          </a:xfrm>
          <a:prstGeom prst="rect">
            <a:avLst/>
          </a:prstGeom>
          <a:noFill/>
        </p:spPr>
        <p:txBody>
          <a:bodyPr wrap="square" lIns="18288" rIns="18288" tIns="18288" bIns="18288">
            <a:spAutoFit/>
          </a:bodyPr>
          <a:lstStyle/>
          <a:p>
            <a:pPr algn="ctr">
              <a:spcAft>
                <a:spcPts val="500"/>
              </a:spcAft>
              <a:defRPr sz="1600" b="1">
                <a:solidFill>
                  <a:srgbClr val="17263A"/>
                </a:solidFill>
                <a:latin typeface="Arial"/>
              </a:defRPr>
            </a:pPr>
            <a:r>
              <a:rPr sz="1600" b="1">
                <a:solidFill>
                  <a:srgbClr val="17263A"/>
                </a:solidFill>
                <a:latin typeface="Arial"/>
              </a:rPr>
              <a:t>ham</a:t>
            </a:r>
          </a:p>
        </p:txBody>
      </p:sp>
      <p:sp>
        <p:nvSpPr>
          <p:cNvPr id="8" name="TextBox 7"/>
          <p:cNvSpPr txBox="1"/>
          <p:nvPr/>
        </p:nvSpPr>
        <p:spPr>
          <a:xfrm>
            <a:off x="2999232" y="1389888"/>
            <a:ext cx="1581912" cy="274320"/>
          </a:xfrm>
          <a:prstGeom prst="rect">
            <a:avLst/>
          </a:prstGeom>
          <a:noFill/>
        </p:spPr>
        <p:txBody>
          <a:bodyPr wrap="square" lIns="18288" rIns="18288" tIns="18288" bIns="18288">
            <a:spAutoFit/>
          </a:bodyPr>
          <a:lstStyle/>
          <a:p>
            <a:pPr algn="ctr">
              <a:spcAft>
                <a:spcPts val="500"/>
              </a:spcAft>
              <a:defRPr sz="1600" b="1">
                <a:solidFill>
                  <a:srgbClr val="17263A"/>
                </a:solidFill>
                <a:latin typeface="Arial"/>
              </a:defRPr>
            </a:pPr>
            <a:r>
              <a:rPr sz="1600" b="1">
                <a:solidFill>
                  <a:srgbClr val="17263A"/>
                </a:solidFill>
                <a:latin typeface="Arial"/>
              </a:rPr>
              <a:t>spam</a:t>
            </a:r>
          </a:p>
        </p:txBody>
      </p:sp>
      <p:sp>
        <p:nvSpPr>
          <p:cNvPr id="9" name="TextBox 8"/>
          <p:cNvSpPr txBox="1"/>
          <p:nvPr/>
        </p:nvSpPr>
        <p:spPr>
          <a:xfrm>
            <a:off x="420624" y="1975104"/>
            <a:ext cx="804672" cy="320040"/>
          </a:xfrm>
          <a:prstGeom prst="rect">
            <a:avLst/>
          </a:prstGeom>
          <a:noFill/>
        </p:spPr>
        <p:txBody>
          <a:bodyPr wrap="square" lIns="18288" rIns="18288" tIns="18288" bIns="18288">
            <a:spAutoFit/>
          </a:bodyPr>
          <a:lstStyle/>
          <a:p>
            <a:pPr algn="l">
              <a:spcAft>
                <a:spcPts val="500"/>
              </a:spcAft>
              <a:defRPr sz="1500" b="1">
                <a:solidFill>
                  <a:srgbClr val="17263A"/>
                </a:solidFill>
                <a:latin typeface="Arial"/>
              </a:defRPr>
            </a:pPr>
            <a:r>
              <a:rPr sz="1500" b="1">
                <a:solidFill>
                  <a:srgbClr val="17263A"/>
                </a:solidFill>
                <a:latin typeface="Arial"/>
              </a:rPr>
              <a:t>ham</a:t>
            </a:r>
          </a:p>
        </p:txBody>
      </p:sp>
      <p:sp>
        <p:nvSpPr>
          <p:cNvPr id="10" name="TextBox 9"/>
          <p:cNvSpPr txBox="1"/>
          <p:nvPr/>
        </p:nvSpPr>
        <p:spPr>
          <a:xfrm>
            <a:off x="420624" y="3118104"/>
            <a:ext cx="804672" cy="320040"/>
          </a:xfrm>
          <a:prstGeom prst="rect">
            <a:avLst/>
          </a:prstGeom>
          <a:noFill/>
        </p:spPr>
        <p:txBody>
          <a:bodyPr wrap="square" lIns="18288" rIns="18288" tIns="18288" bIns="18288">
            <a:spAutoFit/>
          </a:bodyPr>
          <a:lstStyle/>
          <a:p>
            <a:pPr algn="l">
              <a:spcAft>
                <a:spcPts val="500"/>
              </a:spcAft>
              <a:defRPr sz="1500" b="1">
                <a:solidFill>
                  <a:srgbClr val="17263A"/>
                </a:solidFill>
                <a:latin typeface="Arial"/>
              </a:defRPr>
            </a:pPr>
            <a:r>
              <a:rPr sz="1500" b="1">
                <a:solidFill>
                  <a:srgbClr val="17263A"/>
                </a:solidFill>
                <a:latin typeface="Arial"/>
              </a:rPr>
              <a:t>spam</a:t>
            </a:r>
          </a:p>
        </p:txBody>
      </p:sp>
      <p:sp>
        <p:nvSpPr>
          <p:cNvPr id="11" name="Rounded Rectangle 10"/>
          <p:cNvSpPr/>
          <p:nvPr/>
        </p:nvSpPr>
        <p:spPr>
          <a:xfrm>
            <a:off x="1298448" y="1773936"/>
            <a:ext cx="1572768" cy="996696"/>
          </a:xfrm>
          <a:prstGeom prst="roundRect">
            <a:avLst/>
          </a:prstGeom>
          <a:solidFill>
            <a:srgbClr val="E9F6F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2" name="TextBox 11"/>
          <p:cNvSpPr txBox="1"/>
          <p:nvPr/>
        </p:nvSpPr>
        <p:spPr>
          <a:xfrm>
            <a:off x="1344168" y="1865376"/>
            <a:ext cx="1481328" cy="402336"/>
          </a:xfrm>
          <a:prstGeom prst="rect">
            <a:avLst/>
          </a:prstGeom>
          <a:noFill/>
        </p:spPr>
        <p:txBody>
          <a:bodyPr wrap="square" lIns="18288" rIns="18288" tIns="18288" bIns="18288">
            <a:spAutoFit/>
          </a:bodyPr>
          <a:lstStyle/>
          <a:p>
            <a:pPr algn="ctr">
              <a:spcAft>
                <a:spcPts val="500"/>
              </a:spcAft>
              <a:defRPr sz="2800" b="1">
                <a:solidFill>
                  <a:srgbClr val="118C78"/>
                </a:solidFill>
                <a:latin typeface="Arial"/>
              </a:defRPr>
            </a:pPr>
            <a:r>
              <a:rPr sz="2800" b="1">
                <a:solidFill>
                  <a:srgbClr val="118C78"/>
                </a:solidFill>
                <a:latin typeface="Arial"/>
              </a:rPr>
              <a:t>600</a:t>
            </a:r>
          </a:p>
        </p:txBody>
      </p:sp>
      <p:sp>
        <p:nvSpPr>
          <p:cNvPr id="13" name="TextBox 12"/>
          <p:cNvSpPr txBox="1"/>
          <p:nvPr/>
        </p:nvSpPr>
        <p:spPr>
          <a:xfrm>
            <a:off x="1362456" y="2395728"/>
            <a:ext cx="1444752" cy="265176"/>
          </a:xfrm>
          <a:prstGeom prst="rect">
            <a:avLst/>
          </a:prstGeom>
          <a:noFill/>
        </p:spPr>
        <p:txBody>
          <a:bodyPr wrap="square" lIns="18288" rIns="18288" tIns="18288" bIns="18288">
            <a:spAutoFit/>
          </a:bodyPr>
          <a:lstStyle/>
          <a:p>
            <a:pPr algn="ctr">
              <a:spcAft>
                <a:spcPts val="500"/>
              </a:spcAft>
              <a:defRPr sz="919" b="0">
                <a:solidFill>
                  <a:srgbClr val="17263A"/>
                </a:solidFill>
                <a:latin typeface="Arial"/>
              </a:defRPr>
            </a:pPr>
            <a:r>
              <a:rPr sz="919" b="0">
                <a:solidFill>
                  <a:srgbClr val="17263A"/>
                </a:solidFill>
                <a:latin typeface="Arial"/>
              </a:rPr>
              <a:t>TN: полезная почта</a:t>
            </a:r>
          </a:p>
        </p:txBody>
      </p:sp>
      <p:sp>
        <p:nvSpPr>
          <p:cNvPr id="14" name="Rounded Rectangle 13"/>
          <p:cNvSpPr/>
          <p:nvPr/>
        </p:nvSpPr>
        <p:spPr>
          <a:xfrm>
            <a:off x="2999232" y="1773936"/>
            <a:ext cx="1572768" cy="996696"/>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5" name="TextBox 14"/>
          <p:cNvSpPr txBox="1"/>
          <p:nvPr/>
        </p:nvSpPr>
        <p:spPr>
          <a:xfrm>
            <a:off x="3044951" y="1865376"/>
            <a:ext cx="1481328" cy="402336"/>
          </a:xfrm>
          <a:prstGeom prst="rect">
            <a:avLst/>
          </a:prstGeom>
          <a:noFill/>
        </p:spPr>
        <p:txBody>
          <a:bodyPr wrap="square" lIns="18288" rIns="18288" tIns="18288" bIns="18288">
            <a:spAutoFit/>
          </a:bodyPr>
          <a:lstStyle/>
          <a:p>
            <a:pPr algn="ctr">
              <a:spcAft>
                <a:spcPts val="500"/>
              </a:spcAft>
              <a:defRPr sz="2800" b="1">
                <a:solidFill>
                  <a:srgbClr val="0066FF"/>
                </a:solidFill>
                <a:latin typeface="Arial"/>
              </a:defRPr>
            </a:pPr>
            <a:r>
              <a:rPr sz="2800" b="1">
                <a:solidFill>
                  <a:srgbClr val="0066FF"/>
                </a:solidFill>
                <a:latin typeface="Arial"/>
              </a:rPr>
              <a:t>0</a:t>
            </a:r>
          </a:p>
        </p:txBody>
      </p:sp>
      <p:sp>
        <p:nvSpPr>
          <p:cNvPr id="16" name="TextBox 15"/>
          <p:cNvSpPr txBox="1"/>
          <p:nvPr/>
        </p:nvSpPr>
        <p:spPr>
          <a:xfrm>
            <a:off x="3063239" y="2395728"/>
            <a:ext cx="1444752" cy="265176"/>
          </a:xfrm>
          <a:prstGeom prst="rect">
            <a:avLst/>
          </a:prstGeom>
          <a:noFill/>
        </p:spPr>
        <p:txBody>
          <a:bodyPr wrap="square" lIns="18288" rIns="18288" tIns="18288" bIns="18288">
            <a:spAutoFit/>
          </a:bodyPr>
          <a:lstStyle/>
          <a:p>
            <a:pPr algn="ctr">
              <a:spcAft>
                <a:spcPts val="500"/>
              </a:spcAft>
              <a:defRPr sz="919" b="0">
                <a:solidFill>
                  <a:srgbClr val="17263A"/>
                </a:solidFill>
                <a:latin typeface="Arial"/>
              </a:defRPr>
            </a:pPr>
            <a:r>
              <a:rPr sz="919" b="0">
                <a:solidFill>
                  <a:srgbClr val="17263A"/>
                </a:solidFill>
                <a:latin typeface="Arial"/>
              </a:rPr>
              <a:t>FP: ложные блокировки</a:t>
            </a:r>
          </a:p>
        </p:txBody>
      </p:sp>
      <p:sp>
        <p:nvSpPr>
          <p:cNvPr id="17" name="Rounded Rectangle 16"/>
          <p:cNvSpPr/>
          <p:nvPr/>
        </p:nvSpPr>
        <p:spPr>
          <a:xfrm>
            <a:off x="1298448" y="2907792"/>
            <a:ext cx="1572768" cy="996696"/>
          </a:xfrm>
          <a:prstGeom prst="roundRect">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8" name="TextBox 17"/>
          <p:cNvSpPr txBox="1"/>
          <p:nvPr/>
        </p:nvSpPr>
        <p:spPr>
          <a:xfrm>
            <a:off x="1344168" y="2999232"/>
            <a:ext cx="1481328" cy="402336"/>
          </a:xfrm>
          <a:prstGeom prst="rect">
            <a:avLst/>
          </a:prstGeom>
          <a:noFill/>
        </p:spPr>
        <p:txBody>
          <a:bodyPr wrap="square" lIns="18288" rIns="18288" tIns="18288" bIns="18288">
            <a:spAutoFit/>
          </a:bodyPr>
          <a:lstStyle/>
          <a:p>
            <a:pPr algn="ctr">
              <a:spcAft>
                <a:spcPts val="500"/>
              </a:spcAft>
              <a:defRPr sz="2800" b="1">
                <a:solidFill>
                  <a:srgbClr val="D43B68"/>
                </a:solidFill>
                <a:latin typeface="Arial"/>
              </a:defRPr>
            </a:pPr>
            <a:r>
              <a:rPr sz="2800" b="1">
                <a:solidFill>
                  <a:srgbClr val="D43B68"/>
                </a:solidFill>
                <a:latin typeface="Arial"/>
              </a:rPr>
              <a:t>609</a:t>
            </a:r>
          </a:p>
        </p:txBody>
      </p:sp>
      <p:sp>
        <p:nvSpPr>
          <p:cNvPr id="19" name="TextBox 18"/>
          <p:cNvSpPr txBox="1"/>
          <p:nvPr/>
        </p:nvSpPr>
        <p:spPr>
          <a:xfrm>
            <a:off x="1362456" y="3529584"/>
            <a:ext cx="1444752" cy="265176"/>
          </a:xfrm>
          <a:prstGeom prst="rect">
            <a:avLst/>
          </a:prstGeom>
          <a:noFill/>
        </p:spPr>
        <p:txBody>
          <a:bodyPr wrap="square" lIns="18288" rIns="18288" tIns="18288" bIns="18288">
            <a:spAutoFit/>
          </a:bodyPr>
          <a:lstStyle/>
          <a:p>
            <a:pPr algn="ctr">
              <a:spcAft>
                <a:spcPts val="500"/>
              </a:spcAft>
              <a:defRPr sz="919" b="0">
                <a:solidFill>
                  <a:srgbClr val="17263A"/>
                </a:solidFill>
                <a:latin typeface="Arial"/>
              </a:defRPr>
            </a:pPr>
            <a:r>
              <a:rPr sz="919" b="0">
                <a:solidFill>
                  <a:srgbClr val="17263A"/>
                </a:solidFill>
                <a:latin typeface="Arial"/>
              </a:rPr>
              <a:t>FN: пропущенный спам</a:t>
            </a:r>
          </a:p>
        </p:txBody>
      </p:sp>
      <p:sp>
        <p:nvSpPr>
          <p:cNvPr id="20" name="Rounded Rectangle 19"/>
          <p:cNvSpPr/>
          <p:nvPr/>
        </p:nvSpPr>
        <p:spPr>
          <a:xfrm>
            <a:off x="2999232" y="2907792"/>
            <a:ext cx="1572768" cy="996696"/>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21" name="TextBox 20"/>
          <p:cNvSpPr txBox="1"/>
          <p:nvPr/>
        </p:nvSpPr>
        <p:spPr>
          <a:xfrm>
            <a:off x="3044951" y="2999232"/>
            <a:ext cx="1481328" cy="402336"/>
          </a:xfrm>
          <a:prstGeom prst="rect">
            <a:avLst/>
          </a:prstGeom>
          <a:noFill/>
        </p:spPr>
        <p:txBody>
          <a:bodyPr wrap="square" lIns="18288" rIns="18288" tIns="18288" bIns="18288">
            <a:spAutoFit/>
          </a:bodyPr>
          <a:lstStyle/>
          <a:p>
            <a:pPr algn="ctr">
              <a:spcAft>
                <a:spcPts val="500"/>
              </a:spcAft>
              <a:defRPr sz="2800" b="1">
                <a:solidFill>
                  <a:srgbClr val="0066FF"/>
                </a:solidFill>
                <a:latin typeface="Arial"/>
              </a:defRPr>
            </a:pPr>
            <a:r>
              <a:rPr sz="2800" b="1">
                <a:solidFill>
                  <a:srgbClr val="0066FF"/>
                </a:solidFill>
                <a:latin typeface="Arial"/>
              </a:rPr>
              <a:t>391</a:t>
            </a:r>
          </a:p>
        </p:txBody>
      </p:sp>
      <p:sp>
        <p:nvSpPr>
          <p:cNvPr id="22" name="TextBox 21"/>
          <p:cNvSpPr txBox="1"/>
          <p:nvPr/>
        </p:nvSpPr>
        <p:spPr>
          <a:xfrm>
            <a:off x="3063239" y="3529584"/>
            <a:ext cx="1444752" cy="265176"/>
          </a:xfrm>
          <a:prstGeom prst="rect">
            <a:avLst/>
          </a:prstGeom>
          <a:noFill/>
        </p:spPr>
        <p:txBody>
          <a:bodyPr wrap="square" lIns="18288" rIns="18288" tIns="18288" bIns="18288">
            <a:spAutoFit/>
          </a:bodyPr>
          <a:lstStyle/>
          <a:p>
            <a:pPr algn="ctr">
              <a:spcAft>
                <a:spcPts val="500"/>
              </a:spcAft>
              <a:defRPr sz="919" b="0">
                <a:solidFill>
                  <a:srgbClr val="17263A"/>
                </a:solidFill>
                <a:latin typeface="Arial"/>
              </a:defRPr>
            </a:pPr>
            <a:r>
              <a:rPr sz="919" b="0">
                <a:solidFill>
                  <a:srgbClr val="17263A"/>
                </a:solidFill>
                <a:latin typeface="Arial"/>
              </a:rPr>
              <a:t>TP: найденный спам</a:t>
            </a:r>
          </a:p>
        </p:txBody>
      </p:sp>
      <p:sp>
        <p:nvSpPr>
          <p:cNvPr id="23" name="TextBox 22"/>
          <p:cNvSpPr txBox="1"/>
          <p:nvPr/>
        </p:nvSpPr>
        <p:spPr>
          <a:xfrm>
            <a:off x="5102352" y="1417320"/>
            <a:ext cx="3474720" cy="1133856"/>
          </a:xfrm>
          <a:prstGeom prst="rect">
            <a:avLst/>
          </a:prstGeom>
          <a:noFill/>
        </p:spPr>
        <p:txBody>
          <a:bodyPr wrap="square" lIns="18288" rIns="18288" tIns="18288" bIns="18288">
            <a:spAutoFit/>
          </a:bodyPr>
          <a:lstStyle/>
          <a:p>
            <a:pPr algn="l">
              <a:spcAft>
                <a:spcPts val="500"/>
              </a:spcAft>
              <a:defRPr sz="2500" b="1">
                <a:solidFill>
                  <a:srgbClr val="118C78"/>
                </a:solidFill>
                <a:latin typeface="Arial"/>
              </a:defRPr>
            </a:pPr>
            <a:r>
              <a:rPr sz="2500" b="1">
                <a:solidFill>
                  <a:srgbClr val="118C78"/>
                </a:solidFill>
                <a:latin typeface="Arial"/>
              </a:rPr>
              <a:t>Сохранено</a:t>
            </a:r>
          </a:p>
          <a:p>
            <a:pPr algn="l">
              <a:spcAft>
                <a:spcPts val="500"/>
              </a:spcAft>
              <a:defRPr sz="2500" b="1">
                <a:solidFill>
                  <a:srgbClr val="118C78"/>
                </a:solidFill>
                <a:latin typeface="Arial"/>
              </a:defRPr>
            </a:pPr>
            <a:r>
              <a:rPr sz="2500" b="1">
                <a:solidFill>
                  <a:srgbClr val="118C78"/>
                </a:solidFill>
                <a:latin typeface="Arial"/>
              </a:rPr>
              <a:t>600 из 600 ham</a:t>
            </a:r>
          </a:p>
        </p:txBody>
      </p:sp>
      <p:sp>
        <p:nvSpPr>
          <p:cNvPr id="24" name="TextBox 23"/>
          <p:cNvSpPr txBox="1"/>
          <p:nvPr/>
        </p:nvSpPr>
        <p:spPr>
          <a:xfrm>
            <a:off x="5102352" y="2779776"/>
            <a:ext cx="3474720" cy="1133856"/>
          </a:xfrm>
          <a:prstGeom prst="rect">
            <a:avLst/>
          </a:prstGeom>
          <a:noFill/>
        </p:spPr>
        <p:txBody>
          <a:bodyPr wrap="square" lIns="18288" rIns="18288" tIns="18288" bIns="18288">
            <a:spAutoFit/>
          </a:bodyPr>
          <a:lstStyle/>
          <a:p>
            <a:pPr algn="l">
              <a:spcAft>
                <a:spcPts val="500"/>
              </a:spcAft>
              <a:defRPr sz="2500" b="1">
                <a:solidFill>
                  <a:srgbClr val="D43B68"/>
                </a:solidFill>
                <a:latin typeface="Arial"/>
              </a:defRPr>
            </a:pPr>
            <a:r>
              <a:rPr sz="2500" b="1">
                <a:solidFill>
                  <a:srgbClr val="D43B68"/>
                </a:solidFill>
                <a:latin typeface="Arial"/>
              </a:rPr>
              <a:t>Найдено</a:t>
            </a:r>
          </a:p>
          <a:p>
            <a:pPr algn="l">
              <a:spcAft>
                <a:spcPts val="500"/>
              </a:spcAft>
              <a:defRPr sz="2500" b="1">
                <a:solidFill>
                  <a:srgbClr val="D43B68"/>
                </a:solidFill>
                <a:latin typeface="Arial"/>
              </a:defRPr>
            </a:pPr>
            <a:r>
              <a:rPr sz="2500" b="1">
                <a:solidFill>
                  <a:srgbClr val="D43B68"/>
                </a:solidFill>
                <a:latin typeface="Arial"/>
              </a:rPr>
              <a:t>391 из 1000 spam</a:t>
            </a:r>
          </a:p>
        </p:txBody>
      </p:sp>
      <p:sp>
        <p:nvSpPr>
          <p:cNvPr id="25" name="TextBox 24"/>
          <p:cNvSpPr txBox="1"/>
          <p:nvPr/>
        </p:nvSpPr>
        <p:spPr>
          <a:xfrm>
            <a:off x="438912" y="4306824"/>
            <a:ext cx="8193024" cy="274320"/>
          </a:xfrm>
          <a:prstGeom prst="rect">
            <a:avLst/>
          </a:prstGeom>
          <a:noFill/>
        </p:spPr>
        <p:txBody>
          <a:bodyPr wrap="square" lIns="18288" rIns="18288" tIns="18288" bIns="18288">
            <a:spAutoFit/>
          </a:bodyPr>
          <a:lstStyle/>
          <a:p>
            <a:pPr algn="l">
              <a:spcAft>
                <a:spcPts val="500"/>
              </a:spcAft>
              <a:defRPr sz="1280" b="0">
                <a:solidFill>
                  <a:srgbClr val="607087"/>
                </a:solidFill>
                <a:latin typeface="Arial"/>
              </a:defRPr>
            </a:pPr>
            <a:r>
              <a:rPr sz="1280" b="0">
                <a:solidFill>
                  <a:srgbClr val="607087"/>
                </a:solidFill>
                <a:latin typeface="Arial"/>
              </a:rPr>
              <a:t>Нулевые наблюдаемые FP не означают нулевого риска. Цена — 609 пропущенных spam.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Упаковка: одна модель от ноутбука до Docker</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FastAPI + Docker</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15 / 23</a:t>
            </a:r>
          </a:p>
        </p:txBody>
      </p:sp>
      <p:sp>
        <p:nvSpPr>
          <p:cNvPr id="6" name="Rounded Rectangle 5"/>
          <p:cNvSpPr/>
          <p:nvPr/>
        </p:nvSpPr>
        <p:spPr>
          <a:xfrm>
            <a:off x="420624" y="1197864"/>
            <a:ext cx="2560320" cy="138988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7" name="TextBox 6"/>
          <p:cNvSpPr txBox="1"/>
          <p:nvPr/>
        </p:nvSpPr>
        <p:spPr>
          <a:xfrm>
            <a:off x="539496" y="1335024"/>
            <a:ext cx="2322576" cy="320040"/>
          </a:xfrm>
          <a:prstGeom prst="rect">
            <a:avLst/>
          </a:prstGeom>
          <a:noFill/>
        </p:spPr>
        <p:txBody>
          <a:bodyPr wrap="square" lIns="18288" rIns="18288" tIns="18288" bIns="18288">
            <a:spAutoFit/>
          </a:bodyPr>
          <a:lstStyle/>
          <a:p>
            <a:pPr algn="l">
              <a:spcAft>
                <a:spcPts val="500"/>
              </a:spcAft>
              <a:defRPr sz="2200" b="1">
                <a:solidFill>
                  <a:srgbClr val="0066FF"/>
                </a:solidFill>
                <a:latin typeface="Arial"/>
              </a:defRPr>
            </a:pPr>
            <a:r>
              <a:rPr sz="2200" b="1">
                <a:solidFill>
                  <a:srgbClr val="0066FF"/>
                </a:solidFill>
                <a:latin typeface="Arial"/>
              </a:rPr>
              <a:t>Артефакт</a:t>
            </a:r>
          </a:p>
        </p:txBody>
      </p:sp>
      <p:sp>
        <p:nvSpPr>
          <p:cNvPr id="8" name="TextBox 7"/>
          <p:cNvSpPr txBox="1"/>
          <p:nvPr/>
        </p:nvSpPr>
        <p:spPr>
          <a:xfrm>
            <a:off x="539496" y="1828800"/>
            <a:ext cx="2322576" cy="557784"/>
          </a:xfrm>
          <a:prstGeom prst="rect">
            <a:avLst/>
          </a:prstGeom>
          <a:noFill/>
        </p:spPr>
        <p:txBody>
          <a:bodyPr wrap="square" lIns="18288" rIns="18288" tIns="18288" bIns="18288">
            <a:spAutoFit/>
          </a:bodyPr>
          <a:lstStyle/>
          <a:p>
            <a:pPr algn="l">
              <a:spcAft>
                <a:spcPts val="500"/>
              </a:spcAft>
              <a:defRPr sz="1440" b="0">
                <a:solidFill>
                  <a:srgbClr val="17263A"/>
                </a:solidFill>
                <a:latin typeface="Arial"/>
              </a:defRPr>
            </a:pPr>
            <a:r>
              <a:rPr sz="1440" b="0">
                <a:solidFill>
                  <a:srgbClr val="17263A"/>
                </a:solidFill>
                <a:latin typeface="Arial"/>
              </a:rPr>
              <a:t>Pipeline + порог</a:t>
            </a:r>
          </a:p>
          <a:p>
            <a:pPr algn="l">
              <a:spcAft>
                <a:spcPts val="500"/>
              </a:spcAft>
              <a:defRPr sz="1440" b="0">
                <a:solidFill>
                  <a:srgbClr val="17263A"/>
                </a:solidFill>
                <a:latin typeface="Arial"/>
              </a:defRPr>
            </a:pPr>
            <a:r>
              <a:rPr sz="1440" b="0">
                <a:solidFill>
                  <a:srgbClr val="17263A"/>
                </a:solidFill>
                <a:latin typeface="Arial"/>
              </a:rPr>
              <a:t>metadata + SHA-256</a:t>
            </a:r>
          </a:p>
        </p:txBody>
      </p:sp>
      <p:sp>
        <p:nvSpPr>
          <p:cNvPr id="9" name="TextBox 8"/>
          <p:cNvSpPr txBox="1"/>
          <p:nvPr/>
        </p:nvSpPr>
        <p:spPr>
          <a:xfrm>
            <a:off x="2999232" y="1719072"/>
            <a:ext cx="237744" cy="365760"/>
          </a:xfrm>
          <a:prstGeom prst="rect">
            <a:avLst/>
          </a:prstGeom>
          <a:noFill/>
        </p:spPr>
        <p:txBody>
          <a:bodyPr wrap="square" lIns="18288" rIns="18288" tIns="18288" bIns="18288">
            <a:spAutoFit/>
          </a:bodyPr>
          <a:lstStyle/>
          <a:p>
            <a:pPr algn="ctr">
              <a:spcAft>
                <a:spcPts val="500"/>
              </a:spcAft>
              <a:defRPr sz="2200" b="1">
                <a:solidFill>
                  <a:srgbClr val="0066FF"/>
                </a:solidFill>
                <a:latin typeface="Arial"/>
              </a:defRPr>
            </a:pPr>
            <a:r>
              <a:rPr sz="2200" b="1">
                <a:solidFill>
                  <a:srgbClr val="0066FF"/>
                </a:solidFill>
                <a:latin typeface="Arial"/>
              </a:rPr>
              <a:t>→</a:t>
            </a:r>
          </a:p>
        </p:txBody>
      </p:sp>
      <p:sp>
        <p:nvSpPr>
          <p:cNvPr id="10" name="Rounded Rectangle 9"/>
          <p:cNvSpPr/>
          <p:nvPr/>
        </p:nvSpPr>
        <p:spPr>
          <a:xfrm>
            <a:off x="3300984" y="1197864"/>
            <a:ext cx="2560320" cy="138988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1" name="TextBox 10"/>
          <p:cNvSpPr txBox="1"/>
          <p:nvPr/>
        </p:nvSpPr>
        <p:spPr>
          <a:xfrm>
            <a:off x="3419856" y="1335024"/>
            <a:ext cx="2322576" cy="320040"/>
          </a:xfrm>
          <a:prstGeom prst="rect">
            <a:avLst/>
          </a:prstGeom>
          <a:noFill/>
        </p:spPr>
        <p:txBody>
          <a:bodyPr wrap="square" lIns="18288" rIns="18288" tIns="18288" bIns="18288">
            <a:spAutoFit/>
          </a:bodyPr>
          <a:lstStyle/>
          <a:p>
            <a:pPr algn="l">
              <a:spcAft>
                <a:spcPts val="500"/>
              </a:spcAft>
              <a:defRPr sz="2200" b="1">
                <a:solidFill>
                  <a:srgbClr val="0066FF"/>
                </a:solidFill>
                <a:latin typeface="Arial"/>
              </a:defRPr>
            </a:pPr>
            <a:r>
              <a:rPr sz="2200" b="1">
                <a:solidFill>
                  <a:srgbClr val="0066FF"/>
                </a:solidFill>
                <a:latin typeface="Arial"/>
              </a:rPr>
              <a:t>FastAPI</a:t>
            </a:r>
          </a:p>
        </p:txBody>
      </p:sp>
      <p:sp>
        <p:nvSpPr>
          <p:cNvPr id="12" name="TextBox 11"/>
          <p:cNvSpPr txBox="1"/>
          <p:nvPr/>
        </p:nvSpPr>
        <p:spPr>
          <a:xfrm>
            <a:off x="3419856" y="1828800"/>
            <a:ext cx="2322576" cy="557784"/>
          </a:xfrm>
          <a:prstGeom prst="rect">
            <a:avLst/>
          </a:prstGeom>
          <a:noFill/>
        </p:spPr>
        <p:txBody>
          <a:bodyPr wrap="square" lIns="18288" rIns="18288" tIns="18288" bIns="18288">
            <a:spAutoFit/>
          </a:bodyPr>
          <a:lstStyle/>
          <a:p>
            <a:pPr algn="l">
              <a:spcAft>
                <a:spcPts val="500"/>
              </a:spcAft>
              <a:defRPr sz="1440" b="0">
                <a:solidFill>
                  <a:srgbClr val="17263A"/>
                </a:solidFill>
                <a:latin typeface="Arial"/>
              </a:defRPr>
            </a:pPr>
            <a:r>
              <a:rPr sz="1440" b="0">
                <a:solidFill>
                  <a:srgbClr val="17263A"/>
                </a:solidFill>
                <a:latin typeface="Arial"/>
              </a:rPr>
              <a:t>JSON и .eml</a:t>
            </a:r>
          </a:p>
          <a:p>
            <a:pPr algn="l">
              <a:spcAft>
                <a:spcPts val="500"/>
              </a:spcAft>
              <a:defRPr sz="1440" b="0">
                <a:solidFill>
                  <a:srgbClr val="17263A"/>
                </a:solidFill>
                <a:latin typeface="Arial"/>
              </a:defRPr>
            </a:pPr>
            <a:r>
              <a:rPr sz="1440" b="0">
                <a:solidFill>
                  <a:srgbClr val="17263A"/>
                </a:solidFill>
                <a:latin typeface="Arial"/>
              </a:rPr>
              <a:t>общий MIME-парсер</a:t>
            </a:r>
          </a:p>
        </p:txBody>
      </p:sp>
      <p:sp>
        <p:nvSpPr>
          <p:cNvPr id="13" name="TextBox 12"/>
          <p:cNvSpPr txBox="1"/>
          <p:nvPr/>
        </p:nvSpPr>
        <p:spPr>
          <a:xfrm>
            <a:off x="5879592" y="1719072"/>
            <a:ext cx="237744" cy="365760"/>
          </a:xfrm>
          <a:prstGeom prst="rect">
            <a:avLst/>
          </a:prstGeom>
          <a:noFill/>
        </p:spPr>
        <p:txBody>
          <a:bodyPr wrap="square" lIns="18288" rIns="18288" tIns="18288" bIns="18288">
            <a:spAutoFit/>
          </a:bodyPr>
          <a:lstStyle/>
          <a:p>
            <a:pPr algn="ctr">
              <a:spcAft>
                <a:spcPts val="500"/>
              </a:spcAft>
              <a:defRPr sz="2200" b="1">
                <a:solidFill>
                  <a:srgbClr val="0066FF"/>
                </a:solidFill>
                <a:latin typeface="Arial"/>
              </a:defRPr>
            </a:pPr>
            <a:r>
              <a:rPr sz="2200" b="1">
                <a:solidFill>
                  <a:srgbClr val="0066FF"/>
                </a:solidFill>
                <a:latin typeface="Arial"/>
              </a:rPr>
              <a:t>→</a:t>
            </a:r>
          </a:p>
        </p:txBody>
      </p:sp>
      <p:sp>
        <p:nvSpPr>
          <p:cNvPr id="14" name="Rounded Rectangle 13"/>
          <p:cNvSpPr/>
          <p:nvPr/>
        </p:nvSpPr>
        <p:spPr>
          <a:xfrm>
            <a:off x="6181344" y="1197864"/>
            <a:ext cx="2560320" cy="1389888"/>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5" name="TextBox 14"/>
          <p:cNvSpPr txBox="1"/>
          <p:nvPr/>
        </p:nvSpPr>
        <p:spPr>
          <a:xfrm>
            <a:off x="6300216" y="1335024"/>
            <a:ext cx="2322576" cy="320040"/>
          </a:xfrm>
          <a:prstGeom prst="rect">
            <a:avLst/>
          </a:prstGeom>
          <a:noFill/>
        </p:spPr>
        <p:txBody>
          <a:bodyPr wrap="square" lIns="18288" rIns="18288" tIns="18288" bIns="18288">
            <a:spAutoFit/>
          </a:bodyPr>
          <a:lstStyle/>
          <a:p>
            <a:pPr algn="l">
              <a:spcAft>
                <a:spcPts val="500"/>
              </a:spcAft>
              <a:defRPr sz="2200" b="1">
                <a:solidFill>
                  <a:srgbClr val="0066FF"/>
                </a:solidFill>
                <a:latin typeface="Arial"/>
              </a:defRPr>
            </a:pPr>
            <a:r>
              <a:rPr sz="2200" b="1">
                <a:solidFill>
                  <a:srgbClr val="0066FF"/>
                </a:solidFill>
                <a:latin typeface="Arial"/>
              </a:rPr>
              <a:t>Docker</a:t>
            </a:r>
          </a:p>
        </p:txBody>
      </p:sp>
      <p:sp>
        <p:nvSpPr>
          <p:cNvPr id="16" name="TextBox 15"/>
          <p:cNvSpPr txBox="1"/>
          <p:nvPr/>
        </p:nvSpPr>
        <p:spPr>
          <a:xfrm>
            <a:off x="6300216" y="1828800"/>
            <a:ext cx="2322576" cy="557784"/>
          </a:xfrm>
          <a:prstGeom prst="rect">
            <a:avLst/>
          </a:prstGeom>
          <a:noFill/>
        </p:spPr>
        <p:txBody>
          <a:bodyPr wrap="square" lIns="18288" rIns="18288" tIns="18288" bIns="18288">
            <a:spAutoFit/>
          </a:bodyPr>
          <a:lstStyle/>
          <a:p>
            <a:pPr algn="l">
              <a:spcAft>
                <a:spcPts val="500"/>
              </a:spcAft>
              <a:defRPr sz="1440" b="0">
                <a:solidFill>
                  <a:srgbClr val="17263A"/>
                </a:solidFill>
                <a:latin typeface="Arial"/>
              </a:defRPr>
            </a:pPr>
            <a:r>
              <a:rPr sz="1440" b="0">
                <a:solidFill>
                  <a:srgbClr val="17263A"/>
                </a:solidFill>
                <a:latin typeface="Arial"/>
              </a:rPr>
              <a:t>Зависимости инференса</a:t>
            </a:r>
          </a:p>
          <a:p>
            <a:pPr algn="l">
              <a:spcAft>
                <a:spcPts val="500"/>
              </a:spcAft>
              <a:defRPr sz="1440" b="0">
                <a:solidFill>
                  <a:srgbClr val="17263A"/>
                </a:solidFill>
                <a:latin typeface="Arial"/>
              </a:defRPr>
            </a:pPr>
            <a:r>
              <a:rPr sz="1440" b="0">
                <a:solidFill>
                  <a:srgbClr val="17263A"/>
                </a:solidFill>
                <a:latin typeface="Arial"/>
              </a:rPr>
              <a:t>модель внутри образа</a:t>
            </a:r>
          </a:p>
        </p:txBody>
      </p:sp>
      <p:sp>
        <p:nvSpPr>
          <p:cNvPr id="17" name="TextBox 16"/>
          <p:cNvSpPr txBox="1"/>
          <p:nvPr/>
        </p:nvSpPr>
        <p:spPr>
          <a:xfrm>
            <a:off x="448056" y="2971800"/>
            <a:ext cx="8165592" cy="914400"/>
          </a:xfrm>
          <a:prstGeom prst="rect">
            <a:avLst/>
          </a:prstGeom>
          <a:noFill/>
        </p:spPr>
        <p:txBody>
          <a:bodyPr wrap="square" lIns="18288" rIns="18288" tIns="18288" bIns="18288">
            <a:spAutoFit/>
          </a:bodyPr>
          <a:lstStyle/>
          <a:p>
            <a:pPr algn="l">
              <a:spcAft>
                <a:spcPts val="500"/>
              </a:spcAft>
              <a:defRPr sz="1900" b="0">
                <a:solidFill>
                  <a:srgbClr val="17263A"/>
                </a:solidFill>
                <a:latin typeface="Arial"/>
              </a:defRPr>
            </a:pPr>
            <a:r>
              <a:rPr sz="1900" b="0">
                <a:solidFill>
                  <a:srgbClr val="17263A"/>
                </a:solidFill>
                <a:latin typeface="Arial"/>
              </a:rPr>
              <a:t>GET /health  •  GET /model</a:t>
            </a:r>
          </a:p>
          <a:p>
            <a:pPr algn="l">
              <a:spcAft>
                <a:spcPts val="500"/>
              </a:spcAft>
              <a:defRPr sz="1900" b="0">
                <a:solidFill>
                  <a:srgbClr val="17263A"/>
                </a:solidFill>
                <a:latin typeface="Arial"/>
              </a:defRPr>
            </a:pPr>
            <a:r>
              <a:rPr sz="1900" b="0">
                <a:solidFill>
                  <a:srgbClr val="17263A"/>
                </a:solidFill>
                <a:latin typeface="Arial"/>
              </a:rPr>
              <a:t>POST /predict  •  POST /predict/eml</a:t>
            </a:r>
          </a:p>
          <a:p>
            <a:pPr algn="l">
              <a:spcAft>
                <a:spcPts val="500"/>
              </a:spcAft>
              <a:defRPr sz="1900" b="0">
                <a:solidFill>
                  <a:srgbClr val="17263A"/>
                </a:solidFill>
                <a:latin typeface="Arial"/>
              </a:defRPr>
            </a:pPr>
            <a:r>
              <a:rPr sz="1900" b="0">
                <a:solidFill>
                  <a:srgbClr val="17263A"/>
                </a:solidFill>
                <a:latin typeface="Arial"/>
              </a:rPr>
              <a:t>Swagger: /docs</a:t>
            </a:r>
          </a:p>
        </p:txBody>
      </p:sp>
      <p:sp>
        <p:nvSpPr>
          <p:cNvPr id="18" name="Rounded Rectangle 17"/>
          <p:cNvSpPr/>
          <p:nvPr/>
        </p:nvSpPr>
        <p:spPr>
          <a:xfrm>
            <a:off x="393192" y="4160520"/>
            <a:ext cx="8321040" cy="411480"/>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9" name="TextBox 18"/>
          <p:cNvSpPr txBox="1"/>
          <p:nvPr/>
        </p:nvSpPr>
        <p:spPr>
          <a:xfrm>
            <a:off x="530352" y="4242816"/>
            <a:ext cx="8037575" cy="292608"/>
          </a:xfrm>
          <a:prstGeom prst="rect">
            <a:avLst/>
          </a:prstGeom>
          <a:noFill/>
        </p:spPr>
        <p:txBody>
          <a:bodyPr wrap="square" lIns="18288" rIns="18288" tIns="18288" bIns="18288">
            <a:spAutoFit/>
          </a:bodyPr>
          <a:lstStyle/>
          <a:p>
            <a:pPr algn="l">
              <a:spcAft>
                <a:spcPts val="500"/>
              </a:spcAft>
              <a:defRPr sz="1320" b="1">
                <a:solidFill>
                  <a:srgbClr val="0066FF"/>
                </a:solidFill>
                <a:latin typeface="Arial"/>
              </a:defRPr>
            </a:pPr>
            <a:r>
              <a:rPr sz="1320" b="1">
                <a:solidFill>
                  <a:srgbClr val="0066FF"/>
                </a:solidFill>
                <a:latin typeface="Arial"/>
              </a:rPr>
              <a:t>При старте проверяются версии и целостность; обучение в HTTP-запросах не выполняется.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Работающий API: интерфейс и проверка</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Демонстрация</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16 / 23</a:t>
            </a:r>
          </a:p>
        </p:txBody>
      </p:sp>
      <p:pic>
        <p:nvPicPr>
          <p:cNvPr id="6" name="Picture 5" descr="api_swagger.png"/>
          <p:cNvPicPr>
            <a:picLocks noChangeAspect="1"/>
          </p:cNvPicPr>
          <p:nvPr/>
        </p:nvPicPr>
        <p:blipFill>
          <a:blip r:embed="rId2"/>
          <a:stretch>
            <a:fillRect/>
          </a:stretch>
        </p:blipFill>
        <p:spPr>
          <a:xfrm>
            <a:off x="420624" y="1060704"/>
            <a:ext cx="5385816" cy="3590544"/>
          </a:xfrm>
          <a:prstGeom prst="rect">
            <a:avLst/>
          </a:prstGeom>
        </p:spPr>
      </p:pic>
      <p:sp>
        <p:nvSpPr>
          <p:cNvPr id="7" name="TextBox 6"/>
          <p:cNvSpPr txBox="1"/>
          <p:nvPr/>
        </p:nvSpPr>
        <p:spPr>
          <a:xfrm>
            <a:off x="6236208" y="1152144"/>
            <a:ext cx="2423160" cy="950976"/>
          </a:xfrm>
          <a:prstGeom prst="rect">
            <a:avLst/>
          </a:prstGeom>
          <a:noFill/>
        </p:spPr>
        <p:txBody>
          <a:bodyPr wrap="square" lIns="18288" rIns="18288" tIns="18288" bIns="18288">
            <a:spAutoFit/>
          </a:bodyPr>
          <a:lstStyle/>
          <a:p>
            <a:pPr algn="l">
              <a:spcAft>
                <a:spcPts val="500"/>
              </a:spcAft>
              <a:defRPr sz="2600" b="1">
                <a:solidFill>
                  <a:srgbClr val="118C78"/>
                </a:solidFill>
                <a:latin typeface="Arial"/>
              </a:defRPr>
            </a:pPr>
            <a:r>
              <a:rPr sz="2600" b="1">
                <a:solidFill>
                  <a:srgbClr val="118C78"/>
                </a:solidFill>
                <a:latin typeface="Arial"/>
              </a:rPr>
              <a:t>20 тестов</a:t>
            </a:r>
          </a:p>
          <a:p>
            <a:pPr algn="l">
              <a:spcAft>
                <a:spcPts val="500"/>
              </a:spcAft>
              <a:defRPr sz="2600" b="1">
                <a:solidFill>
                  <a:srgbClr val="118C78"/>
                </a:solidFill>
                <a:latin typeface="Arial"/>
              </a:defRPr>
            </a:pPr>
            <a:r>
              <a:rPr sz="2600" b="1">
                <a:solidFill>
                  <a:srgbClr val="118C78"/>
                </a:solidFill>
                <a:latin typeface="Arial"/>
              </a:rPr>
              <a:t>пройдены</a:t>
            </a:r>
          </a:p>
        </p:txBody>
      </p:sp>
      <p:sp>
        <p:nvSpPr>
          <p:cNvPr id="8" name="TextBox 7"/>
          <p:cNvSpPr txBox="1"/>
          <p:nvPr/>
        </p:nvSpPr>
        <p:spPr>
          <a:xfrm>
            <a:off x="6236208" y="2395728"/>
            <a:ext cx="2423160" cy="1389888"/>
          </a:xfrm>
          <a:prstGeom prst="rect">
            <a:avLst/>
          </a:prstGeom>
          <a:noFill/>
        </p:spPr>
        <p:txBody>
          <a:bodyPr wrap="square" lIns="18288" rIns="18288" tIns="18288" bIns="18288">
            <a:spAutoFit/>
          </a:bodyPr>
          <a:lstStyle/>
          <a:p>
            <a:pPr algn="l">
              <a:spcAft>
                <a:spcPts val="500"/>
              </a:spcAft>
              <a:defRPr sz="1550" b="0">
                <a:solidFill>
                  <a:srgbClr val="17263A"/>
                </a:solidFill>
                <a:latin typeface="Arial"/>
              </a:defRPr>
            </a:pPr>
            <a:r>
              <a:rPr sz="1550" b="0">
                <a:solidFill>
                  <a:srgbClr val="17263A"/>
                </a:solidFill>
                <a:latin typeface="Arial"/>
              </a:rPr>
              <a:t>JSON и .eml</a:t>
            </a:r>
          </a:p>
          <a:p>
            <a:pPr algn="l">
              <a:spcAft>
                <a:spcPts val="500"/>
              </a:spcAft>
              <a:defRPr sz="1550" b="0">
                <a:solidFill>
                  <a:srgbClr val="17263A"/>
                </a:solidFill>
                <a:latin typeface="Arial"/>
              </a:defRPr>
            </a:pPr>
            <a:r>
              <a:rPr sz="1550" b="0">
                <a:solidFill>
                  <a:srgbClr val="17263A"/>
                </a:solidFill>
                <a:latin typeface="Arial"/>
              </a:rPr>
              <a:t>Healthcheck: OK</a:t>
            </a:r>
          </a:p>
          <a:p>
            <a:pPr algn="l">
              <a:spcAft>
                <a:spcPts val="500"/>
              </a:spcAft>
              <a:defRPr sz="1550" b="0">
                <a:solidFill>
                  <a:srgbClr val="17263A"/>
                </a:solidFill>
                <a:latin typeface="Arial"/>
              </a:defRPr>
            </a:pPr>
            <a:r>
              <a:rPr sz="1550" b="0">
                <a:solidFill>
                  <a:srgbClr val="17263A"/>
                </a:solidFill>
                <a:latin typeface="Arial"/>
              </a:rPr>
              <a:t>Оценки совпали</a:t>
            </a:r>
          </a:p>
          <a:p>
            <a:pPr algn="l">
              <a:spcAft>
                <a:spcPts val="500"/>
              </a:spcAft>
              <a:defRPr sz="1550" b="0">
                <a:solidFill>
                  <a:srgbClr val="17263A"/>
                </a:solidFill>
                <a:latin typeface="Arial"/>
              </a:defRPr>
            </a:pPr>
            <a:r>
              <a:rPr sz="1550" b="0">
                <a:solidFill>
                  <a:srgbClr val="17263A"/>
                </a:solidFill>
                <a:latin typeface="Arial"/>
              </a:rPr>
              <a:t>с экспериментом</a:t>
            </a:r>
          </a:p>
        </p:txBody>
      </p:sp>
      <p:sp>
        <p:nvSpPr>
          <p:cNvPr id="9" name="TextBox 8"/>
          <p:cNvSpPr txBox="1"/>
          <p:nvPr/>
        </p:nvSpPr>
        <p:spPr>
          <a:xfrm>
            <a:off x="6236208" y="3986784"/>
            <a:ext cx="2423160" cy="502920"/>
          </a:xfrm>
          <a:prstGeom prst="rect">
            <a:avLst/>
          </a:prstGeom>
          <a:noFill/>
        </p:spPr>
        <p:txBody>
          <a:bodyPr wrap="square" lIns="18288" rIns="18288" tIns="18288" bIns="18288">
            <a:spAutoFit/>
          </a:bodyPr>
          <a:lstStyle/>
          <a:p>
            <a:pPr algn="l">
              <a:spcAft>
                <a:spcPts val="500"/>
              </a:spcAft>
              <a:defRPr sz="1500" b="0">
                <a:solidFill>
                  <a:srgbClr val="0066FF"/>
                </a:solidFill>
                <a:latin typeface="Arial"/>
              </a:defRPr>
            </a:pPr>
            <a:r>
              <a:rPr sz="1500" b="0" u="sng">
                <a:solidFill>
                  <a:srgbClr val="0066FF"/>
                </a:solidFill>
                <a:latin typeface="Arial"/>
                <a:hlinkClick r:id="rId3"/>
              </a:rPr>
              <a:t>Открыть Swagger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Код и воспроизводимость эксперимента</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Код</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17 / 23</a:t>
            </a:r>
          </a:p>
        </p:txBody>
      </p:sp>
      <p:sp>
        <p:nvSpPr>
          <p:cNvPr id="6" name="TextBox 5"/>
          <p:cNvSpPr txBox="1"/>
          <p:nvPr/>
        </p:nvSpPr>
        <p:spPr>
          <a:xfrm>
            <a:off x="438912" y="1033271"/>
            <a:ext cx="8211312" cy="448056"/>
          </a:xfrm>
          <a:prstGeom prst="rect">
            <a:avLst/>
          </a:prstGeom>
          <a:noFill/>
        </p:spPr>
        <p:txBody>
          <a:bodyPr wrap="square" lIns="18288" rIns="18288" tIns="18288" bIns="18288">
            <a:spAutoFit/>
          </a:bodyPr>
          <a:lstStyle/>
          <a:p>
            <a:pPr algn="l">
              <a:spcAft>
                <a:spcPts val="500"/>
              </a:spcAft>
              <a:defRPr sz="2200" b="0">
                <a:solidFill>
                  <a:srgbClr val="0066FF"/>
                </a:solidFill>
                <a:latin typeface="Arial"/>
              </a:defRPr>
            </a:pPr>
            <a:r>
              <a:rPr sz="2200" b="0" u="sng">
                <a:solidFill>
                  <a:srgbClr val="0066FF"/>
                </a:solidFill>
                <a:latin typeface="Arial"/>
                <a:hlinkClick r:id="rId2"/>
              </a:rPr>
              <a:t>github.com/city-cyber/ML_Cyber</a:t>
            </a:r>
          </a:p>
        </p:txBody>
      </p:sp>
      <p:sp>
        <p:nvSpPr>
          <p:cNvPr id="7" name="TextBox 6"/>
          <p:cNvSpPr txBox="1"/>
          <p:nvPr/>
        </p:nvSpPr>
        <p:spPr>
          <a:xfrm>
            <a:off x="457200" y="1773936"/>
            <a:ext cx="8165592" cy="1536192"/>
          </a:xfrm>
          <a:prstGeom prst="rect">
            <a:avLst/>
          </a:prstGeom>
          <a:noFill/>
        </p:spPr>
        <p:txBody>
          <a:bodyPr wrap="square" lIns="18288" rIns="18288" tIns="18288" bIns="18288">
            <a:spAutoFit/>
          </a:bodyPr>
          <a:lstStyle/>
          <a:p>
            <a:pPr algn="l">
              <a:spcAft>
                <a:spcPts val="500"/>
              </a:spcAft>
              <a:defRPr sz="1650" b="0">
                <a:solidFill>
                  <a:srgbClr val="17263A"/>
                </a:solidFill>
                <a:latin typeface="Arial"/>
              </a:defRPr>
            </a:pPr>
            <a:r>
              <a:rPr sz="1650" b="0">
                <a:solidFill>
                  <a:srgbClr val="17263A"/>
                </a:solidFill>
                <a:latin typeface="Arial"/>
              </a:rPr>
              <a:t>PROJECT_antispam/project/PROJECT.ipynb — основной эксперимент</a:t>
            </a:r>
          </a:p>
          <a:p>
            <a:pPr algn="l">
              <a:spcAft>
                <a:spcPts val="500"/>
              </a:spcAft>
              <a:defRPr sz="1650" b="0">
                <a:solidFill>
                  <a:srgbClr val="17263A"/>
                </a:solidFill>
                <a:latin typeface="Arial"/>
              </a:defRPr>
            </a:pPr>
            <a:r>
              <a:rPr sz="1650" b="0">
                <a:solidFill>
                  <a:srgbClr val="17263A"/>
                </a:solidFill>
                <a:latin typeface="Arial"/>
              </a:rPr>
              <a:t>src/ — предобработка, обучение и экспорт</a:t>
            </a:r>
          </a:p>
          <a:p>
            <a:pPr algn="l">
              <a:spcAft>
                <a:spcPts val="500"/>
              </a:spcAft>
              <a:defRPr sz="1650" b="0">
                <a:solidFill>
                  <a:srgbClr val="17263A"/>
                </a:solidFill>
                <a:latin typeface="Arial"/>
              </a:defRPr>
            </a:pPr>
            <a:r>
              <a:rPr sz="1650" b="0">
                <a:solidFill>
                  <a:srgbClr val="17263A"/>
                </a:solidFill>
                <a:latin typeface="Arial"/>
              </a:rPr>
              <a:t>reports/ — CV, метрики и предсказания</a:t>
            </a:r>
          </a:p>
          <a:p>
            <a:pPr algn="l">
              <a:spcAft>
                <a:spcPts val="500"/>
              </a:spcAft>
              <a:defRPr sz="1650" b="0">
                <a:solidFill>
                  <a:srgbClr val="17263A"/>
                </a:solidFill>
                <a:latin typeface="Arial"/>
              </a:defRPr>
            </a:pPr>
            <a:r>
              <a:rPr sz="1650" b="0">
                <a:solidFill>
                  <a:srgbClr val="17263A"/>
                </a:solidFill>
                <a:latin typeface="Arial"/>
              </a:rPr>
              <a:t>microservice/app/ — API и сохранённая модель</a:t>
            </a:r>
          </a:p>
        </p:txBody>
      </p:sp>
      <p:sp>
        <p:nvSpPr>
          <p:cNvPr id="8" name="Rounded Rectangle 7"/>
          <p:cNvSpPr/>
          <p:nvPr/>
        </p:nvSpPr>
        <p:spPr>
          <a:xfrm>
            <a:off x="438912" y="3593592"/>
            <a:ext cx="8220456" cy="658368"/>
          </a:xfrm>
          <a:prstGeom prst="roundRect">
            <a:avLst/>
          </a:prstGeom>
          <a:solidFill>
            <a:srgbClr val="F3F6F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500"/>
              </a:spcAft>
              <a:defRPr sz="1800" b="1">
                <a:solidFill>
                  <a:srgbClr val="0066FF"/>
                </a:solidFill>
                <a:latin typeface="Arial"/>
              </a:defRPr>
            </a:pPr>
            <a:r>
              <a:rPr sz="1800" b="1">
                <a:solidFill>
                  <a:srgbClr val="0066FF"/>
                </a:solidFill>
                <a:latin typeface="Arial"/>
              </a:rPr>
              <a:t>Запуск: .\start_docker.cmd</a:t>
            </a:r>
          </a:p>
          <a:p>
            <a:pPr algn="l">
              <a:spcAft>
                <a:spcPts val="500"/>
              </a:spcAft>
              <a:defRPr sz="1800" b="1">
                <a:solidFill>
                  <a:srgbClr val="0066FF"/>
                </a:solidFill>
                <a:latin typeface="Arial"/>
              </a:defRPr>
            </a:pPr>
            <a:r>
              <a:rPr sz="1800" b="1">
                <a:solidFill>
                  <a:srgbClr val="0066FF"/>
                </a:solidFill>
                <a:latin typeface="Arial"/>
              </a:rPr>
              <a:t>Готовый образ: .\start_docker.cmd -SkipBuild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Выводы: сильная сторона и главное ограничение</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Выводы</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18 / 23</a:t>
            </a:r>
          </a:p>
        </p:txBody>
      </p:sp>
      <p:sp>
        <p:nvSpPr>
          <p:cNvPr id="6" name="Rounded Rectangle 5"/>
          <p:cNvSpPr/>
          <p:nvPr/>
        </p:nvSpPr>
        <p:spPr>
          <a:xfrm>
            <a:off x="438912" y="1097280"/>
            <a:ext cx="3913632" cy="2423160"/>
          </a:xfrm>
          <a:prstGeom prst="roundRect">
            <a:avLst/>
          </a:prstGeom>
          <a:solidFill>
            <a:srgbClr val="E9F6F0"/>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7" name="TextBox 6"/>
          <p:cNvSpPr txBox="1"/>
          <p:nvPr/>
        </p:nvSpPr>
        <p:spPr>
          <a:xfrm>
            <a:off x="594360" y="1252728"/>
            <a:ext cx="3593592" cy="347472"/>
          </a:xfrm>
          <a:prstGeom prst="rect">
            <a:avLst/>
          </a:prstGeom>
          <a:noFill/>
        </p:spPr>
        <p:txBody>
          <a:bodyPr wrap="square" lIns="18288" rIns="18288" tIns="18288" bIns="18288">
            <a:spAutoFit/>
          </a:bodyPr>
          <a:lstStyle/>
          <a:p>
            <a:pPr algn="l">
              <a:spcAft>
                <a:spcPts val="500"/>
              </a:spcAft>
              <a:defRPr sz="2300" b="1">
                <a:solidFill>
                  <a:srgbClr val="118C78"/>
                </a:solidFill>
                <a:latin typeface="Arial"/>
              </a:defRPr>
            </a:pPr>
            <a:r>
              <a:rPr sz="2300" b="1">
                <a:solidFill>
                  <a:srgbClr val="118C78"/>
                </a:solidFill>
                <a:latin typeface="Arial"/>
              </a:rPr>
              <a:t>Что получилось</a:t>
            </a:r>
          </a:p>
        </p:txBody>
      </p:sp>
      <p:sp>
        <p:nvSpPr>
          <p:cNvPr id="8" name="TextBox 7"/>
          <p:cNvSpPr txBox="1"/>
          <p:nvPr/>
        </p:nvSpPr>
        <p:spPr>
          <a:xfrm>
            <a:off x="594360" y="1874519"/>
            <a:ext cx="3593592" cy="1371600"/>
          </a:xfrm>
          <a:prstGeom prst="rect">
            <a:avLst/>
          </a:prstGeom>
          <a:noFill/>
        </p:spPr>
        <p:txBody>
          <a:bodyPr wrap="square" lIns="18288" rIns="18288" tIns="18288" bIns="18288">
            <a:spAutoFit/>
          </a:bodyPr>
          <a:lstStyle/>
          <a:p>
            <a:pPr algn="l">
              <a:spcAft>
                <a:spcPts val="500"/>
              </a:spcAft>
              <a:defRPr sz="1660" b="0">
                <a:solidFill>
                  <a:srgbClr val="17263A"/>
                </a:solidFill>
                <a:latin typeface="Arial"/>
              </a:defRPr>
            </a:pPr>
            <a:r>
              <a:rPr sz="1660" b="0">
                <a:solidFill>
                  <a:srgbClr val="17263A"/>
                </a:solidFill>
                <a:latin typeface="Arial"/>
              </a:rPr>
              <a:t>Полный ML-конвейер</a:t>
            </a:r>
          </a:p>
          <a:p>
            <a:pPr algn="l">
              <a:spcAft>
                <a:spcPts val="500"/>
              </a:spcAft>
              <a:defRPr sz="1660" b="0">
                <a:solidFill>
                  <a:srgbClr val="17263A"/>
                </a:solidFill>
                <a:latin typeface="Arial"/>
              </a:defRPr>
            </a:pPr>
            <a:r>
              <a:rPr sz="1660" b="0">
                <a:solidFill>
                  <a:srgbClr val="17263A"/>
                </a:solidFill>
                <a:latin typeface="Arial"/>
              </a:rPr>
              <a:t>Защита от утечки</a:t>
            </a:r>
          </a:p>
          <a:p>
            <a:pPr algn="l">
              <a:spcAft>
                <a:spcPts val="500"/>
              </a:spcAft>
              <a:defRPr sz="1660" b="0">
                <a:solidFill>
                  <a:srgbClr val="17263A"/>
                </a:solidFill>
                <a:latin typeface="Arial"/>
              </a:defRPr>
            </a:pPr>
            <a:r>
              <a:rPr sz="1660" b="0">
                <a:solidFill>
                  <a:srgbClr val="17263A"/>
                </a:solidFill>
                <a:latin typeface="Arial"/>
              </a:rPr>
              <a:t>Обоснованный выбор модели</a:t>
            </a:r>
          </a:p>
          <a:p>
            <a:pPr algn="l">
              <a:spcAft>
                <a:spcPts val="500"/>
              </a:spcAft>
              <a:defRPr sz="1660" b="0">
                <a:solidFill>
                  <a:srgbClr val="17263A"/>
                </a:solidFill>
                <a:latin typeface="Arial"/>
              </a:defRPr>
            </a:pPr>
            <a:r>
              <a:rPr sz="1660" b="0">
                <a:solidFill>
                  <a:srgbClr val="17263A"/>
                </a:solidFill>
                <a:latin typeface="Arial"/>
              </a:rPr>
              <a:t>Работающий Docker-сервис</a:t>
            </a:r>
          </a:p>
        </p:txBody>
      </p:sp>
      <p:sp>
        <p:nvSpPr>
          <p:cNvPr id="9" name="Rounded Rectangle 8"/>
          <p:cNvSpPr/>
          <p:nvPr/>
        </p:nvSpPr>
        <p:spPr>
          <a:xfrm>
            <a:off x="4617720" y="1097280"/>
            <a:ext cx="4096512" cy="2423160"/>
          </a:xfrm>
          <a:prstGeom prst="roundRect">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0" name="TextBox 9"/>
          <p:cNvSpPr txBox="1"/>
          <p:nvPr/>
        </p:nvSpPr>
        <p:spPr>
          <a:xfrm>
            <a:off x="4773168" y="1252728"/>
            <a:ext cx="3776472" cy="347472"/>
          </a:xfrm>
          <a:prstGeom prst="rect">
            <a:avLst/>
          </a:prstGeom>
          <a:noFill/>
        </p:spPr>
        <p:txBody>
          <a:bodyPr wrap="square" lIns="18288" rIns="18288" tIns="18288" bIns="18288">
            <a:spAutoFit/>
          </a:bodyPr>
          <a:lstStyle/>
          <a:p>
            <a:pPr algn="l">
              <a:spcAft>
                <a:spcPts val="500"/>
              </a:spcAft>
              <a:defRPr sz="2300" b="1">
                <a:solidFill>
                  <a:srgbClr val="D43B68"/>
                </a:solidFill>
                <a:latin typeface="Arial"/>
              </a:defRPr>
            </a:pPr>
            <a:r>
              <a:rPr sz="2300" b="1">
                <a:solidFill>
                  <a:srgbClr val="D43B68"/>
                </a:solidFill>
                <a:latin typeface="Arial"/>
              </a:rPr>
              <a:t>Что нужно улучшить</a:t>
            </a:r>
          </a:p>
        </p:txBody>
      </p:sp>
      <p:sp>
        <p:nvSpPr>
          <p:cNvPr id="11" name="TextBox 10"/>
          <p:cNvSpPr txBox="1"/>
          <p:nvPr/>
        </p:nvSpPr>
        <p:spPr>
          <a:xfrm>
            <a:off x="4773168" y="1874519"/>
            <a:ext cx="3776472" cy="1371600"/>
          </a:xfrm>
          <a:prstGeom prst="rect">
            <a:avLst/>
          </a:prstGeom>
          <a:noFill/>
        </p:spPr>
        <p:txBody>
          <a:bodyPr wrap="square" lIns="18288" rIns="18288" tIns="18288" bIns="18288">
            <a:spAutoFit/>
          </a:bodyPr>
          <a:lstStyle/>
          <a:p>
            <a:pPr algn="l">
              <a:spcAft>
                <a:spcPts val="500"/>
              </a:spcAft>
              <a:defRPr sz="1600" b="0">
                <a:solidFill>
                  <a:srgbClr val="17263A"/>
                </a:solidFill>
                <a:latin typeface="Arial"/>
              </a:defRPr>
            </a:pPr>
            <a:r>
              <a:rPr sz="1600" b="0">
                <a:solidFill>
                  <a:srgbClr val="17263A"/>
                </a:solidFill>
                <a:latin typeface="Arial"/>
              </a:rPr>
              <a:t>Recall строгой политики — 39,1%</a:t>
            </a:r>
          </a:p>
          <a:p>
            <a:pPr algn="l">
              <a:spcAft>
                <a:spcPts val="500"/>
              </a:spcAft>
              <a:defRPr sz="1600" b="0">
                <a:solidFill>
                  <a:srgbClr val="17263A"/>
                </a:solidFill>
                <a:latin typeface="Arial"/>
              </a:defRPr>
            </a:pPr>
            <a:r>
              <a:rPr sz="1600" b="0">
                <a:solidFill>
                  <a:srgbClr val="17263A"/>
                </a:solidFill>
                <a:latin typeface="Arial"/>
              </a:rPr>
              <a:t>Исторические англоязычные данные</a:t>
            </a:r>
          </a:p>
          <a:p>
            <a:pPr algn="l">
              <a:spcAft>
                <a:spcPts val="500"/>
              </a:spcAft>
              <a:defRPr sz="1600" b="0">
                <a:solidFill>
                  <a:srgbClr val="17263A"/>
                </a:solidFill>
                <a:latin typeface="Arial"/>
              </a:defRPr>
            </a:pPr>
            <a:r>
              <a:rPr sz="1600" b="0">
                <a:solidFill>
                  <a:srgbClr val="17263A"/>
                </a:solidFill>
                <a:latin typeface="Arial"/>
              </a:rPr>
              <a:t>Точный поиск повторов</a:t>
            </a:r>
          </a:p>
          <a:p>
            <a:pPr algn="l">
              <a:spcAft>
                <a:spcPts val="500"/>
              </a:spcAft>
              <a:defRPr sz="1600" b="0">
                <a:solidFill>
                  <a:srgbClr val="17263A"/>
                </a:solidFill>
                <a:latin typeface="Arial"/>
              </a:defRPr>
            </a:pPr>
            <a:r>
              <a:rPr sz="1600" b="0">
                <a:solidFill>
                  <a:srgbClr val="17263A"/>
                </a:solidFill>
                <a:latin typeface="Arial"/>
              </a:rPr>
              <a:t>не исключает близкие шаблоны</a:t>
            </a:r>
          </a:p>
        </p:txBody>
      </p:sp>
      <p:sp>
        <p:nvSpPr>
          <p:cNvPr id="12" name="Rounded Rectangle 11"/>
          <p:cNvSpPr/>
          <p:nvPr/>
        </p:nvSpPr>
        <p:spPr>
          <a:xfrm>
            <a:off x="393192" y="4078224"/>
            <a:ext cx="8321040" cy="466344"/>
          </a:xfrm>
          <a:prstGeom prst="round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l">
              <a:spcAft>
                <a:spcPts val="500"/>
              </a:spcAft>
              <a:defRPr sz="1800" b="0">
                <a:solidFill>
                  <a:srgbClr val="17263A"/>
                </a:solidFill>
                <a:latin typeface="Arial"/>
              </a:defRPr>
            </a:pPr>
          </a:p>
        </p:txBody>
      </p:sp>
      <p:sp>
        <p:nvSpPr>
          <p:cNvPr id="13" name="TextBox 12"/>
          <p:cNvSpPr txBox="1"/>
          <p:nvPr/>
        </p:nvSpPr>
        <p:spPr>
          <a:xfrm>
            <a:off x="530352" y="4160520"/>
            <a:ext cx="8037575" cy="347472"/>
          </a:xfrm>
          <a:prstGeom prst="rect">
            <a:avLst/>
          </a:prstGeom>
          <a:noFill/>
        </p:spPr>
        <p:txBody>
          <a:bodyPr wrap="square" lIns="18288" rIns="18288" tIns="18288" bIns="18288">
            <a:spAutoFit/>
          </a:bodyPr>
          <a:lstStyle/>
          <a:p>
            <a:pPr algn="l">
              <a:spcAft>
                <a:spcPts val="500"/>
              </a:spcAft>
              <a:defRPr sz="1320" b="1">
                <a:solidFill>
                  <a:srgbClr val="0066FF"/>
                </a:solidFill>
                <a:latin typeface="Arial"/>
              </a:defRPr>
            </a:pPr>
            <a:r>
              <a:rPr sz="1320" b="1">
                <a:solidFill>
                  <a:srgbClr val="0066FF"/>
                </a:solidFill>
                <a:latin typeface="Arial"/>
              </a:rPr>
              <a:t>Следующий эксперимент: порог для каждого кандидата + новый независимый контроль.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Дополнительные вопросы: развитие системы</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Перспективы</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19 / 23</a:t>
            </a:r>
          </a:p>
        </p:txBody>
      </p:sp>
      <p:graphicFrame>
        <p:nvGraphicFramePr>
          <p:cNvPr id="6" name="Table 5"/>
          <p:cNvGraphicFramePr>
            <a:graphicFrameLocks noGrp="1"/>
          </p:cNvGraphicFramePr>
          <p:nvPr/>
        </p:nvGraphicFramePr>
        <p:xfrm>
          <a:off x="393192" y="1124712"/>
          <a:ext cx="8321040" cy="3438144"/>
        </p:xfrm>
        <a:graphic>
          <a:graphicData uri="http://schemas.openxmlformats.org/drawingml/2006/table">
            <a:tbl>
              <a:tblPr firstRow="1" bandRow="1">
                <a:tableStyleId>{5C22544A-7EE6-4342-B048-85BDC9FD1C3A}</a:tableStyleId>
              </a:tblPr>
              <a:tblGrid>
                <a:gridCol w="2057400"/>
                <a:gridCol w="6263640"/>
              </a:tblGrid>
              <a:tr h="859536">
                <a:tc>
                  <a:txBody>
                    <a:bodyPr/>
                    <a:lstStyle/>
                    <a:p>
                      <a:pPr>
                        <a:spcAft>
                          <a:spcPts val="0"/>
                        </a:spcAft>
                        <a:defRPr sz="1540" b="1">
                          <a:solidFill>
                            <a:srgbClr val="FFFFFF"/>
                          </a:solidFill>
                          <a:latin typeface="Arial"/>
                        </a:defRPr>
                      </a:pPr>
                      <a:r>
                        <a:rPr sz="1540" b="1">
                          <a:solidFill>
                            <a:srgbClr val="FFFFFF"/>
                          </a:solidFill>
                          <a:latin typeface="Arial"/>
                        </a:rPr>
                        <a:t>Направление</a:t>
                      </a:r>
                    </a:p>
                  </a:txBody>
                  <a:tcPr marL="91440" marR="64008" marT="59436" marB="32004" anchor="ctr">
                    <a:solidFill>
                      <a:srgbClr val="0066FF"/>
                    </a:solidFill>
                  </a:tcPr>
                </a:tc>
                <a:tc>
                  <a:txBody>
                    <a:bodyPr/>
                    <a:lstStyle/>
                    <a:p>
                      <a:pPr algn="ctr">
                        <a:spcAft>
                          <a:spcPts val="0"/>
                        </a:spcAft>
                        <a:defRPr sz="1540" b="1">
                          <a:solidFill>
                            <a:srgbClr val="FFFFFF"/>
                          </a:solidFill>
                          <a:latin typeface="Arial"/>
                        </a:defRPr>
                      </a:pPr>
                      <a:r>
                        <a:rPr sz="1540" b="1">
                          <a:solidFill>
                            <a:srgbClr val="FFFFFF"/>
                          </a:solidFill>
                          <a:latin typeface="Arial"/>
                        </a:rPr>
                        <a:t>Предлагаемый подход</a:t>
                      </a:r>
                    </a:p>
                  </a:txBody>
                  <a:tcPr marL="91440" marR="64008" marT="59436" marB="32004" anchor="ctr">
                    <a:solidFill>
                      <a:srgbClr val="0066FF"/>
                    </a:solidFill>
                  </a:tcPr>
                </a:tc>
              </a:tr>
              <a:tr h="859536">
                <a:tc>
                  <a:txBody>
                    <a:bodyPr/>
                    <a:lstStyle/>
                    <a:p>
                      <a:pPr>
                        <a:spcAft>
                          <a:spcPts val="0"/>
                        </a:spcAft>
                        <a:defRPr sz="1540" b="0">
                          <a:solidFill>
                            <a:srgbClr val="17263A"/>
                          </a:solidFill>
                          <a:latin typeface="Arial"/>
                        </a:defRPr>
                      </a:pPr>
                      <a:r>
                        <a:rPr sz="1540" b="0">
                          <a:solidFill>
                            <a:srgbClr val="17263A"/>
                          </a:solidFill>
                          <a:latin typeface="Arial"/>
                        </a:rPr>
                        <a:t>Мультиязычность</a:t>
                      </a:r>
                    </a:p>
                  </a:txBody>
                  <a:tcPr marL="91440" marR="64008" marT="59436" marB="32004" anchor="ctr">
                    <a:solidFill>
                      <a:srgbClr val="F3F6FB"/>
                    </a:solidFill>
                  </a:tcPr>
                </a:tc>
                <a:tc>
                  <a:txBody>
                    <a:bodyPr/>
                    <a:lstStyle/>
                    <a:p>
                      <a:pPr algn="ctr">
                        <a:spcAft>
                          <a:spcPts val="0"/>
                        </a:spcAft>
                        <a:defRPr sz="1540" b="0">
                          <a:solidFill>
                            <a:srgbClr val="17263A"/>
                          </a:solidFill>
                          <a:latin typeface="Arial"/>
                        </a:defRPr>
                      </a:pPr>
                      <a:r>
                        <a:rPr sz="1540" b="0">
                          <a:solidFill>
                            <a:srgbClr val="17263A"/>
                          </a:solidFill>
                          <a:latin typeface="Arial"/>
                        </a:rPr>
                        <a:t>Разметка разных языков; метрики по языкам;</a:t>
                      </a:r>
                    </a:p>
                    <a:p>
                      <a:pPr algn="ctr">
                        <a:spcAft>
                          <a:spcPts val="0"/>
                        </a:spcAft>
                        <a:defRPr sz="1540" b="0">
                          <a:solidFill>
                            <a:srgbClr val="17263A"/>
                          </a:solidFill>
                          <a:latin typeface="Arial"/>
                        </a:defRPr>
                      </a:pPr>
                      <a:r>
                        <a:rPr sz="1540" b="0">
                          <a:solidFill>
                            <a:srgbClr val="17263A"/>
                          </a:solidFill>
                          <a:latin typeface="Arial"/>
                        </a:rPr>
                        <a:t>символьные n-граммы или multilingual embeddings</a:t>
                      </a:r>
                    </a:p>
                  </a:txBody>
                  <a:tcPr marL="91440" marR="64008" marT="59436" marB="32004" anchor="ctr">
                    <a:solidFill>
                      <a:srgbClr val="F3F6FB"/>
                    </a:solidFill>
                  </a:tcPr>
                </a:tc>
              </a:tr>
              <a:tr h="859536">
                <a:tc>
                  <a:txBody>
                    <a:bodyPr/>
                    <a:lstStyle/>
                    <a:p>
                      <a:pPr>
                        <a:spcAft>
                          <a:spcPts val="0"/>
                        </a:spcAft>
                        <a:defRPr sz="1540" b="0">
                          <a:solidFill>
                            <a:srgbClr val="17263A"/>
                          </a:solidFill>
                          <a:latin typeface="Arial"/>
                        </a:defRPr>
                      </a:pPr>
                      <a:r>
                        <a:rPr sz="1540" b="0">
                          <a:solidFill>
                            <a:srgbClr val="17263A"/>
                          </a:solidFill>
                          <a:latin typeface="Arial"/>
                        </a:rPr>
                        <a:t>Concept drift</a:t>
                      </a:r>
                    </a:p>
                  </a:txBody>
                  <a:tcPr marL="91440" marR="64008" marT="59436" marB="32004" anchor="ctr">
                    <a:solidFill>
                      <a:srgbClr val="FFFFFF"/>
                    </a:solidFill>
                  </a:tcPr>
                </a:tc>
                <a:tc>
                  <a:txBody>
                    <a:bodyPr/>
                    <a:lstStyle/>
                    <a:p>
                      <a:pPr algn="ctr">
                        <a:spcAft>
                          <a:spcPts val="0"/>
                        </a:spcAft>
                        <a:defRPr sz="1540" b="0">
                          <a:solidFill>
                            <a:srgbClr val="17263A"/>
                          </a:solidFill>
                          <a:latin typeface="Arial"/>
                        </a:defRPr>
                      </a:pPr>
                      <a:r>
                        <a:rPr sz="1540" b="0">
                          <a:solidFill>
                            <a:srgbClr val="17263A"/>
                          </a:solidFill>
                          <a:latin typeface="Arial"/>
                        </a:rPr>
                        <a:t>Мониторинг распределений и обратной связи;</a:t>
                      </a:r>
                    </a:p>
                    <a:p>
                      <a:pPr algn="ctr">
                        <a:spcAft>
                          <a:spcPts val="0"/>
                        </a:spcAft>
                        <a:defRPr sz="1540" b="0">
                          <a:solidFill>
                            <a:srgbClr val="17263A"/>
                          </a:solidFill>
                          <a:latin typeface="Arial"/>
                        </a:defRPr>
                      </a:pPr>
                      <a:r>
                        <a:rPr sz="1540" b="0">
                          <a:solidFill>
                            <a:srgbClr val="17263A"/>
                          </a:solidFill>
                          <a:latin typeface="Arial"/>
                        </a:rPr>
                        <a:t>новая валидация порога и регулярное переобучение</a:t>
                      </a:r>
                    </a:p>
                  </a:txBody>
                  <a:tcPr marL="91440" marR="64008" marT="59436" marB="32004" anchor="ctr">
                    <a:solidFill>
                      <a:srgbClr val="FFFFFF"/>
                    </a:solidFill>
                  </a:tcPr>
                </a:tc>
              </a:tr>
              <a:tr h="859536">
                <a:tc>
                  <a:txBody>
                    <a:bodyPr/>
                    <a:lstStyle/>
                    <a:p>
                      <a:pPr>
                        <a:spcAft>
                          <a:spcPts val="0"/>
                        </a:spcAft>
                        <a:defRPr sz="1540" b="0">
                          <a:solidFill>
                            <a:srgbClr val="17263A"/>
                          </a:solidFill>
                          <a:latin typeface="Arial"/>
                        </a:defRPr>
                      </a:pPr>
                      <a:r>
                        <a:rPr sz="1540" b="0">
                          <a:solidFill>
                            <a:srgbClr val="17263A"/>
                          </a:solidFill>
                          <a:latin typeface="Arial"/>
                        </a:rPr>
                        <a:t>Полуобучение</a:t>
                      </a:r>
                    </a:p>
                  </a:txBody>
                  <a:tcPr marL="91440" marR="64008" marT="59436" marB="32004" anchor="ctr">
                    <a:solidFill>
                      <a:srgbClr val="F3F6FB"/>
                    </a:solidFill>
                  </a:tcPr>
                </a:tc>
                <a:tc>
                  <a:txBody>
                    <a:bodyPr/>
                    <a:lstStyle/>
                    <a:p>
                      <a:pPr algn="ctr">
                        <a:spcAft>
                          <a:spcPts val="0"/>
                        </a:spcAft>
                        <a:defRPr sz="1540" b="0">
                          <a:solidFill>
                            <a:srgbClr val="17263A"/>
                          </a:solidFill>
                          <a:latin typeface="Arial"/>
                        </a:defRPr>
                      </a:pPr>
                      <a:r>
                        <a:rPr sz="1540" b="0">
                          <a:solidFill>
                            <a:srgbClr val="17263A"/>
                          </a:solidFill>
                          <a:latin typeface="Arial"/>
                        </a:rPr>
                        <a:t>Ручная проверка спорных писем; осторожная</a:t>
                      </a:r>
                    </a:p>
                    <a:p>
                      <a:pPr algn="ctr">
                        <a:spcAft>
                          <a:spcPts val="0"/>
                        </a:spcAft>
                        <a:defRPr sz="1540" b="0">
                          <a:solidFill>
                            <a:srgbClr val="17263A"/>
                          </a:solidFill>
                          <a:latin typeface="Arial"/>
                        </a:defRPr>
                      </a:pPr>
                      <a:r>
                        <a:rPr sz="1540" b="0">
                          <a:solidFill>
                            <a:srgbClr val="17263A"/>
                          </a:solidFill>
                          <a:latin typeface="Arial"/>
                        </a:rPr>
                        <a:t>псевдоразметка с независимым контролем</a:t>
                      </a:r>
                    </a:p>
                  </a:txBody>
                  <a:tcPr marL="91440" marR="64008" marT="59436" marB="32004" anchor="ctr">
                    <a:solidFill>
                      <a:srgbClr val="F3F6FB"/>
                    </a:solidFill>
                  </a:tcPr>
                </a:tc>
              </a:tr>
            </a:tbl>
          </a:graphicData>
        </a:graphic>
      </p:graphicFrame>
      <p:sp>
        <p:nvSpPr>
          <p:cNvPr id="7" name="TextBox 6"/>
          <p:cNvSpPr txBox="1"/>
          <p:nvPr/>
        </p:nvSpPr>
        <p:spPr>
          <a:xfrm>
            <a:off x="457200" y="4078224"/>
            <a:ext cx="8183879" cy="475488"/>
          </a:xfrm>
          <a:prstGeom prst="rect">
            <a:avLst/>
          </a:prstGeom>
          <a:noFill/>
        </p:spPr>
        <p:txBody>
          <a:bodyPr wrap="square" lIns="18288" rIns="18288" tIns="18288" bIns="18288">
            <a:spAutoFit/>
          </a:bodyPr>
          <a:lstStyle/>
          <a:p>
            <a:pPr algn="l">
              <a:spcAft>
                <a:spcPts val="500"/>
              </a:spcAft>
              <a:defRPr sz="1400" b="1">
                <a:solidFill>
                  <a:srgbClr val="D43B68"/>
                </a:solidFill>
                <a:latin typeface="Arial"/>
              </a:defRPr>
            </a:pPr>
            <a:r>
              <a:rPr sz="1400" b="1">
                <a:solidFill>
                  <a:srgbClr val="D43B68"/>
                </a:solidFill>
                <a:latin typeface="Arial"/>
              </a:rPr>
              <a:t>Для новой настройки нужен свежий контроль: текущий набор уже использован для оценки.</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Приложение: полный и очищенный внешний контроль</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877824"/>
            <a:ext cx="8275320" cy="365760"/>
          </a:xfrm>
          <a:prstGeom prst="rect">
            <a:avLst/>
          </a:prstGeom>
          <a:noFill/>
        </p:spPr>
        <p:txBody>
          <a:bodyPr wrap="square" lIns="18288" rIns="18288" tIns="18288" bIns="18288">
            <a:spAutoFit/>
          </a:bodyPr>
          <a:lstStyle/>
          <a:p>
            <a:pPr algn="l">
              <a:spcAft>
                <a:spcPts val="500"/>
              </a:spcAft>
              <a:defRPr sz="1250" b="0">
                <a:solidFill>
                  <a:srgbClr val="607087"/>
                </a:solidFill>
                <a:latin typeface="Arial"/>
              </a:defRPr>
            </a:pPr>
            <a:r>
              <a:rPr sz="1250" b="0">
                <a:solidFill>
                  <a:srgbClr val="607087"/>
                </a:solidFill>
                <a:latin typeface="Arial"/>
              </a:rPr>
              <a:t>Основная проверка задания включает все 1600 писем. Очистка контроля показана отдельно.</a:t>
            </a:r>
          </a:p>
        </p:txBody>
      </p:sp>
      <p:sp>
        <p:nvSpPr>
          <p:cNvPr id="5" name="TextBox 4"/>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Приложение</a:t>
            </a:r>
          </a:p>
        </p:txBody>
      </p:sp>
      <p:sp>
        <p:nvSpPr>
          <p:cNvPr id="6"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21 / 23</a:t>
            </a:r>
          </a:p>
        </p:txBody>
      </p:sp>
      <p:graphicFrame>
        <p:nvGraphicFramePr>
          <p:cNvPr id="7" name="Table 6"/>
          <p:cNvGraphicFramePr>
            <a:graphicFrameLocks noGrp="1"/>
          </p:cNvGraphicFramePr>
          <p:nvPr/>
        </p:nvGraphicFramePr>
        <p:xfrm>
          <a:off x="393192" y="1353312"/>
          <a:ext cx="8321040" cy="2331720"/>
        </p:xfrm>
        <a:graphic>
          <a:graphicData uri="http://schemas.openxmlformats.org/drawingml/2006/table">
            <a:tbl>
              <a:tblPr firstRow="1" bandRow="1">
                <a:tableStyleId>{5C22544A-7EE6-4342-B048-85BDC9FD1C3A}</a:tableStyleId>
              </a:tblPr>
              <a:tblGrid>
                <a:gridCol w="2880360"/>
                <a:gridCol w="1371600"/>
                <a:gridCol w="1371600"/>
                <a:gridCol w="1188720"/>
                <a:gridCol w="731520"/>
                <a:gridCol w="777240"/>
              </a:tblGrid>
              <a:tr h="466344">
                <a:tc>
                  <a:txBody>
                    <a:bodyPr/>
                    <a:lstStyle/>
                    <a:p>
                      <a:pPr>
                        <a:spcAft>
                          <a:spcPts val="0"/>
                        </a:spcAft>
                        <a:defRPr sz="1340" b="1">
                          <a:solidFill>
                            <a:srgbClr val="FFFFFF"/>
                          </a:solidFill>
                          <a:latin typeface="Arial"/>
                        </a:defRPr>
                      </a:pPr>
                      <a:r>
                        <a:rPr sz="1340" b="1">
                          <a:solidFill>
                            <a:srgbClr val="FFFFFF"/>
                          </a:solidFill>
                          <a:latin typeface="Arial"/>
                        </a:rPr>
                        <a:t>Набор / политика</a:t>
                      </a:r>
                    </a:p>
                  </a:txBody>
                  <a:tcPr marL="91440" marR="64008" marT="59436" marB="32004" anchor="ctr">
                    <a:solidFill>
                      <a:srgbClr val="0066FF"/>
                    </a:solidFill>
                  </a:tcPr>
                </a:tc>
                <a:tc>
                  <a:txBody>
                    <a:bodyPr/>
                    <a:lstStyle/>
                    <a:p>
                      <a:pPr algn="ctr">
                        <a:spcAft>
                          <a:spcPts val="0"/>
                        </a:spcAft>
                        <a:defRPr sz="1340" b="1">
                          <a:solidFill>
                            <a:srgbClr val="FFFFFF"/>
                          </a:solidFill>
                          <a:latin typeface="Arial"/>
                        </a:defRPr>
                      </a:pPr>
                      <a:r>
                        <a:rPr sz="1340" b="1">
                          <a:solidFill>
                            <a:srgbClr val="FFFFFF"/>
                          </a:solidFill>
                          <a:latin typeface="Arial"/>
                        </a:rPr>
                        <a:t>Precision</a:t>
                      </a:r>
                    </a:p>
                  </a:txBody>
                  <a:tcPr marL="91440" marR="64008" marT="59436" marB="32004" anchor="ctr">
                    <a:solidFill>
                      <a:srgbClr val="0066FF"/>
                    </a:solidFill>
                  </a:tcPr>
                </a:tc>
                <a:tc>
                  <a:txBody>
                    <a:bodyPr/>
                    <a:lstStyle/>
                    <a:p>
                      <a:pPr algn="ctr">
                        <a:spcAft>
                          <a:spcPts val="0"/>
                        </a:spcAft>
                        <a:defRPr sz="1340" b="1">
                          <a:solidFill>
                            <a:srgbClr val="FFFFFF"/>
                          </a:solidFill>
                          <a:latin typeface="Arial"/>
                        </a:defRPr>
                      </a:pPr>
                      <a:r>
                        <a:rPr sz="1340" b="1">
                          <a:solidFill>
                            <a:srgbClr val="FFFFFF"/>
                          </a:solidFill>
                          <a:latin typeface="Arial"/>
                        </a:rPr>
                        <a:t>Recall</a:t>
                      </a:r>
                    </a:p>
                  </a:txBody>
                  <a:tcPr marL="91440" marR="64008" marT="59436" marB="32004" anchor="ctr">
                    <a:solidFill>
                      <a:srgbClr val="0066FF"/>
                    </a:solidFill>
                  </a:tcPr>
                </a:tc>
                <a:tc>
                  <a:txBody>
                    <a:bodyPr/>
                    <a:lstStyle/>
                    <a:p>
                      <a:pPr algn="ctr">
                        <a:spcAft>
                          <a:spcPts val="0"/>
                        </a:spcAft>
                        <a:defRPr sz="1340" b="1">
                          <a:solidFill>
                            <a:srgbClr val="FFFFFF"/>
                          </a:solidFill>
                          <a:latin typeface="Arial"/>
                        </a:defRPr>
                      </a:pPr>
                      <a:r>
                        <a:rPr sz="1340" b="1">
                          <a:solidFill>
                            <a:srgbClr val="FFFFFF"/>
                          </a:solidFill>
                          <a:latin typeface="Arial"/>
                        </a:rPr>
                        <a:t>F1</a:t>
                      </a:r>
                    </a:p>
                  </a:txBody>
                  <a:tcPr marL="91440" marR="64008" marT="59436" marB="32004" anchor="ctr">
                    <a:solidFill>
                      <a:srgbClr val="0066FF"/>
                    </a:solidFill>
                  </a:tcPr>
                </a:tc>
                <a:tc>
                  <a:txBody>
                    <a:bodyPr/>
                    <a:lstStyle/>
                    <a:p>
                      <a:pPr algn="ctr">
                        <a:spcAft>
                          <a:spcPts val="0"/>
                        </a:spcAft>
                        <a:defRPr sz="1340" b="1">
                          <a:solidFill>
                            <a:srgbClr val="FFFFFF"/>
                          </a:solidFill>
                          <a:latin typeface="Arial"/>
                        </a:defRPr>
                      </a:pPr>
                      <a:r>
                        <a:rPr sz="1340" b="1">
                          <a:solidFill>
                            <a:srgbClr val="FFFFFF"/>
                          </a:solidFill>
                          <a:latin typeface="Arial"/>
                        </a:rPr>
                        <a:t>FP</a:t>
                      </a:r>
                    </a:p>
                  </a:txBody>
                  <a:tcPr marL="91440" marR="64008" marT="59436" marB="32004" anchor="ctr">
                    <a:solidFill>
                      <a:srgbClr val="0066FF"/>
                    </a:solidFill>
                  </a:tcPr>
                </a:tc>
                <a:tc>
                  <a:txBody>
                    <a:bodyPr/>
                    <a:lstStyle/>
                    <a:p>
                      <a:pPr algn="ctr">
                        <a:spcAft>
                          <a:spcPts val="0"/>
                        </a:spcAft>
                        <a:defRPr sz="1340" b="1">
                          <a:solidFill>
                            <a:srgbClr val="FFFFFF"/>
                          </a:solidFill>
                          <a:latin typeface="Arial"/>
                        </a:defRPr>
                      </a:pPr>
                      <a:r>
                        <a:rPr sz="1340" b="1">
                          <a:solidFill>
                            <a:srgbClr val="FFFFFF"/>
                          </a:solidFill>
                          <a:latin typeface="Arial"/>
                        </a:rPr>
                        <a:t>FN</a:t>
                      </a:r>
                    </a:p>
                  </a:txBody>
                  <a:tcPr marL="91440" marR="64008" marT="59436" marB="32004" anchor="ctr">
                    <a:solidFill>
                      <a:srgbClr val="0066FF"/>
                    </a:solidFill>
                  </a:tcPr>
                </a:tc>
              </a:tr>
              <a:tr h="466344">
                <a:tc>
                  <a:txBody>
                    <a:bodyPr/>
                    <a:lstStyle/>
                    <a:p>
                      <a:pPr>
                        <a:spcAft>
                          <a:spcPts val="0"/>
                        </a:spcAft>
                        <a:defRPr sz="1340" b="0">
                          <a:solidFill>
                            <a:srgbClr val="17263A"/>
                          </a:solidFill>
                          <a:latin typeface="Arial"/>
                        </a:defRPr>
                      </a:pPr>
                      <a:r>
                        <a:rPr sz="1340" b="0">
                          <a:solidFill>
                            <a:srgbClr val="17263A"/>
                          </a:solidFill>
                          <a:latin typeface="Arial"/>
                        </a:rPr>
                        <a:t>1600 • стандартный</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99,63%</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81,20%</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0,8948</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3</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188</a:t>
                      </a:r>
                    </a:p>
                  </a:txBody>
                  <a:tcPr marL="91440" marR="64008" marT="59436" marB="32004" anchor="ctr">
                    <a:solidFill>
                      <a:srgbClr val="F3F6FB"/>
                    </a:solidFill>
                  </a:tcPr>
                </a:tc>
              </a:tr>
              <a:tr h="466344">
                <a:tc>
                  <a:txBody>
                    <a:bodyPr/>
                    <a:lstStyle/>
                    <a:p>
                      <a:pPr>
                        <a:spcAft>
                          <a:spcPts val="0"/>
                        </a:spcAft>
                        <a:defRPr sz="1340" b="0">
                          <a:solidFill>
                            <a:srgbClr val="17263A"/>
                          </a:solidFill>
                          <a:latin typeface="Arial"/>
                        </a:defRPr>
                      </a:pPr>
                      <a:r>
                        <a:rPr sz="1340" b="0">
                          <a:solidFill>
                            <a:srgbClr val="17263A"/>
                          </a:solidFill>
                          <a:latin typeface="Arial"/>
                        </a:rPr>
                        <a:t>1600 • строгий</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100,00%</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39,10%</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0,5622</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0</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609</a:t>
                      </a:r>
                    </a:p>
                  </a:txBody>
                  <a:tcPr marL="91440" marR="64008" marT="59436" marB="32004" anchor="ctr">
                    <a:solidFill>
                      <a:srgbClr val="FFFFFF"/>
                    </a:solidFill>
                  </a:tcPr>
                </a:tc>
              </a:tr>
              <a:tr h="466344">
                <a:tc>
                  <a:txBody>
                    <a:bodyPr/>
                    <a:lstStyle/>
                    <a:p>
                      <a:pPr>
                        <a:spcAft>
                          <a:spcPts val="0"/>
                        </a:spcAft>
                        <a:defRPr sz="1340" b="0">
                          <a:solidFill>
                            <a:srgbClr val="17263A"/>
                          </a:solidFill>
                          <a:latin typeface="Arial"/>
                        </a:defRPr>
                      </a:pPr>
                      <a:r>
                        <a:rPr sz="1340" b="0">
                          <a:solidFill>
                            <a:srgbClr val="17263A"/>
                          </a:solidFill>
                          <a:latin typeface="Arial"/>
                        </a:rPr>
                        <a:t>1493 • стандартный</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99,59%</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80,84%</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0,8924</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3</a:t>
                      </a:r>
                    </a:p>
                  </a:txBody>
                  <a:tcPr marL="91440" marR="64008" marT="59436" marB="32004" anchor="ctr">
                    <a:solidFill>
                      <a:srgbClr val="F3F6FB"/>
                    </a:solidFill>
                  </a:tcPr>
                </a:tc>
                <a:tc>
                  <a:txBody>
                    <a:bodyPr/>
                    <a:lstStyle/>
                    <a:p>
                      <a:pPr algn="ctr">
                        <a:spcAft>
                          <a:spcPts val="0"/>
                        </a:spcAft>
                        <a:defRPr sz="1340" b="0">
                          <a:solidFill>
                            <a:srgbClr val="17263A"/>
                          </a:solidFill>
                          <a:latin typeface="Arial"/>
                        </a:defRPr>
                      </a:pPr>
                      <a:r>
                        <a:rPr sz="1340" b="0">
                          <a:solidFill>
                            <a:srgbClr val="17263A"/>
                          </a:solidFill>
                          <a:latin typeface="Arial"/>
                        </a:rPr>
                        <a:t>173</a:t>
                      </a:r>
                    </a:p>
                  </a:txBody>
                  <a:tcPr marL="91440" marR="64008" marT="59436" marB="32004" anchor="ctr">
                    <a:solidFill>
                      <a:srgbClr val="F3F6FB"/>
                    </a:solidFill>
                  </a:tcPr>
                </a:tc>
              </a:tr>
              <a:tr h="466344">
                <a:tc>
                  <a:txBody>
                    <a:bodyPr/>
                    <a:lstStyle/>
                    <a:p>
                      <a:pPr>
                        <a:spcAft>
                          <a:spcPts val="0"/>
                        </a:spcAft>
                        <a:defRPr sz="1340" b="0">
                          <a:solidFill>
                            <a:srgbClr val="17263A"/>
                          </a:solidFill>
                          <a:latin typeface="Arial"/>
                        </a:defRPr>
                      </a:pPr>
                      <a:r>
                        <a:rPr sz="1340" b="0">
                          <a:solidFill>
                            <a:srgbClr val="17263A"/>
                          </a:solidFill>
                          <a:latin typeface="Arial"/>
                        </a:rPr>
                        <a:t>1493 • строгий</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100,00%</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38,87%</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0,5598</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0</a:t>
                      </a:r>
                    </a:p>
                  </a:txBody>
                  <a:tcPr marL="91440" marR="64008" marT="59436" marB="32004" anchor="ctr">
                    <a:solidFill>
                      <a:srgbClr val="FFFFFF"/>
                    </a:solidFill>
                  </a:tcPr>
                </a:tc>
                <a:tc>
                  <a:txBody>
                    <a:bodyPr/>
                    <a:lstStyle/>
                    <a:p>
                      <a:pPr algn="ctr">
                        <a:spcAft>
                          <a:spcPts val="0"/>
                        </a:spcAft>
                        <a:defRPr sz="1340" b="0">
                          <a:solidFill>
                            <a:srgbClr val="17263A"/>
                          </a:solidFill>
                          <a:latin typeface="Arial"/>
                        </a:defRPr>
                      </a:pPr>
                      <a:r>
                        <a:rPr sz="1340" b="0">
                          <a:solidFill>
                            <a:srgbClr val="17263A"/>
                          </a:solidFill>
                          <a:latin typeface="Arial"/>
                        </a:rPr>
                        <a:t>552</a:t>
                      </a:r>
                    </a:p>
                  </a:txBody>
                  <a:tcPr marL="91440" marR="64008" marT="59436" marB="32004" anchor="ctr">
                    <a:solidFill>
                      <a:srgbClr val="FFFFFF"/>
                    </a:solidFill>
                  </a:tcPr>
                </a:tc>
              </a:tr>
            </a:tbl>
          </a:graphicData>
        </a:graphic>
      </p:graphicFrame>
      <p:sp>
        <p:nvSpPr>
          <p:cNvPr id="8" name="TextBox 7"/>
          <p:cNvSpPr txBox="1"/>
          <p:nvPr/>
        </p:nvSpPr>
        <p:spPr>
          <a:xfrm>
            <a:off x="448056" y="3950208"/>
            <a:ext cx="8183879" cy="557784"/>
          </a:xfrm>
          <a:prstGeom prst="rect">
            <a:avLst/>
          </a:prstGeom>
          <a:noFill/>
        </p:spPr>
        <p:txBody>
          <a:bodyPr wrap="square" lIns="18288" rIns="18288" tIns="18288" bIns="18288">
            <a:spAutoFit/>
          </a:bodyPr>
          <a:lstStyle/>
          <a:p>
            <a:pPr algn="l">
              <a:spcAft>
                <a:spcPts val="500"/>
              </a:spcAft>
              <a:defRPr sz="1460" b="0">
                <a:solidFill>
                  <a:srgbClr val="17263A"/>
                </a:solidFill>
                <a:latin typeface="Arial"/>
              </a:defRPr>
            </a:pPr>
            <a:r>
              <a:rPr sz="1460" b="0">
                <a:solidFill>
                  <a:srgbClr val="17263A"/>
                </a:solidFill>
                <a:latin typeface="Arial"/>
              </a:rPr>
              <a:t>Из очищенного контроля исключены 105 повторов и 2 пустых текста.</a:t>
            </a:r>
          </a:p>
          <a:p>
            <a:pPr algn="l">
              <a:spcAft>
                <a:spcPts val="500"/>
              </a:spcAft>
              <a:defRPr sz="1460" b="0">
                <a:solidFill>
                  <a:srgbClr val="17263A"/>
                </a:solidFill>
                <a:latin typeface="Arial"/>
              </a:defRPr>
            </a:pPr>
            <a:r>
              <a:rPr sz="1460" b="0">
                <a:solidFill>
                  <a:srgbClr val="17263A"/>
                </a:solidFill>
                <a:latin typeface="Arial"/>
              </a:rPr>
              <a:t>Все пересечения обучения проверялись по полному внешнему набору.</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Приложение: неопределённость и проверки реализации</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Приложение</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22 / 23</a:t>
            </a:r>
          </a:p>
        </p:txBody>
      </p:sp>
      <p:graphicFrame>
        <p:nvGraphicFramePr>
          <p:cNvPr id="6" name="Table 5"/>
          <p:cNvGraphicFramePr>
            <a:graphicFrameLocks noGrp="1"/>
          </p:cNvGraphicFramePr>
          <p:nvPr/>
        </p:nvGraphicFramePr>
        <p:xfrm>
          <a:off x="393192" y="1088136"/>
          <a:ext cx="8321039" cy="1865376"/>
        </p:xfrm>
        <a:graphic>
          <a:graphicData uri="http://schemas.openxmlformats.org/drawingml/2006/table">
            <a:tbl>
              <a:tblPr firstRow="1" bandRow="1">
                <a:tableStyleId>{5C22544A-7EE6-4342-B048-85BDC9FD1C3A}</a:tableStyleId>
              </a:tblPr>
              <a:tblGrid>
                <a:gridCol w="3566159"/>
                <a:gridCol w="1463040"/>
                <a:gridCol w="3291840"/>
              </a:tblGrid>
              <a:tr h="466344">
                <a:tc>
                  <a:txBody>
                    <a:bodyPr/>
                    <a:lstStyle/>
                    <a:p>
                      <a:pPr>
                        <a:spcAft>
                          <a:spcPts val="0"/>
                        </a:spcAft>
                        <a:defRPr sz="1400" b="1">
                          <a:solidFill>
                            <a:srgbClr val="FFFFFF"/>
                          </a:solidFill>
                          <a:latin typeface="Arial"/>
                        </a:defRPr>
                      </a:pPr>
                      <a:r>
                        <a:rPr sz="1400" b="1">
                          <a:solidFill>
                            <a:srgbClr val="FFFFFF"/>
                          </a:solidFill>
                          <a:latin typeface="Arial"/>
                        </a:rPr>
                        <a:t>Подвыборка ham</a:t>
                      </a:r>
                    </a:p>
                  </a:txBody>
                  <a:tcPr marL="91440" marR="64008" marT="59436" marB="32004" anchor="ctr">
                    <a:solidFill>
                      <a:srgbClr val="0066FF"/>
                    </a:solidFill>
                  </a:tcPr>
                </a:tc>
                <a:tc>
                  <a:txBody>
                    <a:bodyPr/>
                    <a:lstStyle/>
                    <a:p>
                      <a:pPr algn="ctr">
                        <a:spcAft>
                          <a:spcPts val="0"/>
                        </a:spcAft>
                        <a:defRPr sz="1400" b="1">
                          <a:solidFill>
                            <a:srgbClr val="FFFFFF"/>
                          </a:solidFill>
                          <a:latin typeface="Arial"/>
                        </a:defRPr>
                      </a:pPr>
                      <a:r>
                        <a:rPr sz="1400" b="1">
                          <a:solidFill>
                            <a:srgbClr val="FFFFFF"/>
                          </a:solidFill>
                          <a:latin typeface="Arial"/>
                        </a:rPr>
                        <a:t>FP / ham</a:t>
                      </a:r>
                    </a:p>
                  </a:txBody>
                  <a:tcPr marL="91440" marR="64008" marT="59436" marB="32004" anchor="ctr">
                    <a:solidFill>
                      <a:srgbClr val="0066FF"/>
                    </a:solidFill>
                  </a:tcPr>
                </a:tc>
                <a:tc>
                  <a:txBody>
                    <a:bodyPr/>
                    <a:lstStyle/>
                    <a:p>
                      <a:pPr algn="ctr">
                        <a:spcAft>
                          <a:spcPts val="0"/>
                        </a:spcAft>
                        <a:defRPr sz="1400" b="1">
                          <a:solidFill>
                            <a:srgbClr val="FFFFFF"/>
                          </a:solidFill>
                          <a:latin typeface="Arial"/>
                        </a:defRPr>
                      </a:pPr>
                      <a:r>
                        <a:rPr sz="1400" b="1">
                          <a:solidFill>
                            <a:srgbClr val="FFFFFF"/>
                          </a:solidFill>
                          <a:latin typeface="Arial"/>
                        </a:rPr>
                        <a:t>Верхняя 95%-граница FPR</a:t>
                      </a:r>
                    </a:p>
                  </a:txBody>
                  <a:tcPr marL="91440" marR="64008" marT="59436" marB="32004" anchor="ctr">
                    <a:solidFill>
                      <a:srgbClr val="0066FF"/>
                    </a:solidFill>
                  </a:tcPr>
                </a:tc>
              </a:tr>
              <a:tr h="466344">
                <a:tc>
                  <a:txBody>
                    <a:bodyPr/>
                    <a:lstStyle/>
                    <a:p>
                      <a:pPr>
                        <a:spcAft>
                          <a:spcPts val="0"/>
                        </a:spcAft>
                        <a:defRPr sz="1400" b="0">
                          <a:solidFill>
                            <a:srgbClr val="17263A"/>
                          </a:solidFill>
                          <a:latin typeface="Arial"/>
                        </a:defRPr>
                      </a:pPr>
                      <a:r>
                        <a:rPr sz="1400" b="0">
                          <a:solidFill>
                            <a:srgbClr val="17263A"/>
                          </a:solidFill>
                          <a:latin typeface="Arial"/>
                        </a:rPr>
                        <a:t>Внутренний test</a:t>
                      </a:r>
                    </a:p>
                  </a:txBody>
                  <a:tcPr marL="91440" marR="64008" marT="59436" marB="32004" anchor="ctr">
                    <a:solidFill>
                      <a:srgbClr val="F3F6FB"/>
                    </a:solidFill>
                  </a:tcPr>
                </a:tc>
                <a:tc>
                  <a:txBody>
                    <a:bodyPr/>
                    <a:lstStyle/>
                    <a:p>
                      <a:pPr algn="ctr">
                        <a:spcAft>
                          <a:spcPts val="0"/>
                        </a:spcAft>
                        <a:defRPr sz="1400" b="0">
                          <a:solidFill>
                            <a:srgbClr val="17263A"/>
                          </a:solidFill>
                          <a:latin typeface="Arial"/>
                        </a:defRPr>
                      </a:pPr>
                      <a:r>
                        <a:rPr sz="1400" b="0">
                          <a:solidFill>
                            <a:srgbClr val="17263A"/>
                          </a:solidFill>
                          <a:latin typeface="Arial"/>
                        </a:rPr>
                        <a:t>0 / 412</a:t>
                      </a:r>
                    </a:p>
                  </a:txBody>
                  <a:tcPr marL="91440" marR="64008" marT="59436" marB="32004" anchor="ctr">
                    <a:solidFill>
                      <a:srgbClr val="F3F6FB"/>
                    </a:solidFill>
                  </a:tcPr>
                </a:tc>
                <a:tc>
                  <a:txBody>
                    <a:bodyPr/>
                    <a:lstStyle/>
                    <a:p>
                      <a:pPr algn="ctr">
                        <a:spcAft>
                          <a:spcPts val="0"/>
                        </a:spcAft>
                        <a:defRPr sz="1400" b="0">
                          <a:solidFill>
                            <a:srgbClr val="17263A"/>
                          </a:solidFill>
                          <a:latin typeface="Arial"/>
                        </a:defRPr>
                      </a:pPr>
                      <a:r>
                        <a:rPr sz="1400" b="0">
                          <a:solidFill>
                            <a:srgbClr val="17263A"/>
                          </a:solidFill>
                          <a:latin typeface="Arial"/>
                        </a:rPr>
                        <a:t>0,72%</a:t>
                      </a:r>
                    </a:p>
                  </a:txBody>
                  <a:tcPr marL="91440" marR="64008" marT="59436" marB="32004" anchor="ctr">
                    <a:solidFill>
                      <a:srgbClr val="F3F6FB"/>
                    </a:solidFill>
                  </a:tcPr>
                </a:tc>
              </a:tr>
              <a:tr h="466344">
                <a:tc>
                  <a:txBody>
                    <a:bodyPr/>
                    <a:lstStyle/>
                    <a:p>
                      <a:pPr>
                        <a:spcAft>
                          <a:spcPts val="0"/>
                        </a:spcAft>
                        <a:defRPr sz="1400" b="0">
                          <a:solidFill>
                            <a:srgbClr val="17263A"/>
                          </a:solidFill>
                          <a:latin typeface="Arial"/>
                        </a:defRPr>
                      </a:pPr>
                      <a:r>
                        <a:rPr sz="1400" b="0">
                          <a:solidFill>
                            <a:srgbClr val="17263A"/>
                          </a:solidFill>
                          <a:latin typeface="Arial"/>
                        </a:rPr>
                        <a:t>Полный внешний контроль</a:t>
                      </a:r>
                    </a:p>
                  </a:txBody>
                  <a:tcPr marL="91440" marR="64008" marT="59436" marB="32004" anchor="ctr">
                    <a:solidFill>
                      <a:srgbClr val="FFFFFF"/>
                    </a:solidFill>
                  </a:tcPr>
                </a:tc>
                <a:tc>
                  <a:txBody>
                    <a:bodyPr/>
                    <a:lstStyle/>
                    <a:p>
                      <a:pPr algn="ctr">
                        <a:spcAft>
                          <a:spcPts val="0"/>
                        </a:spcAft>
                        <a:defRPr sz="1400" b="0">
                          <a:solidFill>
                            <a:srgbClr val="17263A"/>
                          </a:solidFill>
                          <a:latin typeface="Arial"/>
                        </a:defRPr>
                      </a:pPr>
                      <a:r>
                        <a:rPr sz="1400" b="0">
                          <a:solidFill>
                            <a:srgbClr val="17263A"/>
                          </a:solidFill>
                          <a:latin typeface="Arial"/>
                        </a:rPr>
                        <a:t>0 / 600</a:t>
                      </a:r>
                    </a:p>
                  </a:txBody>
                  <a:tcPr marL="91440" marR="64008" marT="59436" marB="32004" anchor="ctr">
                    <a:solidFill>
                      <a:srgbClr val="FFFFFF"/>
                    </a:solidFill>
                  </a:tcPr>
                </a:tc>
                <a:tc>
                  <a:txBody>
                    <a:bodyPr/>
                    <a:lstStyle/>
                    <a:p>
                      <a:pPr algn="ctr">
                        <a:spcAft>
                          <a:spcPts val="0"/>
                        </a:spcAft>
                        <a:defRPr sz="1400" b="0">
                          <a:solidFill>
                            <a:srgbClr val="17263A"/>
                          </a:solidFill>
                          <a:latin typeface="Arial"/>
                        </a:defRPr>
                      </a:pPr>
                      <a:r>
                        <a:rPr sz="1400" b="0">
                          <a:solidFill>
                            <a:srgbClr val="17263A"/>
                          </a:solidFill>
                          <a:latin typeface="Arial"/>
                        </a:rPr>
                        <a:t>0,50%</a:t>
                      </a:r>
                    </a:p>
                  </a:txBody>
                  <a:tcPr marL="91440" marR="64008" marT="59436" marB="32004" anchor="ctr">
                    <a:solidFill>
                      <a:srgbClr val="FFFFFF"/>
                    </a:solidFill>
                  </a:tcPr>
                </a:tc>
              </a:tr>
              <a:tr h="466344">
                <a:tc>
                  <a:txBody>
                    <a:bodyPr/>
                    <a:lstStyle/>
                    <a:p>
                      <a:pPr>
                        <a:spcAft>
                          <a:spcPts val="0"/>
                        </a:spcAft>
                        <a:defRPr sz="1400" b="0">
                          <a:solidFill>
                            <a:srgbClr val="17263A"/>
                          </a:solidFill>
                          <a:latin typeface="Arial"/>
                        </a:defRPr>
                      </a:pPr>
                      <a:r>
                        <a:rPr sz="1400" b="0">
                          <a:solidFill>
                            <a:srgbClr val="17263A"/>
                          </a:solidFill>
                          <a:latin typeface="Arial"/>
                        </a:rPr>
                        <a:t>hard_ham во внутреннем test</a:t>
                      </a:r>
                    </a:p>
                  </a:txBody>
                  <a:tcPr marL="91440" marR="64008" marT="59436" marB="32004" anchor="ctr">
                    <a:solidFill>
                      <a:srgbClr val="F3F6FB"/>
                    </a:solidFill>
                  </a:tcPr>
                </a:tc>
                <a:tc>
                  <a:txBody>
                    <a:bodyPr/>
                    <a:lstStyle/>
                    <a:p>
                      <a:pPr algn="ctr">
                        <a:spcAft>
                          <a:spcPts val="0"/>
                        </a:spcAft>
                        <a:defRPr sz="1400" b="0">
                          <a:solidFill>
                            <a:srgbClr val="17263A"/>
                          </a:solidFill>
                          <a:latin typeface="Arial"/>
                        </a:defRPr>
                      </a:pPr>
                      <a:r>
                        <a:rPr sz="1400" b="0">
                          <a:solidFill>
                            <a:srgbClr val="17263A"/>
                          </a:solidFill>
                          <a:latin typeface="Arial"/>
                        </a:rPr>
                        <a:t>0 / 44</a:t>
                      </a:r>
                    </a:p>
                  </a:txBody>
                  <a:tcPr marL="91440" marR="64008" marT="59436" marB="32004" anchor="ctr">
                    <a:solidFill>
                      <a:srgbClr val="F3F6FB"/>
                    </a:solidFill>
                  </a:tcPr>
                </a:tc>
                <a:tc>
                  <a:txBody>
                    <a:bodyPr/>
                    <a:lstStyle/>
                    <a:p>
                      <a:pPr algn="ctr">
                        <a:spcAft>
                          <a:spcPts val="0"/>
                        </a:spcAft>
                        <a:defRPr sz="1400" b="0">
                          <a:solidFill>
                            <a:srgbClr val="17263A"/>
                          </a:solidFill>
                          <a:latin typeface="Arial"/>
                        </a:defRPr>
                      </a:pPr>
                      <a:r>
                        <a:rPr sz="1400" b="0">
                          <a:solidFill>
                            <a:srgbClr val="17263A"/>
                          </a:solidFill>
                          <a:latin typeface="Arial"/>
                        </a:rPr>
                        <a:t>6,58%</a:t>
                      </a:r>
                    </a:p>
                  </a:txBody>
                  <a:tcPr marL="91440" marR="64008" marT="59436" marB="32004" anchor="ctr">
                    <a:solidFill>
                      <a:srgbClr val="F3F6FB"/>
                    </a:solidFill>
                  </a:tcPr>
                </a:tc>
              </a:tr>
            </a:tbl>
          </a:graphicData>
        </a:graphic>
      </p:graphicFrame>
      <p:sp>
        <p:nvSpPr>
          <p:cNvPr id="7" name="TextBox 6"/>
          <p:cNvSpPr txBox="1"/>
          <p:nvPr/>
        </p:nvSpPr>
        <p:spPr>
          <a:xfrm>
            <a:off x="438912" y="3200400"/>
            <a:ext cx="8211312" cy="832104"/>
          </a:xfrm>
          <a:prstGeom prst="rect">
            <a:avLst/>
          </a:prstGeom>
          <a:noFill/>
        </p:spPr>
        <p:txBody>
          <a:bodyPr wrap="square" lIns="18288" rIns="18288" tIns="18288" bIns="18288">
            <a:spAutoFit/>
          </a:bodyPr>
          <a:lstStyle/>
          <a:p>
            <a:pPr algn="l">
              <a:spcAft>
                <a:spcPts val="500"/>
              </a:spcAft>
              <a:defRPr sz="1700" b="1">
                <a:solidFill>
                  <a:srgbClr val="118C78"/>
                </a:solidFill>
                <a:latin typeface="Arial"/>
              </a:defRPr>
            </a:pPr>
            <a:r>
              <a:rPr sz="1700" b="1">
                <a:solidFill>
                  <a:srgbClr val="118C78"/>
                </a:solidFill>
                <a:latin typeface="Arial"/>
              </a:rPr>
              <a:t>20 тестов: MIME/HTML, утечки, порог, артефакт, API.</a:t>
            </a:r>
          </a:p>
          <a:p>
            <a:pPr algn="l">
              <a:spcAft>
                <a:spcPts val="500"/>
              </a:spcAft>
              <a:defRPr sz="1700" b="1">
                <a:solidFill>
                  <a:srgbClr val="118C78"/>
                </a:solidFill>
                <a:latin typeface="Arial"/>
              </a:defRPr>
            </a:pPr>
            <a:r>
              <a:rPr sz="1700" b="1">
                <a:solidFill>
                  <a:srgbClr val="118C78"/>
                </a:solidFill>
                <a:latin typeface="Arial"/>
              </a:rPr>
              <a:t>Контейнер: healthcheck, JSON, .eml и совпадение оценок.</a:t>
            </a:r>
          </a:p>
        </p:txBody>
      </p:sp>
      <p:sp>
        <p:nvSpPr>
          <p:cNvPr id="8" name="TextBox 7"/>
          <p:cNvSpPr txBox="1"/>
          <p:nvPr/>
        </p:nvSpPr>
        <p:spPr>
          <a:xfrm>
            <a:off x="448056" y="4215384"/>
            <a:ext cx="8202168" cy="329184"/>
          </a:xfrm>
          <a:prstGeom prst="rect">
            <a:avLst/>
          </a:prstGeom>
          <a:noFill/>
        </p:spPr>
        <p:txBody>
          <a:bodyPr wrap="square" lIns="18288" rIns="18288" tIns="18288" bIns="18288">
            <a:spAutoFit/>
          </a:bodyPr>
          <a:lstStyle/>
          <a:p>
            <a:pPr algn="l">
              <a:spcAft>
                <a:spcPts val="500"/>
              </a:spcAft>
              <a:defRPr sz="1170" b="0">
                <a:solidFill>
                  <a:srgbClr val="607087"/>
                </a:solidFill>
                <a:latin typeface="Arial"/>
              </a:defRPr>
            </a:pPr>
            <a:r>
              <a:rPr sz="1170" b="0">
                <a:solidFill>
                  <a:srgbClr val="607087"/>
                </a:solidFill>
                <a:latin typeface="Arial"/>
              </a:rPr>
              <a:t>Точные односторонние границы Clopper–Pearson; предполагается независимость наблюдений.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339327" cy="521207"/>
          </a:xfrm>
          <a:prstGeom prst="rect">
            <a:avLst/>
          </a:prstGeom>
          <a:noFill/>
        </p:spPr>
        <p:txBody>
          <a:bodyPr wrap="square" lIns="18288" rIns="18288" tIns="18288" bIns="18288">
            <a:spAutoFit/>
          </a:bodyPr>
          <a:lstStyle/>
          <a:p>
            <a:pPr algn="l">
              <a:spcAft>
                <a:spcPts val="500"/>
              </a:spcAft>
              <a:defRPr sz="2600" b="1">
                <a:solidFill>
                  <a:srgbClr val="17263A"/>
                </a:solidFill>
                <a:latin typeface="Arial"/>
              </a:defRPr>
            </a:pPr>
            <a:r>
              <a:rPr sz="2600" b="1">
                <a:solidFill>
                  <a:srgbClr val="17263A"/>
                </a:solidFill>
                <a:latin typeface="Arial"/>
              </a:rPr>
              <a:t>Источники и материалы проекта</a:t>
            </a:r>
          </a:p>
        </p:txBody>
      </p:sp>
      <p:sp>
        <p:nvSpPr>
          <p:cNvPr id="3" name="Rectangle 2"/>
          <p:cNvSpPr/>
          <p:nvPr/>
        </p:nvSpPr>
        <p:spPr>
          <a:xfrm>
            <a:off x="384048" y="795528"/>
            <a:ext cx="8339327" cy="22860"/>
          </a:xfrm>
          <a:prstGeom prst="rect">
            <a:avLst/>
          </a:prstGeom>
          <a:solidFill>
            <a:srgbClr val="00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93192" y="4818888"/>
            <a:ext cx="7818120" cy="173736"/>
          </a:xfrm>
          <a:prstGeom prst="rect">
            <a:avLst/>
          </a:prstGeom>
          <a:noFill/>
        </p:spPr>
        <p:txBody>
          <a:bodyPr wrap="square" lIns="18288" rIns="18288" tIns="18288" bIns="18288">
            <a:spAutoFit/>
          </a:bodyPr>
          <a:lstStyle/>
          <a:p>
            <a:pPr algn="l">
              <a:spcAft>
                <a:spcPts val="500"/>
              </a:spcAft>
              <a:defRPr sz="900" b="0">
                <a:solidFill>
                  <a:srgbClr val="607087"/>
                </a:solidFill>
                <a:latin typeface="Arial"/>
              </a:defRPr>
            </a:pPr>
            <a:r>
              <a:rPr sz="900" b="0">
                <a:solidFill>
                  <a:srgbClr val="607087"/>
                </a:solidFill>
                <a:latin typeface="Arial"/>
              </a:rPr>
              <a:t>МКБ251  •  Городилова И. С.  •  Источники</a:t>
            </a:r>
          </a:p>
        </p:txBody>
      </p:sp>
      <p:sp>
        <p:nvSpPr>
          <p:cNvPr id="5" name="slide_pager"/>
          <p:cNvSpPr txBox="1"/>
          <p:nvPr/>
        </p:nvSpPr>
        <p:spPr>
          <a:xfrm>
            <a:off x="8275320" y="4791456"/>
            <a:ext cx="438912" cy="219456"/>
          </a:xfrm>
          <a:prstGeom prst="rect">
            <a:avLst/>
          </a:prstGeom>
          <a:noFill/>
        </p:spPr>
        <p:txBody>
          <a:bodyPr wrap="square" lIns="18288" rIns="18288" tIns="18288" bIns="18288">
            <a:spAutoFit/>
          </a:bodyPr>
          <a:lstStyle/>
          <a:p>
            <a:pPr algn="r">
              <a:spcAft>
                <a:spcPts val="500"/>
              </a:spcAft>
              <a:defRPr sz="900" b="0">
                <a:solidFill>
                  <a:srgbClr val="607087"/>
                </a:solidFill>
                <a:latin typeface="Arial"/>
              </a:defRPr>
            </a:pPr>
            <a:r>
              <a:t>23 / 23</a:t>
            </a:r>
          </a:p>
        </p:txBody>
      </p:sp>
      <p:sp>
        <p:nvSpPr>
          <p:cNvPr id="6" name="TextBox 5"/>
          <p:cNvSpPr txBox="1"/>
          <p:nvPr/>
        </p:nvSpPr>
        <p:spPr>
          <a:xfrm>
            <a:off x="448056" y="1051560"/>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2"/>
              </a:rPr>
              <a:t>Шаблон презентации</a:t>
            </a:r>
          </a:p>
        </p:txBody>
      </p:sp>
      <p:sp>
        <p:nvSpPr>
          <p:cNvPr id="7" name="TextBox 6"/>
          <p:cNvSpPr txBox="1"/>
          <p:nvPr/>
        </p:nvSpPr>
        <p:spPr>
          <a:xfrm>
            <a:off x="457200" y="1344168"/>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https://disk.360.yandex.ru/i/uOVimqbYdaoPdg</a:t>
            </a:r>
          </a:p>
        </p:txBody>
      </p:sp>
      <p:sp>
        <p:nvSpPr>
          <p:cNvPr id="8" name="TextBox 7"/>
          <p:cNvSpPr txBox="1"/>
          <p:nvPr/>
        </p:nvSpPr>
        <p:spPr>
          <a:xfrm>
            <a:off x="448056" y="1572767"/>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3"/>
              </a:rPr>
              <a:t>Описание SpamAssassin</a:t>
            </a:r>
          </a:p>
        </p:txBody>
      </p:sp>
      <p:sp>
        <p:nvSpPr>
          <p:cNvPr id="9" name="TextBox 8"/>
          <p:cNvSpPr txBox="1"/>
          <p:nvPr/>
        </p:nvSpPr>
        <p:spPr>
          <a:xfrm>
            <a:off x="457200" y="1865375"/>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https://spamassassin.apache.org/old/publiccorpus/readme.html</a:t>
            </a:r>
          </a:p>
        </p:txBody>
      </p:sp>
      <p:sp>
        <p:nvSpPr>
          <p:cNvPr id="10" name="TextBox 9"/>
          <p:cNvSpPr txBox="1"/>
          <p:nvPr/>
        </p:nvSpPr>
        <p:spPr>
          <a:xfrm>
            <a:off x="448056" y="2093976"/>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4"/>
              </a:rPr>
              <a:t>Контрольный набор задания</a:t>
            </a:r>
          </a:p>
        </p:txBody>
      </p:sp>
      <p:sp>
        <p:nvSpPr>
          <p:cNvPr id="11" name="TextBox 10"/>
          <p:cNvSpPr txBox="1"/>
          <p:nvPr/>
        </p:nvSpPr>
        <p:spPr>
          <a:xfrm>
            <a:off x="457200" y="2386584"/>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https://disk.yandex.ru/d/mJ_9zG3dX3eZgg</a:t>
            </a:r>
          </a:p>
        </p:txBody>
      </p:sp>
      <p:sp>
        <p:nvSpPr>
          <p:cNvPr id="12" name="TextBox 11"/>
          <p:cNvSpPr txBox="1"/>
          <p:nvPr/>
        </p:nvSpPr>
        <p:spPr>
          <a:xfrm>
            <a:off x="448056" y="2615184"/>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5"/>
              </a:rPr>
              <a:t>Настройка порога: scikit-learn</a:t>
            </a:r>
          </a:p>
        </p:txBody>
      </p:sp>
      <p:sp>
        <p:nvSpPr>
          <p:cNvPr id="13" name="TextBox 12"/>
          <p:cNvSpPr txBox="1"/>
          <p:nvPr/>
        </p:nvSpPr>
        <p:spPr>
          <a:xfrm>
            <a:off x="457200" y="2907791"/>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https://scikit-learn.org/stable/modules/classification_threshold.html</a:t>
            </a:r>
          </a:p>
        </p:txBody>
      </p:sp>
      <p:sp>
        <p:nvSpPr>
          <p:cNvPr id="14" name="TextBox 13"/>
          <p:cNvSpPr txBox="1"/>
          <p:nvPr/>
        </p:nvSpPr>
        <p:spPr>
          <a:xfrm>
            <a:off x="448056" y="3136391"/>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6"/>
              </a:rPr>
              <a:t>FastAPI в Docker</a:t>
            </a:r>
          </a:p>
        </p:txBody>
      </p:sp>
      <p:sp>
        <p:nvSpPr>
          <p:cNvPr id="15" name="TextBox 14"/>
          <p:cNvSpPr txBox="1"/>
          <p:nvPr/>
        </p:nvSpPr>
        <p:spPr>
          <a:xfrm>
            <a:off x="457200" y="3428999"/>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https://fastapi.tiangolo.com/deployment/docker/</a:t>
            </a:r>
          </a:p>
        </p:txBody>
      </p:sp>
      <p:sp>
        <p:nvSpPr>
          <p:cNvPr id="16" name="TextBox 15"/>
          <p:cNvSpPr txBox="1"/>
          <p:nvPr/>
        </p:nvSpPr>
        <p:spPr>
          <a:xfrm>
            <a:off x="448056" y="3657599"/>
            <a:ext cx="8183879" cy="283464"/>
          </a:xfrm>
          <a:prstGeom prst="rect">
            <a:avLst/>
          </a:prstGeom>
          <a:noFill/>
        </p:spPr>
        <p:txBody>
          <a:bodyPr wrap="square" lIns="18288" rIns="18288" tIns="18288" bIns="18288">
            <a:spAutoFit/>
          </a:bodyPr>
          <a:lstStyle/>
          <a:p>
            <a:pPr algn="l">
              <a:spcAft>
                <a:spcPts val="500"/>
              </a:spcAft>
              <a:defRPr sz="1600" b="0">
                <a:solidFill>
                  <a:srgbClr val="0066FF"/>
                </a:solidFill>
                <a:latin typeface="Arial"/>
              </a:defRPr>
            </a:pPr>
            <a:r>
              <a:rPr sz="1600" b="0" u="sng">
                <a:solidFill>
                  <a:srgbClr val="0066FF"/>
                </a:solidFill>
                <a:latin typeface="Arial"/>
                <a:hlinkClick r:id="rId7"/>
              </a:rPr>
              <a:t>Репозиторий проекта</a:t>
            </a:r>
          </a:p>
        </p:txBody>
      </p:sp>
      <p:sp>
        <p:nvSpPr>
          <p:cNvPr id="17" name="TextBox 16"/>
          <p:cNvSpPr txBox="1"/>
          <p:nvPr/>
        </p:nvSpPr>
        <p:spPr>
          <a:xfrm>
            <a:off x="457200" y="3950207"/>
            <a:ext cx="8174736" cy="182880"/>
          </a:xfrm>
          <a:prstGeom prst="rect">
            <a:avLst/>
          </a:prstGeom>
          <a:noFill/>
        </p:spPr>
        <p:txBody>
          <a:bodyPr wrap="square" lIns="18288" rIns="18288" tIns="18288" bIns="18288">
            <a:spAutoFit/>
          </a:bodyPr>
          <a:lstStyle/>
          <a:p>
            <a:pPr algn="l">
              <a:spcAft>
                <a:spcPts val="500"/>
              </a:spcAft>
              <a:defRPr sz="940" b="0">
                <a:solidFill>
                  <a:srgbClr val="607087"/>
                </a:solidFill>
                <a:latin typeface="Arial"/>
              </a:defRPr>
            </a:pPr>
            <a:r>
              <a:rPr sz="940" b="0">
                <a:solidFill>
                  <a:srgbClr val="607087"/>
                </a:solidFill>
                <a:latin typeface="Arial"/>
              </a:rPr>
              <a:t>https://github.com/city-cyber/ML_Cyber</a:t>
            </a:r>
          </a:p>
        </p:txBody>
      </p:sp>
    </p:spTree>
  </p:cSld>
  <p:clrMapOvr>
    <a:masterClrMapping/>
  </p:clrMapOvr>
</p:sld>
</file>

<file path=ppt/theme/theme1.xml><?xml version="1.0" encoding="utf-8"?>
<a:theme xmlns:a="http://schemas.openxmlformats.org/drawingml/2006/main" name="PRO_presentation">
  <a:themeElements>
    <a:clrScheme name="PRO_presentation">
      <a:dk1>
        <a:srgbClr val="000000"/>
      </a:dk1>
      <a:lt1>
        <a:srgbClr val="FFFFFF"/>
      </a:lt1>
      <a:dk2>
        <a:srgbClr val="FFFFFF"/>
      </a:dk2>
      <a:lt2>
        <a:srgbClr val="27282D"/>
      </a:lt2>
      <a:accent1>
        <a:srgbClr val="217AFF"/>
      </a:accent1>
      <a:accent2>
        <a:srgbClr val="0066FF"/>
      </a:accent2>
      <a:accent3>
        <a:srgbClr val="4BD0A0"/>
      </a:accent3>
      <a:accent4>
        <a:srgbClr val="DE3773"/>
      </a:accent4>
      <a:accent5>
        <a:srgbClr val="8261EE"/>
      </a:accent5>
      <a:accent6>
        <a:srgbClr val="F3F4F7"/>
      </a:accent6>
      <a:hlink>
        <a:srgbClr val="0066FF"/>
      </a:hlink>
      <a:folHlink>
        <a:srgbClr val="0066F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4160</Words>
  <Application>WPS Presentation</Application>
  <PresentationFormat>On-screen Show (4:3)</PresentationFormat>
  <Paragraphs>379</Paragraphs>
  <Slides>12</Slides>
  <Notes>17</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Arial</vt:lpstr>
      <vt:lpstr>Proxima Nova</vt:lpstr>
      <vt:lpstr>Calibri</vt:lpstr>
      <vt:lpstr>Segoe Print</vt:lpstr>
      <vt:lpstr>Microsoft YaHei</vt:lpstr>
      <vt:lpstr>Arial Unicode MS</vt:lpstr>
      <vt:lpstr>PRO_presentation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Итоговое задание. Антиспам: выбор модели и цена ошибок</dc:title>
  <dc:creator>Городилова Ирина Сергеевна, МКБ251</dc:creator>
  <cp:lastModifiedBy>iramu</cp:lastModifiedBy>
  <cp:revision>1</cp:revision>
  <dcterms:created xsi:type="dcterms:W3CDTF">2026-10-17T10:06:40Z</dcterms:created>
  <dcterms:modified xsi:type="dcterms:W3CDTF">2026-10-17T10:06:41Z</dcterms:modified>
  <dc:subject>TF-IDF, ComplementNB, анализ выбора, тестирование, FastAPI и Docker</dc:subject>
  <cp:keywords>антиспам, SpamAssassin, ComplementNB, TF-IDF, Precision, Recall, Docker</cp:keywords>
  <dc:description>Шаблон проверен по SHA-256. Содержит заметки докладчика.</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988A9E8E8E8C4850805C8E8258EBB4D8_12</vt:lpwstr>
  </property>
  <property fmtid="{D5CDD505-2E9C-101B-9397-08002B2CF9AE}" pid="3" name="KSOProductBuildVer">
    <vt:lpwstr>1033-12.1.0.25862</vt:lpwstr>
  </property>
</Properties>
</file>